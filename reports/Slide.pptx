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4.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7.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8.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9.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Doanh số trung bình mỗi dòng</a:t>
            </a:r>
          </a:p>
        </c:rich>
      </c:tx>
      <c:layout/>
      <c:overlay val="0"/>
    </c:title>
    <c:autoTitleDeleted val="0"/>
    <c:plotArea>
      <c:layout/>
      <c:barChart>
        <c:barDir val="col"/>
        <c:grouping val="clustered"/>
        <c:varyColors val="0"/>
        <c:ser>
          <c:idx val="0"/>
          <c:order val="0"/>
          <c:tx>
            <c:strRef>
              <c:f>Sheet1!$B$1</c:f>
              <c:strCache>
                <c:ptCount val="1"/>
                <c:pt idx="0">
                  <c:v>TB doanh số</c:v>
                </c:pt>
              </c:strCache>
            </c:strRef>
          </c:tx>
          <c:spPr>
            <a:solidFill>
              <a:srgbClr val="C9D6D8"/>
            </a:solidFill>
            <a:effectLst/>
          </c:spPr>
          <c:invertIfNegative val="0"/>
          <c:dLbls>
            <c:numFmt formatCode="0.0"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9D6D8"/>
              </a:solidFill>
              <a:effectLst/>
            </c:spPr>
          </c:dPt>
          <c:dPt>
            <c:idx val="1"/>
            <c:invertIfNegative val="0"/>
            <c:bubble3D val="0"/>
            <c:spPr>
              <a:solidFill>
                <a:srgbClr val="1B8A8F"/>
              </a:solidFill>
              <a:effectLst/>
            </c:spPr>
          </c:dPt>
          <c:cat>
            <c:multiLvlStrRef>
              <c:f>Sheet1!$A$2:$A$3</c:f>
              <c:multiLvlStrCache>
                <c:ptCount val="2"/>
                <c:lvl>
                  <c:pt idx="0">
                    <c:v>Không khuyến mãi</c:v>
                  </c:pt>
                  <c:pt idx="1">
                    <c:v>Có khuyến mãi</c:v>
                  </c:pt>
                </c:lvl>
              </c:multiLvlStrCache>
            </c:multiLvlStrRef>
          </c:cat>
          <c:val>
            <c:numRef>
              <c:f>Sheet1!$B$2:$B$3</c:f>
              <c:numCache>
                <c:formatCode>General</c:formatCode>
                <c:ptCount val="2"/>
                <c:pt idx="0">
                  <c:v>158.25</c:v>
                </c:pt>
                <c:pt idx="1">
                  <c:v>1137.69</c:v>
                </c:pt>
              </c:numCache>
            </c:numRef>
          </c:val>
        </c:ser>
        <c:dLbls>
          <c:numFmt formatCode="0.0"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WAPE trung bình 3 lần kiểm định (%)</a:t>
            </a:r>
          </a:p>
        </c:rich>
      </c:tx>
      <c:layout/>
      <c:overlay val="0"/>
    </c:title>
    <c:autoTitleDeleted val="0"/>
    <c:plotArea>
      <c:layout/>
      <c:barChart>
        <c:barDir val="bar"/>
        <c:grouping val="clustered"/>
        <c:varyColors val="0"/>
        <c:ser>
          <c:idx val="0"/>
          <c:order val="0"/>
          <c:tx>
            <c:strRef>
              <c:f>Sheet1!$B$1</c:f>
              <c:strCache>
                <c:ptCount val="1"/>
                <c:pt idx="0">
                  <c:v>WAPE CV (%)</c:v>
                </c:pt>
              </c:strCache>
            </c:strRef>
          </c:tx>
          <c:spPr>
            <a:solidFill>
              <a:srgbClr val="1B8A8F"/>
            </a:solidFill>
            <a:effectLst/>
          </c:spPr>
          <c:invertIfNegative val="0"/>
          <c:dLbls>
            <c:numFmt formatCode="0.00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1B8A8F"/>
              </a:solidFill>
              <a:effectLst/>
            </c:spPr>
          </c:dPt>
          <c:dPt>
            <c:idx val="1"/>
            <c:invertIfNegative val="0"/>
            <c:bubble3D val="0"/>
            <c:spPr>
              <a:solidFill>
                <a:srgbClr val="7FC4C4"/>
              </a:solidFill>
              <a:effectLst/>
            </c:spPr>
          </c:dPt>
          <c:dPt>
            <c:idx val="2"/>
            <c:invertIfNegative val="0"/>
            <c:bubble3D val="0"/>
            <c:spPr>
              <a:solidFill>
                <a:srgbClr val="7FC4C4"/>
              </a:solidFill>
              <a:effectLst/>
            </c:spPr>
          </c:dPt>
          <c:dPt>
            <c:idx val="3"/>
            <c:invertIfNegative val="0"/>
            <c:bubble3D val="0"/>
            <c:spPr>
              <a:solidFill>
                <a:srgbClr val="C9D6D8"/>
              </a:solidFill>
              <a:effectLst/>
            </c:spPr>
          </c:dPt>
          <c:dPt>
            <c:idx val="4"/>
            <c:invertIfNegative val="0"/>
            <c:bubble3D val="0"/>
            <c:spPr>
              <a:solidFill>
                <a:srgbClr val="C9D6D8"/>
              </a:solidFill>
              <a:effectLst/>
            </c:spPr>
          </c:dPt>
          <c:cat>
            <c:multiLvlStrRef>
              <c:f>Sheet1!$A$2:$A$6</c:f>
              <c:multiLvlStrCache>
                <c:ptCount val="5"/>
                <c:lvl>
                  <c:pt idx="0">
                    <c:v>XGBoost</c:v>
                  </c:pt>
                  <c:pt idx="1">
                    <c:v>LightGBM</c:v>
                  </c:pt>
                  <c:pt idx="2">
                    <c:v>Random Forest</c:v>
                  </c:pt>
                  <c:pt idx="3">
                    <c:v>Seasonal Naive</c:v>
                  </c:pt>
                  <c:pt idx="4">
                    <c:v>Ridge Regression</c:v>
                  </c:pt>
                </c:lvl>
              </c:multiLvlStrCache>
            </c:multiLvlStrRef>
          </c:cat>
          <c:val>
            <c:numRef>
              <c:f>Sheet1!$B$2:$B$6</c:f>
              <c:numCache>
                <c:formatCode>General</c:formatCode>
                <c:ptCount val="5"/>
                <c:pt idx="0">
                  <c:v>12.089</c:v>
                </c:pt>
                <c:pt idx="1">
                  <c:v>12.568</c:v>
                </c:pt>
                <c:pt idx="2">
                  <c:v>12.969</c:v>
                </c:pt>
                <c:pt idx="3">
                  <c:v>15.718</c:v>
                </c:pt>
                <c:pt idx="4">
                  <c:v>17.142</c:v>
                </c:pt>
              </c:numCache>
            </c:numRef>
          </c:val>
        </c:ser>
        <c:dLbls>
          <c:numFmt formatCode="0.00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3E9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XGBoost</c:v>
                </c:pt>
              </c:strCache>
            </c:strRef>
          </c:tx>
          <c:spPr>
            <a:solidFill>
              <a:srgbClr val="1B8A8F"/>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Lần 1</c:v>
                  </c:pt>
                  <c:pt idx="1">
                    <c:v>Lần 2</c:v>
                  </c:pt>
                  <c:pt idx="2">
                    <c:v>Lần 3</c:v>
                  </c:pt>
                </c:lvl>
              </c:multiLvlStrCache>
            </c:multiLvlStrRef>
          </c:cat>
          <c:val>
            <c:numRef>
              <c:f>Sheet1!$B$2:$B$4</c:f>
              <c:numCache>
                <c:formatCode>General</c:formatCode>
                <c:ptCount val="3"/>
                <c:pt idx="0">
                  <c:v>12.39</c:v>
                </c:pt>
                <c:pt idx="1">
                  <c:v>11.35</c:v>
                </c:pt>
                <c:pt idx="2">
                  <c:v>12.53</c:v>
                </c:pt>
              </c:numCache>
            </c:numRef>
          </c:val>
        </c:ser>
        <c:ser>
          <c:idx val="1"/>
          <c:order val="1"/>
          <c:tx>
            <c:strRef>
              <c:f>Sheet1!$C$1</c:f>
              <c:strCache>
                <c:ptCount val="1"/>
                <c:pt idx="0">
                  <c:v>LightGBM</c:v>
                </c:pt>
              </c:strCache>
            </c:strRef>
          </c:tx>
          <c:spPr>
            <a:solidFill>
              <a:srgbClr val="7FC4C4"/>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Lần 1</c:v>
                  </c:pt>
                  <c:pt idx="1">
                    <c:v>Lần 2</c:v>
                  </c:pt>
                  <c:pt idx="2">
                    <c:v>Lần 3</c:v>
                  </c:pt>
                </c:lvl>
              </c:multiLvlStrCache>
            </c:multiLvlStrRef>
          </c:cat>
          <c:val>
            <c:numRef>
              <c:f>Sheet1!$C$2:$C$4</c:f>
              <c:numCache>
                <c:formatCode>General</c:formatCode>
                <c:ptCount val="3"/>
                <c:pt idx="0">
                  <c:v>12.86</c:v>
                </c:pt>
                <c:pt idx="1">
                  <c:v>11.99</c:v>
                </c:pt>
                <c:pt idx="2">
                  <c:v>12.85</c:v>
                </c:pt>
              </c:numCache>
            </c:numRef>
          </c:val>
        </c:ser>
        <c:ser>
          <c:idx val="2"/>
          <c:order val="2"/>
          <c:tx>
            <c:strRef>
              <c:f>Sheet1!$D$1</c:f>
              <c:strCache>
                <c:ptCount val="1"/>
                <c:pt idx="0">
                  <c:v>Random Forest</c:v>
                </c:pt>
              </c:strCache>
            </c:strRef>
          </c:tx>
          <c:spPr>
            <a:solidFill>
              <a:srgbClr val="12505F"/>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Lần 1</c:v>
                  </c:pt>
                  <c:pt idx="1">
                    <c:v>Lần 2</c:v>
                  </c:pt>
                  <c:pt idx="2">
                    <c:v>Lần 3</c:v>
                  </c:pt>
                </c:lvl>
              </c:multiLvlStrCache>
            </c:multiLvlStrRef>
          </c:cat>
          <c:val>
            <c:numRef>
              <c:f>Sheet1!$D$2:$D$4</c:f>
              <c:numCache>
                <c:formatCode>General</c:formatCode>
                <c:ptCount val="3"/>
                <c:pt idx="0">
                  <c:v>13.62</c:v>
                </c:pt>
                <c:pt idx="1">
                  <c:v>12.11</c:v>
                </c:pt>
                <c:pt idx="2">
                  <c:v>13.18</c:v>
                </c:pt>
              </c:numCache>
            </c:numRef>
          </c:val>
        </c:ser>
        <c:ser>
          <c:idx val="3"/>
          <c:order val="3"/>
          <c:tx>
            <c:strRef>
              <c:f>Sheet1!$E$1</c:f>
              <c:strCache>
                <c:ptCount val="1"/>
                <c:pt idx="0">
                  <c:v>Seasonal Naive</c:v>
                </c:pt>
              </c:strCache>
            </c:strRef>
          </c:tx>
          <c:spPr>
            <a:solidFill>
              <a:srgbClr val="C9D6D8"/>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Lần 1</c:v>
                  </c:pt>
                  <c:pt idx="1">
                    <c:v>Lần 2</c:v>
                  </c:pt>
                  <c:pt idx="2">
                    <c:v>Lần 3</c:v>
                  </c:pt>
                </c:lvl>
              </c:multiLvlStrCache>
            </c:multiLvlStrRef>
          </c:cat>
          <c:val>
            <c:numRef>
              <c:f>Sheet1!$E$2:$E$4</c:f>
              <c:numCache>
                <c:formatCode>General</c:formatCode>
                <c:ptCount val="3"/>
                <c:pt idx="0">
                  <c:v>16.93</c:v>
                </c:pt>
                <c:pt idx="1">
                  <c:v>16.26</c:v>
                </c:pt>
                <c:pt idx="2">
                  <c:v>13.97</c:v>
                </c:pt>
              </c:numCache>
            </c:numRef>
          </c:val>
        </c:ser>
        <c:ser>
          <c:idx val="4"/>
          <c:order val="4"/>
          <c:tx>
            <c:strRef>
              <c:f>Sheet1!$F$1</c:f>
              <c:strCache>
                <c:ptCount val="1"/>
                <c:pt idx="0">
                  <c:v>Ridge Regression</c:v>
                </c:pt>
              </c:strCache>
            </c:strRef>
          </c:tx>
          <c:spPr>
            <a:solidFill>
              <a:srgbClr val="E8A33D"/>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Sheet1!$A$2:$A$4</c:f>
              <c:multiLvlStrCache>
                <c:ptCount val="3"/>
                <c:lvl>
                  <c:pt idx="0">
                    <c:v>Lần 1</c:v>
                  </c:pt>
                  <c:pt idx="1">
                    <c:v>Lần 2</c:v>
                  </c:pt>
                  <c:pt idx="2">
                    <c:v>Lần 3</c:v>
                  </c:pt>
                </c:lvl>
              </c:multiLvlStrCache>
            </c:multiLvlStrRef>
          </c:cat>
          <c:val>
            <c:numRef>
              <c:f>Sheet1!$F$2:$F$4</c:f>
              <c:numCache>
                <c:formatCode>General</c:formatCode>
                <c:ptCount val="3"/>
                <c:pt idx="0">
                  <c:v>18.98</c:v>
                </c:pt>
                <c:pt idx="1">
                  <c:v>16.4</c:v>
                </c:pt>
                <c:pt idx="2">
                  <c:v>16.05</c:v>
                </c:pt>
              </c:numCache>
            </c:numRef>
          </c:val>
        </c:ser>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min val="10"/>
        </c:scaling>
        <c:delete val="0"/>
        <c:axPos val="l"/>
        <c:majorGridlines>
          <c:spPr>
            <a:ln w="6350" cap="flat">
              <a:solidFill>
                <a:srgbClr val="E3E9EA"/>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WAPE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A33"/>
                </a:solidFill>
                <a:latin typeface="Calibri"/>
              </a:defRPr>
            </a:pPr>
            <a:r>
              <a:rPr sz="1200" b="0" i="0" u="none" strike="noStrike">
                <a:solidFill>
                  <a:srgbClr val="0E2A33"/>
                </a:solidFill>
                <a:latin typeface="Calibri"/>
              </a:rPr>
              <a:t>WAPE (%): CV so với kiểm tra cuối</a:t>
            </a:r>
          </a:p>
        </c:rich>
      </c:tx>
      <c:layout/>
      <c:overlay val="0"/>
    </c:title>
    <c:autoTitleDeleted val="0"/>
    <c:plotArea>
      <c:layout/>
      <c:barChart>
        <c:barDir val="col"/>
        <c:grouping val="clustered"/>
        <c:varyColors val="0"/>
        <c:ser>
          <c:idx val="0"/>
          <c:order val="0"/>
          <c:tx>
            <c:strRef>
              <c:f>Sheet1!$B$1</c:f>
              <c:strCache>
                <c:ptCount val="1"/>
                <c:pt idx="0">
                  <c:v>Kiểm định chéo</c:v>
                </c:pt>
              </c:strCache>
            </c:strRef>
          </c:tx>
          <c:spPr>
            <a:solidFill>
              <a:srgbClr val="1B8A8F"/>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XGBoost</c:v>
                  </c:pt>
                  <c:pt idx="1">
                    <c:v>LightGBM</c:v>
                  </c:pt>
                  <c:pt idx="2">
                    <c:v>Random Forest</c:v>
                  </c:pt>
                  <c:pt idx="3">
                    <c:v>Seasonal Naive</c:v>
                  </c:pt>
                  <c:pt idx="4">
                    <c:v>Ridge</c:v>
                  </c:pt>
                </c:lvl>
              </c:multiLvlStrCache>
            </c:multiLvlStrRef>
          </c:cat>
          <c:val>
            <c:numRef>
              <c:f>Sheet1!$B$2:$B$6</c:f>
              <c:numCache>
                <c:formatCode>General</c:formatCode>
                <c:ptCount val="5"/>
                <c:pt idx="0">
                  <c:v>12.09</c:v>
                </c:pt>
                <c:pt idx="1">
                  <c:v>12.57</c:v>
                </c:pt>
                <c:pt idx="2">
                  <c:v>12.97</c:v>
                </c:pt>
                <c:pt idx="3">
                  <c:v>15.72</c:v>
                </c:pt>
                <c:pt idx="4">
                  <c:v>17.14</c:v>
                </c:pt>
              </c:numCache>
            </c:numRef>
          </c:val>
        </c:ser>
        <c:ser>
          <c:idx val="1"/>
          <c:order val="1"/>
          <c:tx>
            <c:strRef>
              <c:f>Sheet1!$C$1</c:f>
              <c:strCache>
                <c:ptCount val="1"/>
                <c:pt idx="0">
                  <c:v>Kiểm tra cuối</c:v>
                </c:pt>
              </c:strCache>
            </c:strRef>
          </c:tx>
          <c:spPr>
            <a:solidFill>
              <a:srgbClr val="E8A33D"/>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cat>
            <c:multiLvlStrRef>
              <c:f>Sheet1!$A$2:$A$6</c:f>
              <c:multiLvlStrCache>
                <c:ptCount val="5"/>
                <c:lvl>
                  <c:pt idx="0">
                    <c:v>XGBoost</c:v>
                  </c:pt>
                  <c:pt idx="1">
                    <c:v>LightGBM</c:v>
                  </c:pt>
                  <c:pt idx="2">
                    <c:v>Random Forest</c:v>
                  </c:pt>
                  <c:pt idx="3">
                    <c:v>Seasonal Naive</c:v>
                  </c:pt>
                  <c:pt idx="4">
                    <c:v>Ridge</c:v>
                  </c:pt>
                </c:lvl>
              </c:multiLvlStrCache>
            </c:multiLvlStrRef>
          </c:cat>
          <c:val>
            <c:numRef>
              <c:f>Sheet1!$C$2:$C$6</c:f>
              <c:numCache>
                <c:formatCode>General</c:formatCode>
                <c:ptCount val="5"/>
                <c:pt idx="0">
                  <c:v>14.33</c:v>
                </c:pt>
                <c:pt idx="1">
                  <c:v>14.87</c:v>
                </c:pt>
                <c:pt idx="2">
                  <c:v>16.18</c:v>
                </c:pt>
                <c:pt idx="3">
                  <c:v>20.67</c:v>
                </c:pt>
                <c:pt idx="4">
                  <c:v>21.16</c:v>
                </c:pt>
              </c:numCache>
            </c:numRef>
          </c:val>
        </c:ser>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Gain trung bình (triệu) – 10 đặc trưng đầu</a:t>
            </a:r>
          </a:p>
        </c:rich>
      </c:tx>
      <c:layout/>
      <c:overlay val="0"/>
    </c:title>
    <c:autoTitleDeleted val="0"/>
    <c:plotArea>
      <c:layout/>
      <c:barChart>
        <c:barDir val="bar"/>
        <c:grouping val="clustered"/>
        <c:varyColors val="0"/>
        <c:ser>
          <c:idx val="0"/>
          <c:order val="0"/>
          <c:tx>
            <c:strRef>
              <c:f>Sheet1!$B$1</c:f>
              <c:strCache>
                <c:ptCount val="1"/>
                <c:pt idx="0">
                  <c:v>Gain</c:v>
                </c:pt>
              </c:strCache>
            </c:strRef>
          </c:tx>
          <c:spPr>
            <a:solidFill>
              <a:srgbClr val="1B8A8F"/>
            </a:solidFill>
            <a:effectLst/>
          </c:spPr>
          <c:invertIfNegative val="0"/>
          <c:dLbls>
            <c:numFmt formatCode="#,##0"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lag_21</c:v>
                  </c:pt>
                  <c:pt idx="1">
                    <c:v>roll_mean_7</c:v>
                  </c:pt>
                  <c:pt idx="2">
                    <c:v>lag_28</c:v>
                  </c:pt>
                  <c:pt idx="3">
                    <c:v>lag_56</c:v>
                  </c:pt>
                  <c:pt idx="4">
                    <c:v>roll_mean_14</c:v>
                  </c:pt>
                  <c:pt idx="5">
                    <c:v>roll_mean_28</c:v>
                  </c:pt>
                  <c:pt idx="6">
                    <c:v>lag_42</c:v>
                  </c:pt>
                  <c:pt idx="7">
                    <c:v>lag_35</c:v>
                  </c:pt>
                  <c:pt idx="8">
                    <c:v>is_weekend</c:v>
                  </c:pt>
                  <c:pt idx="9">
                    <c:v>month</c:v>
                  </c:pt>
                </c:lvl>
              </c:multiLvlStrCache>
            </c:multiLvlStrRef>
          </c:cat>
          <c:val>
            <c:numRef>
              <c:f>Sheet1!$B$2:$B$11</c:f>
              <c:numCache>
                <c:formatCode>General</c:formatCode>
                <c:ptCount val="10"/>
                <c:pt idx="0">
                  <c:v>3544.4</c:v>
                </c:pt>
                <c:pt idx="1">
                  <c:v>3414.5</c:v>
                </c:pt>
                <c:pt idx="2">
                  <c:v>956.9</c:v>
                </c:pt>
                <c:pt idx="3">
                  <c:v>678.7</c:v>
                </c:pt>
                <c:pt idx="4">
                  <c:v>196.3</c:v>
                </c:pt>
                <c:pt idx="5">
                  <c:v>159.3</c:v>
                </c:pt>
                <c:pt idx="6">
                  <c:v>142.8</c:v>
                </c:pt>
                <c:pt idx="7">
                  <c:v>100.2</c:v>
                </c:pt>
                <c:pt idx="8">
                  <c:v>60.4</c:v>
                </c:pt>
                <c:pt idx="9">
                  <c:v>56.6</c:v>
                </c:pt>
              </c:numCache>
            </c:numRef>
          </c:val>
        </c:ser>
        <c:dLbls>
          <c:numFmt formatCode="#,##0"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3E9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Thực tế</c:v>
                </c:pt>
              </c:strCache>
            </c:strRef>
          </c:tx>
          <c:spPr>
            <a:solidFill>
              <a:srgbClr val="0E2A33"/>
            </a:solidFill>
            <a:ln w="25400" cap="flat">
              <a:solidFill>
                <a:srgbClr val="0E2A33"/>
              </a:solidFill>
              <a:prstDash val="solid"/>
              <a:round/>
            </a:ln>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marker>
            <c:symbol val="circle"/>
            <c:size val="5"/>
            <c:spPr>
              <a:solidFill>
                <a:srgbClr val="0E2A33"/>
              </a:solidFill>
              <a:ln w="9525" cap="flat">
                <a:solidFill>
                  <a:srgbClr val="0E2A33"/>
                </a:solidFill>
                <a:prstDash val="solid"/>
                <a:round/>
              </a:ln>
              <a:effectLst/>
            </c:spPr>
          </c:marker>
          <c:cat>
            <c:multiLvlStrRef>
              <c:f>Sheet1!$A$2:$A$17</c:f>
              <c:multiLvlStrCache>
                <c:ptCount val="16"/>
                <c:lvl>
                  <c:pt idx="0">
                    <c:v>31/07</c:v>
                  </c:pt>
                  <c:pt idx="1">
                    <c:v>01/08</c:v>
                  </c:pt>
                  <c:pt idx="2">
                    <c:v>02/08</c:v>
                  </c:pt>
                  <c:pt idx="3">
                    <c:v>03/08</c:v>
                  </c:pt>
                  <c:pt idx="4">
                    <c:v>04/08</c:v>
                  </c:pt>
                  <c:pt idx="5">
                    <c:v>05/08</c:v>
                  </c:pt>
                  <c:pt idx="6">
                    <c:v>06/08</c:v>
                  </c:pt>
                  <c:pt idx="7">
                    <c:v>07/08</c:v>
                  </c:pt>
                  <c:pt idx="8">
                    <c:v>08/08</c:v>
                  </c:pt>
                  <c:pt idx="9">
                    <c:v>09/08</c:v>
                  </c:pt>
                  <c:pt idx="10">
                    <c:v>10/08</c:v>
                  </c:pt>
                  <c:pt idx="11">
                    <c:v>11/08</c:v>
                  </c:pt>
                  <c:pt idx="12">
                    <c:v>12/08</c:v>
                  </c:pt>
                  <c:pt idx="13">
                    <c:v>13/08</c:v>
                  </c:pt>
                  <c:pt idx="14">
                    <c:v>14/08</c:v>
                  </c:pt>
                  <c:pt idx="15">
                    <c:v>15/08</c:v>
                  </c:pt>
                </c:lvl>
              </c:multiLvlStrCache>
            </c:multiLvlStrRef>
          </c:cat>
          <c:val>
            <c:numRef>
              <c:f>Sheet1!$B$2:$B$17</c:f>
              <c:numCache>
                <c:formatCode>General</c:formatCode>
                <c:ptCount val="16"/>
                <c:pt idx="0">
                  <c:v>886</c:v>
                </c:pt>
                <c:pt idx="1">
                  <c:v>989</c:v>
                </c:pt>
                <c:pt idx="2">
                  <c:v>965</c:v>
                </c:pt>
                <c:pt idx="3">
                  <c:v>728</c:v>
                </c:pt>
                <c:pt idx="4">
                  <c:v>828</c:v>
                </c:pt>
                <c:pt idx="5">
                  <c:v>966</c:v>
                </c:pt>
                <c:pt idx="6">
                  <c:v>1050</c:v>
                </c:pt>
                <c:pt idx="7">
                  <c:v>797</c:v>
                </c:pt>
                <c:pt idx="8">
                  <c:v>718</c:v>
                </c:pt>
                <c:pt idx="9">
                  <c:v>734</c:v>
                </c:pt>
                <c:pt idx="10">
                  <c:v>651</c:v>
                </c:pt>
                <c:pt idx="11">
                  <c:v>826</c:v>
                </c:pt>
                <c:pt idx="12">
                  <c:v>793</c:v>
                </c:pt>
                <c:pt idx="13">
                  <c:v>866</c:v>
                </c:pt>
                <c:pt idx="14">
                  <c:v>761</c:v>
                </c:pt>
                <c:pt idx="15">
                  <c:v>763</c:v>
                </c:pt>
              </c:numCache>
            </c:numRef>
          </c:val>
          <c:smooth val="0"/>
        </c:ser>
        <c:ser>
          <c:idx val="1"/>
          <c:order val="1"/>
          <c:tx>
            <c:strRef>
              <c:f>Sheet1!$C$1</c:f>
              <c:strCache>
                <c:ptCount val="1"/>
                <c:pt idx="0">
                  <c:v>P50</c:v>
                </c:pt>
              </c:strCache>
            </c:strRef>
          </c:tx>
          <c:spPr>
            <a:solidFill>
              <a:srgbClr val="1B8A8F"/>
            </a:solidFill>
            <a:ln w="25400" cap="flat">
              <a:solidFill>
                <a:srgbClr val="1B8A8F"/>
              </a:solidFill>
              <a:prstDash val="solid"/>
              <a:round/>
            </a:ln>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marker>
            <c:symbol val="circle"/>
            <c:size val="5"/>
            <c:spPr>
              <a:solidFill>
                <a:srgbClr val="1B8A8F"/>
              </a:solidFill>
              <a:ln w="9525" cap="flat">
                <a:solidFill>
                  <a:srgbClr val="1B8A8F"/>
                </a:solidFill>
                <a:prstDash val="solid"/>
                <a:round/>
              </a:ln>
              <a:effectLst/>
            </c:spPr>
          </c:marker>
          <c:cat>
            <c:multiLvlStrRef>
              <c:f>Sheet1!$A$2:$A$17</c:f>
              <c:multiLvlStrCache>
                <c:ptCount val="16"/>
                <c:lvl>
                  <c:pt idx="0">
                    <c:v>31/07</c:v>
                  </c:pt>
                  <c:pt idx="1">
                    <c:v>01/08</c:v>
                  </c:pt>
                  <c:pt idx="2">
                    <c:v>02/08</c:v>
                  </c:pt>
                  <c:pt idx="3">
                    <c:v>03/08</c:v>
                  </c:pt>
                  <c:pt idx="4">
                    <c:v>04/08</c:v>
                  </c:pt>
                  <c:pt idx="5">
                    <c:v>05/08</c:v>
                  </c:pt>
                  <c:pt idx="6">
                    <c:v>06/08</c:v>
                  </c:pt>
                  <c:pt idx="7">
                    <c:v>07/08</c:v>
                  </c:pt>
                  <c:pt idx="8">
                    <c:v>08/08</c:v>
                  </c:pt>
                  <c:pt idx="9">
                    <c:v>09/08</c:v>
                  </c:pt>
                  <c:pt idx="10">
                    <c:v>10/08</c:v>
                  </c:pt>
                  <c:pt idx="11">
                    <c:v>11/08</c:v>
                  </c:pt>
                  <c:pt idx="12">
                    <c:v>12/08</c:v>
                  </c:pt>
                  <c:pt idx="13">
                    <c:v>13/08</c:v>
                  </c:pt>
                  <c:pt idx="14">
                    <c:v>14/08</c:v>
                  </c:pt>
                  <c:pt idx="15">
                    <c:v>15/08</c:v>
                  </c:pt>
                </c:lvl>
              </c:multiLvlStrCache>
            </c:multiLvlStrRef>
          </c:cat>
          <c:val>
            <c:numRef>
              <c:f>Sheet1!$C$2:$C$17</c:f>
              <c:numCache>
                <c:formatCode>General</c:formatCode>
                <c:ptCount val="16"/>
                <c:pt idx="0">
                  <c:v>872</c:v>
                </c:pt>
                <c:pt idx="1">
                  <c:v>936</c:v>
                </c:pt>
                <c:pt idx="2">
                  <c:v>926</c:v>
                </c:pt>
                <c:pt idx="3">
                  <c:v>766</c:v>
                </c:pt>
                <c:pt idx="4">
                  <c:v>849</c:v>
                </c:pt>
                <c:pt idx="5">
                  <c:v>1022</c:v>
                </c:pt>
                <c:pt idx="6">
                  <c:v>1122</c:v>
                </c:pt>
                <c:pt idx="7">
                  <c:v>813</c:v>
                </c:pt>
                <c:pt idx="8">
                  <c:v>727</c:v>
                </c:pt>
                <c:pt idx="9">
                  <c:v>751</c:v>
                </c:pt>
                <c:pt idx="10">
                  <c:v>641</c:v>
                </c:pt>
                <c:pt idx="11">
                  <c:v>845</c:v>
                </c:pt>
                <c:pt idx="12">
                  <c:v>921</c:v>
                </c:pt>
                <c:pt idx="13">
                  <c:v>988</c:v>
                </c:pt>
                <c:pt idx="14">
                  <c:v>811</c:v>
                </c:pt>
                <c:pt idx="15">
                  <c:v>767</c:v>
                </c:pt>
              </c:numCache>
            </c:numRef>
          </c:val>
          <c:smooth val="0"/>
        </c:ser>
        <c:ser>
          <c:idx val="2"/>
          <c:order val="2"/>
          <c:tx>
            <c:strRef>
              <c:f>Sheet1!$D$1</c:f>
              <c:strCache>
                <c:ptCount val="1"/>
                <c:pt idx="0">
                  <c:v>Tổng P10</c:v>
                </c:pt>
              </c:strCache>
            </c:strRef>
          </c:tx>
          <c:spPr>
            <a:solidFill>
              <a:srgbClr val="C9D6D8"/>
            </a:solidFill>
            <a:ln w="25400" cap="flat">
              <a:solidFill>
                <a:srgbClr val="C9D6D8"/>
              </a:solidFill>
              <a:prstDash val="solid"/>
              <a:round/>
            </a:ln>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marker>
            <c:symbol val="circle"/>
            <c:size val="5"/>
            <c:spPr>
              <a:solidFill>
                <a:srgbClr val="C9D6D8"/>
              </a:solidFill>
              <a:ln w="9525" cap="flat">
                <a:solidFill>
                  <a:srgbClr val="C9D6D8"/>
                </a:solidFill>
                <a:prstDash val="solid"/>
                <a:round/>
              </a:ln>
              <a:effectLst/>
            </c:spPr>
          </c:marker>
          <c:cat>
            <c:multiLvlStrRef>
              <c:f>Sheet1!$A$2:$A$17</c:f>
              <c:multiLvlStrCache>
                <c:ptCount val="16"/>
                <c:lvl>
                  <c:pt idx="0">
                    <c:v>31/07</c:v>
                  </c:pt>
                  <c:pt idx="1">
                    <c:v>01/08</c:v>
                  </c:pt>
                  <c:pt idx="2">
                    <c:v>02/08</c:v>
                  </c:pt>
                  <c:pt idx="3">
                    <c:v>03/08</c:v>
                  </c:pt>
                  <c:pt idx="4">
                    <c:v>04/08</c:v>
                  </c:pt>
                  <c:pt idx="5">
                    <c:v>05/08</c:v>
                  </c:pt>
                  <c:pt idx="6">
                    <c:v>06/08</c:v>
                  </c:pt>
                  <c:pt idx="7">
                    <c:v>07/08</c:v>
                  </c:pt>
                  <c:pt idx="8">
                    <c:v>08/08</c:v>
                  </c:pt>
                  <c:pt idx="9">
                    <c:v>09/08</c:v>
                  </c:pt>
                  <c:pt idx="10">
                    <c:v>10/08</c:v>
                  </c:pt>
                  <c:pt idx="11">
                    <c:v>11/08</c:v>
                  </c:pt>
                  <c:pt idx="12">
                    <c:v>12/08</c:v>
                  </c:pt>
                  <c:pt idx="13">
                    <c:v>13/08</c:v>
                  </c:pt>
                  <c:pt idx="14">
                    <c:v>14/08</c:v>
                  </c:pt>
                  <c:pt idx="15">
                    <c:v>15/08</c:v>
                  </c:pt>
                </c:lvl>
              </c:multiLvlStrCache>
            </c:multiLvlStrRef>
          </c:cat>
          <c:val>
            <c:numRef>
              <c:f>Sheet1!$D$2:$D$17</c:f>
              <c:numCache>
                <c:formatCode>General</c:formatCode>
                <c:ptCount val="16"/>
                <c:pt idx="0">
                  <c:v>749</c:v>
                </c:pt>
                <c:pt idx="1">
                  <c:v>806</c:v>
                </c:pt>
                <c:pt idx="2">
                  <c:v>803</c:v>
                </c:pt>
                <c:pt idx="3">
                  <c:v>649</c:v>
                </c:pt>
                <c:pt idx="4">
                  <c:v>721</c:v>
                </c:pt>
                <c:pt idx="5">
                  <c:v>887</c:v>
                </c:pt>
                <c:pt idx="6">
                  <c:v>980</c:v>
                </c:pt>
                <c:pt idx="7">
                  <c:v>694</c:v>
                </c:pt>
                <c:pt idx="8">
                  <c:v>613</c:v>
                </c:pt>
                <c:pt idx="9">
                  <c:v>641</c:v>
                </c:pt>
                <c:pt idx="10">
                  <c:v>535</c:v>
                </c:pt>
                <c:pt idx="11">
                  <c:v>720</c:v>
                </c:pt>
                <c:pt idx="12">
                  <c:v>791</c:v>
                </c:pt>
                <c:pt idx="13">
                  <c:v>856</c:v>
                </c:pt>
                <c:pt idx="14">
                  <c:v>695</c:v>
                </c:pt>
                <c:pt idx="15">
                  <c:v>651</c:v>
                </c:pt>
              </c:numCache>
            </c:numRef>
          </c:val>
          <c:smooth val="0"/>
        </c:ser>
        <c:ser>
          <c:idx val="3"/>
          <c:order val="3"/>
          <c:tx>
            <c:strRef>
              <c:f>Sheet1!$E$1</c:f>
              <c:strCache>
                <c:ptCount val="1"/>
                <c:pt idx="0">
                  <c:v>Tổng P90</c:v>
                </c:pt>
              </c:strCache>
            </c:strRef>
          </c:tx>
          <c:spPr>
            <a:solidFill>
              <a:srgbClr val="C9D6D8"/>
            </a:solidFill>
            <a:ln w="25400" cap="flat">
              <a:solidFill>
                <a:srgbClr val="C9D6D8"/>
              </a:solidFill>
              <a:prstDash val="solid"/>
              <a:round/>
            </a:ln>
            <a:effectLst/>
          </c:spPr>
          <c:invertIfNegative val="0"/>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marker>
            <c:symbol val="circle"/>
            <c:size val="5"/>
            <c:spPr>
              <a:solidFill>
                <a:srgbClr val="C9D6D8"/>
              </a:solidFill>
              <a:ln w="9525" cap="flat">
                <a:solidFill>
                  <a:srgbClr val="C9D6D8"/>
                </a:solidFill>
                <a:prstDash val="solid"/>
                <a:round/>
              </a:ln>
              <a:effectLst/>
            </c:spPr>
          </c:marker>
          <c:cat>
            <c:multiLvlStrRef>
              <c:f>Sheet1!$A$2:$A$17</c:f>
              <c:multiLvlStrCache>
                <c:ptCount val="16"/>
                <c:lvl>
                  <c:pt idx="0">
                    <c:v>31/07</c:v>
                  </c:pt>
                  <c:pt idx="1">
                    <c:v>01/08</c:v>
                  </c:pt>
                  <c:pt idx="2">
                    <c:v>02/08</c:v>
                  </c:pt>
                  <c:pt idx="3">
                    <c:v>03/08</c:v>
                  </c:pt>
                  <c:pt idx="4">
                    <c:v>04/08</c:v>
                  </c:pt>
                  <c:pt idx="5">
                    <c:v>05/08</c:v>
                  </c:pt>
                  <c:pt idx="6">
                    <c:v>06/08</c:v>
                  </c:pt>
                  <c:pt idx="7">
                    <c:v>07/08</c:v>
                  </c:pt>
                  <c:pt idx="8">
                    <c:v>08/08</c:v>
                  </c:pt>
                  <c:pt idx="9">
                    <c:v>09/08</c:v>
                  </c:pt>
                  <c:pt idx="10">
                    <c:v>10/08</c:v>
                  </c:pt>
                  <c:pt idx="11">
                    <c:v>11/08</c:v>
                  </c:pt>
                  <c:pt idx="12">
                    <c:v>12/08</c:v>
                  </c:pt>
                  <c:pt idx="13">
                    <c:v>13/08</c:v>
                  </c:pt>
                  <c:pt idx="14">
                    <c:v>14/08</c:v>
                  </c:pt>
                  <c:pt idx="15">
                    <c:v>15/08</c:v>
                  </c:pt>
                </c:lvl>
              </c:multiLvlStrCache>
            </c:multiLvlStrRef>
          </c:cat>
          <c:val>
            <c:numRef>
              <c:f>Sheet1!$E$2:$E$17</c:f>
              <c:numCache>
                <c:formatCode>General</c:formatCode>
                <c:ptCount val="16"/>
                <c:pt idx="0">
                  <c:v>1073</c:v>
                </c:pt>
                <c:pt idx="1">
                  <c:v>1149</c:v>
                </c:pt>
                <c:pt idx="2">
                  <c:v>1127</c:v>
                </c:pt>
                <c:pt idx="3">
                  <c:v>955</c:v>
                </c:pt>
                <c:pt idx="4">
                  <c:v>1057</c:v>
                </c:pt>
                <c:pt idx="5">
                  <c:v>1242</c:v>
                </c:pt>
                <c:pt idx="6">
                  <c:v>1357</c:v>
                </c:pt>
                <c:pt idx="7">
                  <c:v>1007</c:v>
                </c:pt>
                <c:pt idx="8">
                  <c:v>914</c:v>
                </c:pt>
                <c:pt idx="9">
                  <c:v>929</c:v>
                </c:pt>
                <c:pt idx="10">
                  <c:v>811</c:v>
                </c:pt>
                <c:pt idx="11">
                  <c:v>1046</c:v>
                </c:pt>
                <c:pt idx="12">
                  <c:v>1131</c:v>
                </c:pt>
                <c:pt idx="13">
                  <c:v>1202</c:v>
                </c:pt>
                <c:pt idx="14">
                  <c:v>1000</c:v>
                </c:pt>
                <c:pt idx="15">
                  <c:v>956</c:v>
                </c:pt>
              </c:numCache>
            </c:numRef>
          </c:val>
          <c:smooth val="0"/>
        </c:ser>
        <c:dLbls>
          <c:numFmt formatCode="#,##0" sourceLinked="0"/>
          <c:txPr>
            <a:bodyPr/>
            <a:lstStyle/>
            <a:p>
              <a:pPr>
                <a:defRPr b="0" i="0" strike="noStrike" sz="1100" u="none">
                  <a:solidFill>
                    <a:srgbClr val="0E2A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A"/>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Nghìn đơn vị</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Độ bao phủ P10–P90 trên tập kiểm tra cuối (%) – danh nghĩa 80%</a:t>
            </a:r>
          </a:p>
        </c:rich>
      </c:tx>
      <c:layout/>
      <c:overlay val="0"/>
    </c:title>
    <c:autoTitleDeleted val="0"/>
    <c:plotArea>
      <c:layout/>
      <c:barChart>
        <c:barDir val="col"/>
        <c:grouping val="clustered"/>
        <c:varyColors val="0"/>
        <c:ser>
          <c:idx val="0"/>
          <c:order val="0"/>
          <c:tx>
            <c:strRef>
              <c:f>Sheet1!$B$1</c:f>
              <c:strCache>
                <c:ptCount val="1"/>
                <c:pt idx="0">
                  <c:v>Bao phủ P10–P90 (%)</c:v>
                </c:pt>
              </c:strCache>
            </c:strRef>
          </c:tx>
          <c:spPr>
            <a:solidFill>
              <a:srgbClr val="1B8A8F"/>
            </a:solidFill>
            <a:effectLst/>
          </c:spPr>
          <c:invertIfNegative val="0"/>
          <c:dLbls>
            <c:numFmt formatCode="0.0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Q1 thấp</c:v>
                  </c:pt>
                  <c:pt idx="1">
                    <c:v>Q2</c:v>
                  </c:pt>
                  <c:pt idx="2">
                    <c:v>Q3</c:v>
                  </c:pt>
                  <c:pt idx="3">
                    <c:v>Q4 cao</c:v>
                  </c:pt>
                </c:lvl>
              </c:multiLvlStrCache>
            </c:multiLvlStrRef>
          </c:cat>
          <c:val>
            <c:numRef>
              <c:f>Sheet1!$B$2:$B$5</c:f>
              <c:numCache>
                <c:formatCode>General</c:formatCode>
                <c:ptCount val="4"/>
                <c:pt idx="0">
                  <c:v>70.86</c:v>
                </c:pt>
                <c:pt idx="1">
                  <c:v>81.9</c:v>
                </c:pt>
                <c:pt idx="2">
                  <c:v>76.05</c:v>
                </c:pt>
                <c:pt idx="3">
                  <c:v>72.77</c:v>
                </c:pt>
              </c:numCache>
            </c:numRef>
          </c:val>
        </c:ser>
        <c:dLbls>
          <c:numFmt formatCode="0.0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635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Chênh lệch P50 trung bình so với Current (%)</a:t>
            </a:r>
          </a:p>
        </c:rich>
      </c:tx>
      <c:layout/>
      <c:overlay val="0"/>
    </c:title>
    <c:autoTitleDeleted val="0"/>
    <c:plotArea>
      <c:layout/>
      <c:barChart>
        <c:barDir val="col"/>
        <c:grouping val="clustered"/>
        <c:varyColors val="0"/>
        <c:ser>
          <c:idx val="0"/>
          <c:order val="0"/>
          <c:tx>
            <c:strRef>
              <c:f>Sheet1!$B$1</c:f>
              <c:strCache>
                <c:ptCount val="1"/>
                <c:pt idx="0">
                  <c:v>Chênh P50</c:v>
                </c:pt>
              </c:strCache>
            </c:strRef>
          </c:tx>
          <c:spPr>
            <a:solidFill>
              <a:srgbClr val="D05A4E"/>
            </a:solidFill>
            <a:effectLst/>
          </c:spPr>
          <c:invertIfNegative val="0"/>
          <c:dLbls>
            <c:numFmt formatCode="+0.00&quot;%&quot;;-0.00&quot;%&quot;;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D05A4E"/>
              </a:solidFill>
              <a:effectLst/>
            </c:spPr>
          </c:dPt>
          <c:dPt>
            <c:idx val="1"/>
            <c:invertIfNegative val="0"/>
            <c:bubble3D val="0"/>
            <c:spPr>
              <a:solidFill>
                <a:srgbClr val="D05A4E"/>
              </a:solidFill>
              <a:effectLst/>
            </c:spPr>
          </c:dPt>
          <c:dPt>
            <c:idx val="2"/>
            <c:invertIfNegative val="0"/>
            <c:bubble3D val="0"/>
            <c:spPr>
              <a:solidFill>
                <a:srgbClr val="C9D6D8"/>
              </a:solidFill>
              <a:effectLst/>
            </c:spPr>
          </c:dPt>
          <c:dPt>
            <c:idx val="3"/>
            <c:invertIfNegative val="0"/>
            <c:bubble3D val="0"/>
            <c:spPr>
              <a:solidFill>
                <a:srgbClr val="1B8A8F"/>
              </a:solidFill>
              <a:effectLst/>
            </c:spPr>
          </c:dPt>
          <c:dPt>
            <c:idx val="4"/>
            <c:invertIfNegative val="0"/>
            <c:bubble3D val="0"/>
            <c:spPr>
              <a:solidFill>
                <a:srgbClr val="1B8A8F"/>
              </a:solidFill>
              <a:effectLst/>
            </c:spPr>
          </c:dPt>
          <c:cat>
            <c:multiLvlStrRef>
              <c:f>Sheet1!$A$2:$A$6</c:f>
              <c:multiLvlStrCache>
                <c:ptCount val="5"/>
                <c:lvl>
                  <c:pt idx="0">
                    <c:v>No promotion</c:v>
                  </c:pt>
                  <c:pt idx="1">
                    <c:v>Low</c:v>
                  </c:pt>
                  <c:pt idx="2">
                    <c:v>Current</c:v>
                  </c:pt>
                  <c:pt idx="3">
                    <c:v>Medium</c:v>
                  </c:pt>
                  <c:pt idx="4">
                    <c:v>High</c:v>
                  </c:pt>
                </c:lvl>
              </c:multiLvlStrCache>
            </c:multiLvlStrRef>
          </c:cat>
          <c:val>
            <c:numRef>
              <c:f>Sheet1!$B$2:$B$6</c:f>
              <c:numCache>
                <c:formatCode>General</c:formatCode>
                <c:ptCount val="5"/>
                <c:pt idx="0">
                  <c:v>-5.04</c:v>
                </c:pt>
                <c:pt idx="1">
                  <c:v>-1.45</c:v>
                </c:pt>
                <c:pt idx="2">
                  <c:v>0</c:v>
                </c:pt>
                <c:pt idx="3">
                  <c:v>3.2</c:v>
                </c:pt>
                <c:pt idx="4">
                  <c:v>9.06</c:v>
                </c:pt>
              </c:numCache>
            </c:numRef>
          </c:val>
        </c:ser>
        <c:dLbls>
          <c:numFmt formatCode="+0.00&quot;%&quot;;-0.00&quot;%&quot;;0&quot;%&quot;" sourceLinked="0"/>
          <c:txPr>
            <a:bodyPr/>
            <a:lstStyle/>
            <a:p>
              <a:pPr>
                <a:defRPr b="0" i="0" strike="noStrike" sz="1100" u="none">
                  <a:solidFill>
                    <a:srgbClr val="0E2A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9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2A33"/>
                </a:solidFill>
                <a:latin typeface="Calibri"/>
              </a:defRPr>
            </a:pPr>
            <a:r>
              <a:rPr sz="1300" b="0" i="0" u="none" strike="noStrike">
                <a:solidFill>
                  <a:srgbClr val="0E2A33"/>
                </a:solidFill>
                <a:latin typeface="Calibri"/>
              </a:rPr>
              <a:t>Nhãn rủi ro (1.782 chuỗi)</a:t>
            </a:r>
          </a:p>
        </c:rich>
      </c:tx>
      <c:layout/>
      <c:overlay val="0"/>
    </c:title>
    <c:autoTitleDeleted val="0"/>
    <c:plotArea>
      <c:layout/>
      <c:doughnutChart>
        <c:varyColors val="1"/>
        <c:ser>
          <c:idx val="0"/>
          <c:order val="0"/>
          <c:tx>
            <c:strRef>
              <c:f>Sheet1!$B$1</c:f>
              <c:strCache>
                <c:ptCount val="1"/>
                <c:pt idx="0">
                  <c:v>Nhãn</c:v>
                </c:pt>
              </c:strCache>
            </c:strRef>
          </c:tx>
          <c:spPr>
            <a:solidFill>
              <a:schemeClr val="accent1"/>
            </a:solidFill>
            <a:ln w="9525" cap="flat">
              <a:solidFill>
                <a:srgbClr val="F9F9F9"/>
              </a:solidFill>
              <a:prstDash val="solid"/>
              <a:round/>
            </a:ln>
            <a:effectLst/>
          </c:spPr>
          <c:dPt>
            <c:idx val="0"/>
            <c:bubble3D val="0"/>
            <c:spPr>
              <a:solidFill>
                <a:srgbClr val="D05A4E"/>
              </a:solidFill>
              <a:effectLst/>
            </c:spPr>
          </c:dPt>
          <c:dPt>
            <c:idx val="1"/>
            <c:bubble3D val="0"/>
            <c:spPr>
              <a:solidFill>
                <a:srgbClr val="E8A33D"/>
              </a:solidFill>
              <a:effectLst/>
            </c:spPr>
          </c:dPt>
          <c:dPt>
            <c:idx val="2"/>
            <c:bubble3D val="0"/>
            <c:spPr>
              <a:solidFill>
                <a:srgbClr val="3C8D5A"/>
              </a:solidFill>
              <a:effectLst/>
            </c:spPr>
          </c:dPt>
          <c:dLbls>
            <c:dLbl>
              <c:idx val="0"/>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1064</c:v>
                </c:pt>
                <c:pt idx="1">
                  <c:v>634</c:v>
                </c:pt>
                <c:pt idx="2">
                  <c:v>84</c:v>
                </c:pt>
              </c:numCache>
            </c:numRef>
          </c:val>
        </c:ser>
        <c:firstSliceAng val="0"/>
        <c:holeSize val="60"/>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Em xin trình bày luận văn về dự báo nhu cầu bán lẻ và hỗ trợ quyết định khuyến mãi, thực nghiệm trên dữ liệu Corporación Favorita. Điểm xuyên suốt của bài là không dừng ở một con số dự báo, mà đi từ dữ liệu đến dự báo điểm, dự báo xác suất, kịch bản, tín hiệu tồn kho và cuối cùng là một phiếu khuyến nghị để con người phê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tám phần. Em sẽ đi nhanh qua bối cảnh và dữ liệu, dành nhiều thời gian hơn cho thiết kế chống rò rỉ, kết quả mô hình, dự báo xác suất và lớp hỗ trợ quyết định, sau đó minh họa dashboard và mẫu ra quyết định, cuối cùng trả lời năm câu hỏi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một: bối cảnh và câu hỏi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thực tế của nhà bán lẻ không chỉ là dự báo đúng, mà là đặt bao nhiêu hàng cho rất nhiều chuỗi, trong điều kiện bất định. Khoảng trống em nhắm tới: nhiều nghiên cứu dừng ở độ chính xác điểm, còn khoảng dự báo ít được đánh giá theo từng nhóm quy mô; và lớp Generative AI nếu không kiểm soát có thể tạo ra số liệu không có căn cứ. Hướng tiếp cận của luận văn là một pipeline khép kín, trong đó mọi con số trong khuyến nghị đều truy vết được về kết quả mô hình, và quyết định cuối cùng thuộc về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câu hỏi được sắp theo lớp. RQ1 mang tính mô tả, RQ2 là so sánh có kiểm soát, RQ3 đánh giá chất lượng thông tin bất định, còn RQ4 và RQ5 là câu hỏi thiết kế ứng dụng. Càng về sau, kết luận càng phụ thuộc thêm giả định, nên mức chắc chắn giảm dần. Mỗi câu hỏi có loại bằng chứng riêng và giới hạn kết luận được ghi ngay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văn có bốn đóng góp. Thứ nhất là một quy trình khép kín, từ dữ liệu đến phiếu khuyến nghị, và toàn bộ kết quả có thể sinh lại bằng một lệnh chạy. Thứ hai là thiết kế đặc trưng và mô hình cơ sở có kiểm soát rò rỉ cho kỳ dự báo 16 ngày. Thứ ba là khoảng dự báo thích ứng theo quy mô, được đánh giá không chỉ ở mức tổng mà theo từng nhóm nhu cầu. Thứ tư là lớp hỗ trợ quyết định có căn cứ và có con người phê duyệt, kèm công cụ xuất báo cáo và mẫu ra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hai: dữ liệu và phân tích khám phá.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gồm hơn 3 triệu quan sát của 54 cửa hàng và 33 nhóm sản phẩm, tạo thành 1.782 chuỗi. Hai đặc điểm quan trọng cho thiết kế là 31,3 phần trăm dòng có doanh số bằng 0 và khoảng 20 phần trăm dòng có khuyến mãi. Dữ liệu sạch: không có giá trị thiếu hay dòng trùng. Các nguồn bổ sung được xử lý để bảo đảm tính sẵn có tại thời điểm dự báo, ví dụ giá dầu được dịch 16 ngày lịch.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số tổng theo ngày có xu hướng tăng qua các năm và mùa vụ tuần rõ, cuối tuần cao hơn ngày thường. Các ngày 25 tháng 12 vắng trong dữ liệu; em bổ sung các ngày này vào lịch với cờ đóng cửa để độ trễ không bị lệch.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Dòng có khuyến mãi có doanh số trung bình khoảng 1.138 so với 158 ở dòng không khuyến mãi. Tuy nhiên đây chỉ là thống kê mô tả: khuyến mãi thường xuất hiện ở nhóm hàng lớn, nên chênh lệch lẫn cả hiệu ứng quy mô. Luận văn vì vậy không đưa ra kết luận nhân quả về khuyến mãi.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rã Robust STL cho thấy mùa vụ tuần ổn định, xu hướng thay đổi chậm và phần dư có các cú sốc lễ. Từ đó em chọn các nhóm đặc trưng: độ trễ bội số 7, trung bình trượt, lịch và ngày lễ.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ba trình bày thiết kế quy trình, trọng tâm là kiểm soát rò rỉ thông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gồm 14 stage, chạy tuần tự bằng START_WINDOWS.bat từ tệp train.csv; toàn bộ lần chạy chính thức mất khoảng 53 phút, phần lớn là bước so sánh 5 mô hình. Nhóm đầu là dữ liệu và mô hình; nhóm giữa chuyển dự báo thành bất định và quyết định; nhóm cuối gồm kiểm thử, báo cáo, thí nghiệm độ nhạy và dashboard có phê duyệt của con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kế tuân theo mười hai nguyên tắc chia làm ba nhóm. Nhóm dữ liệu và đặc trưng bảo đảm mọi thông tin đều có sẵn tại thời điểm dự báo: Seasonal Naive cố định tại gốc, lịch ngày đầy đủ, nguồn bổ sung dịch 16 ngày lịch, ngày lễ loại ngày làm bù, và mô hình học máy chỉ dùng độ trễ từ 16 ngày trở lên. Nhóm mô hình bảo đảm so sánh công bằng: Ridge được chuẩn hóa, LightGBM có tham số lấy mẫu thực sự hiệu lực, các mô hình tăng cường dùng toàn bộ dữ liệu. Nhóm bất định và quyết định gồm khoảng Mondrian theo quy mô, kịch bản dùng độ rộng theo từng dòng, hàng đợi theo điểm ưu tiên và nhật ký phê duyệt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cơ sở Seasonal Naive được cố định tại gốc dự báo. Với kỳ dự báo 16 ngày, nếu dùng lag 7 cho mọi ngày thì từ ngày thứ 8 trở đi mô hình sẽ đọc doanh số nằm trong chính kỳ cần dự báo – thông tin chưa tồn tại ở thời điểm ra quyết định. Vì vậy ngày 1 đến 7 dùng lag 7, ngày 8 đến 14 dùng lag 14, ngày 15 và 16 dùng lag 21. Các mô hình học máy chỉ dùng độ trễ từ 16 ngày trở lên. Nhờ vậy, so sánh giữa mô hình cơ sở và học máy là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kế đánh giá là kiểm định chéo cuốn chiếu theo thời gian với ba cửa sổ 16 ngày liên tiếp, sau đó một tập kiểm tra cuối từ 31 tháng 7 đến 15 tháng 8 năm 2017. Mô hình được chọn bằng WAPE trung bình của ba lần kiểm định, trước khi mở tập kiểm tra cuối, để tránh chọn mô hình theo kết quả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bốn: kết quả dự báo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kiểm định chéo: XGBoost đứng đầu với WAPE trung bình 12,089 phần trăm, tiếp theo là LightGBM 12,568 và Random Forest 12,969. Hai mốc cơ sở Seasonal Naive và Ridge cao hơn đáng kể. Em lưu ý chênh lệch giữa XGBoost và LightGBM chỉ khoảng nửa điểm phần trăm, nhỏ hơn độ lệch chuẩn giữa các lần, nên em không khẳng định ý nghĩa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theo từng lần, XGBoost thấp nhất ở cả ba lần và cũng có RMSE thấp nhất. Seasonal Naive dao động mạnh nhất. Random Forest là mô hình duy nhất giữ giới hạn 600 nghìn dòng vì chi phí huấn luyện, điều này được ghi rõ trong bảng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tập kiểm tra cuối, XGBoost đạt WAPE 14,327 phần trăm, LightGBM 14,868. Sai số tập kiểm tra cao hơn kiểm định chéo ở mọi mô hình, cho thấy kỳ cuối khó hơn. Em cũng trình bày trung thực rằng LightGBM có RMSE thấp hơn một chút, nên kết luận về mô hình tốt nhất là theo tiêu chí WAPE đã định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quan trọng theo gain của XGBoost cho thấy lag 21 và trung bình trượt 7 ngày dẫn đầu, tiếp theo là lag 28 và lag 56. Đây là thông tin nhu cầu gần nhất có sẵn tại gốc dự báo cùng nhịp tuần. Gain chỉ phản ánh đóng góp vào việc giảm hàm mất mát khi tách cây, không nên hiểu là tác động nhân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tổng theo ngày cho thấy P50 bám khá sát nhịp tuần. Dự báo có xu hướng cao hơn thực tế, thể hiện qua bias âm ở cả bốn mức nhu cầu. Lưu ý dải P10–P90 ở đây là tổng các phân vị theo ngày, mang tính mô tả.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năm: dự báo xác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có P10 và P90, em dùng khoảng phần dư split-conformal theo nhóm quy mô. Mô hình được huấn luyện trước cửa sổ hiệu chỉnh, dự báo trên cửa sổ này, chia quan sát thành 9 nhóm theo dự báo điểm và lấy phân vị phần dư trong từng nhóm. Nhờ vậy khoảng dự báo hẹp ở chuỗi nhỏ và rộng ở chuỗi lớn. Pinball loss P10 là 17,850, P90 là 20,960. Độ bao phủ tổng 75,40% vẫn thấp hơn mức danh nghĩa 80 phần trăm, em ghi nhận đây là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độ bao phủ tổng gần danh nghĩa chưa đủ: khoảng dự báo phải đúng ở cả nhóm chuỗi lớn. Nhờ chia nhóm theo quy mô, độ rộng khoảng ở nhóm nhu cầu cao lớn hơn nhiều lần nhóm thấp, và bao phủ ở nhóm cao đạt 72,77%. Nhóm thấp nhất có bao phủ 70,86% vì nhiều quan sát bằng 0 nằm dưới P10; cơ chế này được phân tích trong luận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sáu: từ dự báo đến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khuyến mãi thay mức onpromotion và dự báo lại. So với hiện tại, không khuyến mãi làm P50 trung bình giảm 5,04 phần trăm, mức cao làm tăng 9,06 phần trăm. Em nhấn mạnh đây là phản ứng có điều kiện của mô hình, không phải tác động nhân quả, và có cảnh báo ngoại suy ở 809 phiếu. Công dụng thực tế là khoanh vùng những chuỗi đáng đưa vào thử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tồn kho dùng logic Newsvendor. Với giả định chi phí thiếu hàng gấp ba chi phí tồn dư, phân vị tới hạn là 0,75. Mức mục tiêu tham chiếu là P90, vị thế tồn kho giả định bằng 0,8 lần P50. Nhãn rủi ro dựa trên độ bất định tương đối: 1.064 chuỗi HIGH, 634 MEDIUM, 84 LOW. Em cũng nói rõ nhãn này vẫn gắn chặt với quy mô chuỗi, tương quan hạng âm 0,97, và toàn bộ lớp này là mô phỏng do thiếu dữ liệu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hỗ trợ quyết định có năm thành phần. Hàng đợi ưu tiên có điểm minh bạch theo mã lý do. Mỗi chuỗi có phiếu khuyến nghị với ba phương án số lượng. RAG truy xuất chính sách mẫu để làm căn cứ. Mô hình ngôn ngữ là tùy chọn và chỉ được viết lại lời văn: mọi con số lớn hơn 31 phải khớp bằng chứng trong 0,5 phần trăm, nếu không bản đó bị loại. Cuối cùng con người phê duyệt, ghi vào nhật ký 14 cột. Trong lần chạy chính thức chưa có khóa API nên toàn bộ phiếu ở chế độ quy tắc.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phiếu đứng đầu hàng đợi: cửa hàng 10, nhóm đồ uống, được 5 điểm ưu tiên vì vừa là chuỗi lớn vừa có bất định cao. Phiếu đưa ba phương án: theo P50 bổ sung 4.435, theo q sao bổ sung 11.264, và theo P90 bổ sung 15.361. Quy tắc đề xuất phương án C, nhưng người lập kế hoạch có thể chọn khác và phải ghi lý do. Về khuyến mãi, không kịch bản nào làm P50 tăng nên phiếu không đề xuất tăng.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bảy: minh họa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tổng quan hiển thị các chỉ số chính của lần chạy chính thức, mô hình được chọn và trạng thái lớp GenAI. Người quản lý nhìn được ngay mức sai số, độ bao phủ và số phiếu đang chờ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tâm quyết định cho phép lọc hàng đợi, mở từng phiếu, xem phương án A B C, căn cứ chính sách và ghi quyết định phê duyệt vào nhật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Xuất báo cáo cho phép chọn phạm vi cửa hàng và nhóm hàng rồi tải workbook Excel nhiều sheet có định dạng, báo cáo HTML một trang có thể in PDF, và mẫu ra quyết định dự báo để người lập kế hoạch điền.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con người thực sự ra quyết định, em xây dựng mẫu dự báo dạng Excel. Phần thông tin dự báo được khóa và lấy từ kết quả mô hình. Người lập kế hoạch chỉ điền các ô vàng: tồn kho thực tế, quyết định, phương án, số lượng cuối, lý do và người duyệt. Mẫu tự tính lượng bổ sung theo tồn kho thực, chênh lệch so với đề xuất và cảnh báo khi vượt P90 hoặc thiếu lý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cuối: trả lời câu hỏi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Thí nghiệm độ nhạy kiểm tra hai lựa chọn thiết kế trên đúng ba cửa sổ kiểm định: huấn luyện XGBoost trên toàn bộ dữ liệu so với mẫu 600 nghìn dòng, và LightGBM có hay không đặt tham số subsample_freq. Vì chỉ có ba cửa sổ, em đọc các chênh lệch này một cách thận trọng và không khẳng định ý nghĩa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trường hợp đại diện được chọn tự động theo quy tắc định trước. Chuỗi rau củ ở cửa hàng 3 dự báo rất tốt, WAPE khoảng 4 phần trăm. Chuỗi văn phòng phẩm ở cửa hàng 12 có nhu cầu rất thấp nên WAPE rất lớn, dự báo của mô hình phụ thuộc gần như hoàn toàn vào onpromotion. Chuỗi đồ uống ở cửa hàng 2 có bất định cao. Chuỗi tạp hóa ở cửa hàng 45 nhạy nhất với kịch bản khuyến mãi.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câu trả lời. RQ1: dữ liệu có quy mô lớn, nhiều doanh số bằng 0 và mùa vụ tuần rõ, quyết định thiết kế đặc trưng. RQ2: XGBoost tốt nhất theo WAPE nhưng khoảng cách với LightGBM chưa có ý nghĩa thống kê. RQ3: khoảng Mondrian thích ứng theo quy mô, bao phủ ở nhóm nhu cầu cao đạt gần 73 phần trăm, nhưng bao phủ tổng vẫn dưới danh nghĩa. RQ4: kịch bản và nhãn rủi ro là tín hiệu có điều kiện dưới giả định. RQ5: lớp hỗ trợ quyết định đã được thiết kế có căn cứ và có con người phê duyệt, nhưng mô hình ngôn ngữ chưa được chạy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trình bày trung thực các giới hạn: bao phủ tổng chưa đạt danh nghĩa, nhãn rủi ro gắn với quy mô, kịch bản khuyến mãi có ngoại suy, lớp tồn kho là mô phỏng, chỉ có ba cửa sổ kiểm định, và mô hình ngôn ngữ chưa chạy thật. Mỗi giới hạn đi kèm một hướng phát triển cụ thể ở cột bên phải.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luận văn xây dựng một pipeline minh bạch và tái lập được, nơi dự báo được gắn với bất định và quyết định cuối cùng thuộc về con người. Bài học lớn nhất là mọi đặc trưng phải có sẵn tại thời điểm dự báo, và khoảng dự báo phải được đánh giá theo từng nhóm quy mô chứ không chỉ ở mức tổng. Em xin cảm ơn Hội đồng và thầy hướng dẫn, và rất mong nhận được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slide phụ lục dùng để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dùng khi được hỏi chi tiết về cách chia nhóm Mondrian.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chi tiết WAPE theo từng lần kiểm định, dùng khi Hội đồng hỏi về độ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320040"/>
          </a:xfrm>
          <a:prstGeom prst="rect">
            <a:avLst/>
          </a:prstGeom>
          <a:noFill/>
          <a:ln/>
        </p:spPr>
        <p:txBody>
          <a:bodyPr wrap="square" lIns="0" tIns="0" rIns="0" bIns="0" rtlCol="0" anchor="t"/>
          <a:lstStyle/>
          <a:p>
            <a:pPr indent="0" marL="0">
              <a:buNone/>
            </a:pPr>
            <a:r>
              <a:rPr lang="en-US" sz="1300" b="1" spc="300" kern="0" dirty="0">
                <a:solidFill>
                  <a:srgbClr val="E8A33D"/>
                </a:solidFill>
                <a:latin typeface="Calibri" pitchFamily="34" charset="0"/>
                <a:ea typeface="Calibri" pitchFamily="34" charset="-122"/>
                <a:cs typeface="Calibri" pitchFamily="34" charset="-120"/>
              </a:rPr>
              <a:t>LUẬN VĂN THẠC SĨ</a:t>
            </a:r>
            <a:endParaRPr lang="en-US" sz="1300" dirty="0"/>
          </a:p>
        </p:txBody>
      </p:sp>
      <p:sp>
        <p:nvSpPr>
          <p:cNvPr id="3" name="Text 1"/>
          <p:cNvSpPr txBox="1"/>
          <p:nvPr/>
        </p:nvSpPr>
        <p:spPr>
          <a:xfrm>
            <a:off x="548640" y="1325880"/>
            <a:ext cx="10607040" cy="19202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Dự báo nhu cầu bán lẻ và hỗ trợ quyết định khuyến mãi bằng Machine Learning, Probabilistic Forecasting và Generative AI</a:t>
            </a:r>
            <a:endParaRPr lang="en-US" sz="3600" dirty="0"/>
          </a:p>
        </p:txBody>
      </p:sp>
      <p:sp>
        <p:nvSpPr>
          <p:cNvPr id="4" name="Text 2"/>
          <p:cNvSpPr txBox="1"/>
          <p:nvPr/>
        </p:nvSpPr>
        <p:spPr>
          <a:xfrm>
            <a:off x="548640" y="3337560"/>
            <a:ext cx="10058400" cy="457200"/>
          </a:xfrm>
          <a:prstGeom prst="rect">
            <a:avLst/>
          </a:prstGeom>
          <a:noFill/>
          <a:ln/>
        </p:spPr>
        <p:txBody>
          <a:bodyPr wrap="square" lIns="0" tIns="0" rIns="0" bIns="0" rtlCol="0" anchor="t"/>
          <a:lstStyle/>
          <a:p>
            <a:pPr indent="0" marL="0">
              <a:buNone/>
            </a:pPr>
            <a:r>
              <a:rPr lang="en-US" sz="1800" dirty="0">
                <a:solidFill>
                  <a:srgbClr val="7FC4C4"/>
                </a:solidFill>
                <a:latin typeface="Calibri" pitchFamily="34" charset="0"/>
                <a:ea typeface="Calibri" pitchFamily="34" charset="-122"/>
                <a:cs typeface="Calibri" pitchFamily="34" charset="-120"/>
              </a:rPr>
              <a:t>Nghiên cứu trên dữ liệu Corporación Favorita · 1.782 chuỗi Store × Family · kỳ dự báo 16 ngày</a:t>
            </a:r>
            <a:endParaRPr lang="en-US" sz="1800" dirty="0"/>
          </a:p>
        </p:txBody>
      </p:sp>
      <p:sp>
        <p:nvSpPr>
          <p:cNvPr id="5" name="Text 3"/>
          <p:cNvSpPr txBox="1"/>
          <p:nvPr/>
        </p:nvSpPr>
        <p:spPr>
          <a:xfrm>
            <a:off x="548640" y="4754880"/>
            <a:ext cx="7315200" cy="8229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Học viên: </a:t>
            </a:r>
            <a:pPr indent="0" marL="0">
              <a:buNone/>
            </a:pPr>
            <a:r>
              <a:rPr lang="en-US" sz="1600" dirty="0">
                <a:solidFill>
                  <a:srgbClr val="FFFFFF"/>
                </a:solidFill>
                <a:latin typeface="Calibri" pitchFamily="34" charset="0"/>
                <a:ea typeface="Calibri" pitchFamily="34" charset="-122"/>
                <a:cs typeface="Calibri" pitchFamily="34" charset="-120"/>
              </a:rPr>
              <a:t>Đinh Nguyễn Tấn Nguyên</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Giảng viên hướng dẫn: </a:t>
            </a:r>
            <a:pPr indent="0" marL="0">
              <a:buNone/>
            </a:pPr>
            <a:r>
              <a:rPr lang="en-US" sz="1600" dirty="0">
                <a:solidFill>
                  <a:srgbClr val="FFFFFF"/>
                </a:solidFill>
                <a:latin typeface="Calibri" pitchFamily="34" charset="0"/>
                <a:ea typeface="Calibri" pitchFamily="34" charset="-122"/>
                <a:cs typeface="Calibri" pitchFamily="34" charset="-120"/>
              </a:rPr>
              <a:t>TS. Trần Duy Thanh</a:t>
            </a:r>
            <a:endParaRPr lang="en-US" sz="1600" dirty="0"/>
          </a:p>
        </p:txBody>
      </p:sp>
      <p:sp>
        <p:nvSpPr>
          <p:cNvPr id="6" name="Shape 4"/>
          <p:cNvSpPr/>
          <p:nvPr/>
        </p:nvSpPr>
        <p:spPr>
          <a:xfrm>
            <a:off x="9692640" y="4983480"/>
            <a:ext cx="365760" cy="365760"/>
          </a:xfrm>
          <a:prstGeom prst="ellipse">
            <a:avLst/>
          </a:prstGeom>
          <a:solidFill>
            <a:srgbClr val="1B8A8F"/>
          </a:solidFill>
          <a:ln w="12700">
            <a:solidFill>
              <a:srgbClr val="1B8A8F"/>
            </a:solidFill>
            <a:prstDash val="solid"/>
          </a:ln>
        </p:spPr>
      </p:sp>
      <p:sp>
        <p:nvSpPr>
          <p:cNvPr id="7" name="Shape 5"/>
          <p:cNvSpPr/>
          <p:nvPr/>
        </p:nvSpPr>
        <p:spPr>
          <a:xfrm>
            <a:off x="10195560" y="4983480"/>
            <a:ext cx="365760" cy="365760"/>
          </a:xfrm>
          <a:prstGeom prst="ellipse">
            <a:avLst/>
          </a:prstGeom>
          <a:solidFill>
            <a:srgbClr val="7FC4C4"/>
          </a:solidFill>
          <a:ln w="12700">
            <a:solidFill>
              <a:srgbClr val="7FC4C4"/>
            </a:solidFill>
            <a:prstDash val="solid"/>
          </a:ln>
        </p:spPr>
      </p:sp>
      <p:sp>
        <p:nvSpPr>
          <p:cNvPr id="8" name="Shape 6"/>
          <p:cNvSpPr/>
          <p:nvPr/>
        </p:nvSpPr>
        <p:spPr>
          <a:xfrm>
            <a:off x="10698480" y="4983480"/>
            <a:ext cx="365760" cy="365760"/>
          </a:xfrm>
          <a:prstGeom prst="ellipse">
            <a:avLst/>
          </a:prstGeom>
          <a:solidFill>
            <a:srgbClr val="E8A33D"/>
          </a:solidFill>
          <a:ln w="12700">
            <a:solidFill>
              <a:srgbClr val="E8A33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NỘI DUNG</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Lộ trình trình bày</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600200"/>
            <a:ext cx="5303520" cy="868680"/>
          </a:xfrm>
          <a:prstGeom prst="roundRect">
            <a:avLst>
              <a:gd name="adj" fmla="val 12632"/>
            </a:avLst>
          </a:prstGeom>
          <a:solidFill>
            <a:srgbClr val="EEF5F5"/>
          </a:solidFill>
          <a:ln w="12700">
            <a:solidFill>
              <a:srgbClr val="EEF5F5"/>
            </a:solidFill>
            <a:prstDash val="solid"/>
          </a:ln>
        </p:spPr>
      </p:sp>
      <p:sp>
        <p:nvSpPr>
          <p:cNvPr id="7" name="Shape 5"/>
          <p:cNvSpPr/>
          <p:nvPr/>
        </p:nvSpPr>
        <p:spPr>
          <a:xfrm>
            <a:off x="777240" y="1783080"/>
            <a:ext cx="502920" cy="502920"/>
          </a:xfrm>
          <a:prstGeom prst="ellipse">
            <a:avLst/>
          </a:prstGeom>
          <a:solidFill>
            <a:srgbClr val="1B8A8F"/>
          </a:solidFill>
          <a:ln w="12700">
            <a:solidFill>
              <a:srgbClr val="1B8A8F"/>
            </a:solidFill>
            <a:prstDash val="solid"/>
          </a:ln>
        </p:spPr>
      </p:sp>
      <p:sp>
        <p:nvSpPr>
          <p:cNvPr id="8" name="Text 6"/>
          <p:cNvSpPr txBox="1"/>
          <p:nvPr/>
        </p:nvSpPr>
        <p:spPr>
          <a:xfrm>
            <a:off x="777240" y="17830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txBox="1"/>
          <p:nvPr/>
        </p:nvSpPr>
        <p:spPr>
          <a:xfrm>
            <a:off x="1508760" y="178308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Bối cảnh, câu hỏi và đóng góp</a:t>
            </a:r>
            <a:endParaRPr lang="en-US" sz="1700" dirty="0"/>
          </a:p>
        </p:txBody>
      </p:sp>
      <p:sp>
        <p:nvSpPr>
          <p:cNvPr id="10" name="Shape 8"/>
          <p:cNvSpPr/>
          <p:nvPr/>
        </p:nvSpPr>
        <p:spPr>
          <a:xfrm>
            <a:off x="6126480" y="1600200"/>
            <a:ext cx="5303520" cy="868680"/>
          </a:xfrm>
          <a:prstGeom prst="roundRect">
            <a:avLst>
              <a:gd name="adj" fmla="val 12632"/>
            </a:avLst>
          </a:prstGeom>
          <a:solidFill>
            <a:srgbClr val="EEF5F5"/>
          </a:solidFill>
          <a:ln w="12700">
            <a:solidFill>
              <a:srgbClr val="EEF5F5"/>
            </a:solidFill>
            <a:prstDash val="solid"/>
          </a:ln>
        </p:spPr>
      </p:sp>
      <p:sp>
        <p:nvSpPr>
          <p:cNvPr id="11" name="Shape 9"/>
          <p:cNvSpPr/>
          <p:nvPr/>
        </p:nvSpPr>
        <p:spPr>
          <a:xfrm>
            <a:off x="6355080" y="1783080"/>
            <a:ext cx="502920" cy="502920"/>
          </a:xfrm>
          <a:prstGeom prst="ellipse">
            <a:avLst/>
          </a:prstGeom>
          <a:solidFill>
            <a:srgbClr val="1B8A8F"/>
          </a:solidFill>
          <a:ln w="12700">
            <a:solidFill>
              <a:srgbClr val="1B8A8F"/>
            </a:solidFill>
            <a:prstDash val="solid"/>
          </a:ln>
        </p:spPr>
      </p:sp>
      <p:sp>
        <p:nvSpPr>
          <p:cNvPr id="12" name="Text 10"/>
          <p:cNvSpPr txBox="1"/>
          <p:nvPr/>
        </p:nvSpPr>
        <p:spPr>
          <a:xfrm>
            <a:off x="6355080" y="17830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txBox="1"/>
          <p:nvPr/>
        </p:nvSpPr>
        <p:spPr>
          <a:xfrm>
            <a:off x="7086600" y="178308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Dữ liệu và khám phá</a:t>
            </a:r>
            <a:endParaRPr lang="en-US" sz="1700" dirty="0"/>
          </a:p>
        </p:txBody>
      </p:sp>
      <p:sp>
        <p:nvSpPr>
          <p:cNvPr id="14" name="Shape 12"/>
          <p:cNvSpPr/>
          <p:nvPr/>
        </p:nvSpPr>
        <p:spPr>
          <a:xfrm>
            <a:off x="548640" y="2697480"/>
            <a:ext cx="5303520" cy="868680"/>
          </a:xfrm>
          <a:prstGeom prst="roundRect">
            <a:avLst>
              <a:gd name="adj" fmla="val 12632"/>
            </a:avLst>
          </a:prstGeom>
          <a:solidFill>
            <a:srgbClr val="EEF5F5"/>
          </a:solidFill>
          <a:ln w="12700">
            <a:solidFill>
              <a:srgbClr val="EEF5F5"/>
            </a:solidFill>
            <a:prstDash val="solid"/>
          </a:ln>
        </p:spPr>
      </p:sp>
      <p:sp>
        <p:nvSpPr>
          <p:cNvPr id="15" name="Shape 13"/>
          <p:cNvSpPr/>
          <p:nvPr/>
        </p:nvSpPr>
        <p:spPr>
          <a:xfrm>
            <a:off x="777240" y="2880360"/>
            <a:ext cx="502920" cy="502920"/>
          </a:xfrm>
          <a:prstGeom prst="ellipse">
            <a:avLst/>
          </a:prstGeom>
          <a:solidFill>
            <a:srgbClr val="1B8A8F"/>
          </a:solidFill>
          <a:ln w="12700">
            <a:solidFill>
              <a:srgbClr val="1B8A8F"/>
            </a:solidFill>
            <a:prstDash val="solid"/>
          </a:ln>
        </p:spPr>
      </p:sp>
      <p:sp>
        <p:nvSpPr>
          <p:cNvPr id="16" name="Text 14"/>
          <p:cNvSpPr txBox="1"/>
          <p:nvPr/>
        </p:nvSpPr>
        <p:spPr>
          <a:xfrm>
            <a:off x="777240" y="28803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txBox="1"/>
          <p:nvPr/>
        </p:nvSpPr>
        <p:spPr>
          <a:xfrm>
            <a:off x="1508760" y="288036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Thiết kế quy trình và kiểm soát rò rỉ</a:t>
            </a:r>
            <a:endParaRPr lang="en-US" sz="1700" dirty="0"/>
          </a:p>
        </p:txBody>
      </p:sp>
      <p:sp>
        <p:nvSpPr>
          <p:cNvPr id="18" name="Shape 16"/>
          <p:cNvSpPr/>
          <p:nvPr/>
        </p:nvSpPr>
        <p:spPr>
          <a:xfrm>
            <a:off x="6126480" y="2697480"/>
            <a:ext cx="5303520" cy="868680"/>
          </a:xfrm>
          <a:prstGeom prst="roundRect">
            <a:avLst>
              <a:gd name="adj" fmla="val 12632"/>
            </a:avLst>
          </a:prstGeom>
          <a:solidFill>
            <a:srgbClr val="EEF5F5"/>
          </a:solidFill>
          <a:ln w="12700">
            <a:solidFill>
              <a:srgbClr val="EEF5F5"/>
            </a:solidFill>
            <a:prstDash val="solid"/>
          </a:ln>
        </p:spPr>
      </p:sp>
      <p:sp>
        <p:nvSpPr>
          <p:cNvPr id="19" name="Shape 17"/>
          <p:cNvSpPr/>
          <p:nvPr/>
        </p:nvSpPr>
        <p:spPr>
          <a:xfrm>
            <a:off x="6355080" y="2880360"/>
            <a:ext cx="502920" cy="502920"/>
          </a:xfrm>
          <a:prstGeom prst="ellipse">
            <a:avLst/>
          </a:prstGeom>
          <a:solidFill>
            <a:srgbClr val="1B8A8F"/>
          </a:solidFill>
          <a:ln w="12700">
            <a:solidFill>
              <a:srgbClr val="1B8A8F"/>
            </a:solidFill>
            <a:prstDash val="solid"/>
          </a:ln>
        </p:spPr>
      </p:sp>
      <p:sp>
        <p:nvSpPr>
          <p:cNvPr id="20" name="Text 18"/>
          <p:cNvSpPr txBox="1"/>
          <p:nvPr/>
        </p:nvSpPr>
        <p:spPr>
          <a:xfrm>
            <a:off x="6355080" y="288036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1" name="Text 19"/>
          <p:cNvSpPr txBox="1"/>
          <p:nvPr/>
        </p:nvSpPr>
        <p:spPr>
          <a:xfrm>
            <a:off x="7086600" y="288036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Kết quả dự báo điểm</a:t>
            </a:r>
            <a:endParaRPr lang="en-US" sz="1700" dirty="0"/>
          </a:p>
        </p:txBody>
      </p:sp>
      <p:sp>
        <p:nvSpPr>
          <p:cNvPr id="22" name="Shape 20"/>
          <p:cNvSpPr/>
          <p:nvPr/>
        </p:nvSpPr>
        <p:spPr>
          <a:xfrm>
            <a:off x="548640" y="3794760"/>
            <a:ext cx="5303520" cy="868680"/>
          </a:xfrm>
          <a:prstGeom prst="roundRect">
            <a:avLst>
              <a:gd name="adj" fmla="val 12632"/>
            </a:avLst>
          </a:prstGeom>
          <a:solidFill>
            <a:srgbClr val="EEF5F5"/>
          </a:solidFill>
          <a:ln w="12700">
            <a:solidFill>
              <a:srgbClr val="EEF5F5"/>
            </a:solidFill>
            <a:prstDash val="solid"/>
          </a:ln>
        </p:spPr>
      </p:sp>
      <p:sp>
        <p:nvSpPr>
          <p:cNvPr id="23" name="Shape 21"/>
          <p:cNvSpPr/>
          <p:nvPr/>
        </p:nvSpPr>
        <p:spPr>
          <a:xfrm>
            <a:off x="777240" y="3977640"/>
            <a:ext cx="502920" cy="502920"/>
          </a:xfrm>
          <a:prstGeom prst="ellipse">
            <a:avLst/>
          </a:prstGeom>
          <a:solidFill>
            <a:srgbClr val="12505F"/>
          </a:solidFill>
          <a:ln w="12700">
            <a:solidFill>
              <a:srgbClr val="12505F"/>
            </a:solidFill>
            <a:prstDash val="solid"/>
          </a:ln>
        </p:spPr>
      </p:sp>
      <p:sp>
        <p:nvSpPr>
          <p:cNvPr id="24" name="Text 22"/>
          <p:cNvSpPr txBox="1"/>
          <p:nvPr/>
        </p:nvSpPr>
        <p:spPr>
          <a:xfrm>
            <a:off x="777240" y="3977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5" name="Text 23"/>
          <p:cNvSpPr txBox="1"/>
          <p:nvPr/>
        </p:nvSpPr>
        <p:spPr>
          <a:xfrm>
            <a:off x="1508760" y="397764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Dự báo xác suất P10/P50/P90</a:t>
            </a:r>
            <a:endParaRPr lang="en-US" sz="1700" dirty="0"/>
          </a:p>
        </p:txBody>
      </p:sp>
      <p:sp>
        <p:nvSpPr>
          <p:cNvPr id="26" name="Shape 24"/>
          <p:cNvSpPr/>
          <p:nvPr/>
        </p:nvSpPr>
        <p:spPr>
          <a:xfrm>
            <a:off x="6126480" y="3794760"/>
            <a:ext cx="5303520" cy="868680"/>
          </a:xfrm>
          <a:prstGeom prst="roundRect">
            <a:avLst>
              <a:gd name="adj" fmla="val 12632"/>
            </a:avLst>
          </a:prstGeom>
          <a:solidFill>
            <a:srgbClr val="EEF5F5"/>
          </a:solidFill>
          <a:ln w="12700">
            <a:solidFill>
              <a:srgbClr val="EEF5F5"/>
            </a:solidFill>
            <a:prstDash val="solid"/>
          </a:ln>
        </p:spPr>
      </p:sp>
      <p:sp>
        <p:nvSpPr>
          <p:cNvPr id="27" name="Shape 25"/>
          <p:cNvSpPr/>
          <p:nvPr/>
        </p:nvSpPr>
        <p:spPr>
          <a:xfrm>
            <a:off x="6355080" y="3977640"/>
            <a:ext cx="502920" cy="502920"/>
          </a:xfrm>
          <a:prstGeom prst="ellipse">
            <a:avLst/>
          </a:prstGeom>
          <a:solidFill>
            <a:srgbClr val="12505F"/>
          </a:solidFill>
          <a:ln w="12700">
            <a:solidFill>
              <a:srgbClr val="12505F"/>
            </a:solidFill>
            <a:prstDash val="solid"/>
          </a:ln>
        </p:spPr>
      </p:sp>
      <p:sp>
        <p:nvSpPr>
          <p:cNvPr id="28" name="Text 26"/>
          <p:cNvSpPr txBox="1"/>
          <p:nvPr/>
        </p:nvSpPr>
        <p:spPr>
          <a:xfrm>
            <a:off x="6355080" y="39776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9" name="Text 27"/>
          <p:cNvSpPr txBox="1"/>
          <p:nvPr/>
        </p:nvSpPr>
        <p:spPr>
          <a:xfrm>
            <a:off x="7086600" y="397764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Khuyến mãi, tồn kho và hỗ trợ quyết định</a:t>
            </a:r>
            <a:endParaRPr lang="en-US" sz="1700" dirty="0"/>
          </a:p>
        </p:txBody>
      </p:sp>
      <p:sp>
        <p:nvSpPr>
          <p:cNvPr id="30" name="Shape 28"/>
          <p:cNvSpPr/>
          <p:nvPr/>
        </p:nvSpPr>
        <p:spPr>
          <a:xfrm>
            <a:off x="548640" y="4892040"/>
            <a:ext cx="5303520" cy="868680"/>
          </a:xfrm>
          <a:prstGeom prst="roundRect">
            <a:avLst>
              <a:gd name="adj" fmla="val 12632"/>
            </a:avLst>
          </a:prstGeom>
          <a:solidFill>
            <a:srgbClr val="EEF5F5"/>
          </a:solidFill>
          <a:ln w="12700">
            <a:solidFill>
              <a:srgbClr val="EEF5F5"/>
            </a:solidFill>
            <a:prstDash val="solid"/>
          </a:ln>
        </p:spPr>
      </p:sp>
      <p:sp>
        <p:nvSpPr>
          <p:cNvPr id="31" name="Shape 29"/>
          <p:cNvSpPr/>
          <p:nvPr/>
        </p:nvSpPr>
        <p:spPr>
          <a:xfrm>
            <a:off x="777240" y="5074920"/>
            <a:ext cx="502920" cy="502920"/>
          </a:xfrm>
          <a:prstGeom prst="ellipse">
            <a:avLst/>
          </a:prstGeom>
          <a:solidFill>
            <a:srgbClr val="12505F"/>
          </a:solidFill>
          <a:ln w="12700">
            <a:solidFill>
              <a:srgbClr val="12505F"/>
            </a:solidFill>
            <a:prstDash val="solid"/>
          </a:ln>
        </p:spPr>
      </p:sp>
      <p:sp>
        <p:nvSpPr>
          <p:cNvPr id="32" name="Text 30"/>
          <p:cNvSpPr txBox="1"/>
          <p:nvPr/>
        </p:nvSpPr>
        <p:spPr>
          <a:xfrm>
            <a:off x="777240" y="50749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3" name="Text 31"/>
          <p:cNvSpPr txBox="1"/>
          <p:nvPr/>
        </p:nvSpPr>
        <p:spPr>
          <a:xfrm>
            <a:off x="1508760" y="507492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Dashboard và mẫu ra quyết định</a:t>
            </a:r>
            <a:endParaRPr lang="en-US" sz="1700" dirty="0"/>
          </a:p>
        </p:txBody>
      </p:sp>
      <p:sp>
        <p:nvSpPr>
          <p:cNvPr id="34" name="Shape 32"/>
          <p:cNvSpPr/>
          <p:nvPr/>
        </p:nvSpPr>
        <p:spPr>
          <a:xfrm>
            <a:off x="6126480" y="4892040"/>
            <a:ext cx="5303520" cy="868680"/>
          </a:xfrm>
          <a:prstGeom prst="roundRect">
            <a:avLst>
              <a:gd name="adj" fmla="val 12632"/>
            </a:avLst>
          </a:prstGeom>
          <a:solidFill>
            <a:srgbClr val="EEF5F5"/>
          </a:solidFill>
          <a:ln w="12700">
            <a:solidFill>
              <a:srgbClr val="EEF5F5"/>
            </a:solidFill>
            <a:prstDash val="solid"/>
          </a:ln>
        </p:spPr>
      </p:sp>
      <p:sp>
        <p:nvSpPr>
          <p:cNvPr id="35" name="Shape 33"/>
          <p:cNvSpPr/>
          <p:nvPr/>
        </p:nvSpPr>
        <p:spPr>
          <a:xfrm>
            <a:off x="6355080" y="5074920"/>
            <a:ext cx="502920" cy="502920"/>
          </a:xfrm>
          <a:prstGeom prst="ellipse">
            <a:avLst/>
          </a:prstGeom>
          <a:solidFill>
            <a:srgbClr val="12505F"/>
          </a:solidFill>
          <a:ln w="12700">
            <a:solidFill>
              <a:srgbClr val="12505F"/>
            </a:solidFill>
            <a:prstDash val="solid"/>
          </a:ln>
        </p:spPr>
      </p:sp>
      <p:sp>
        <p:nvSpPr>
          <p:cNvPr id="36" name="Text 34"/>
          <p:cNvSpPr txBox="1"/>
          <p:nvPr/>
        </p:nvSpPr>
        <p:spPr>
          <a:xfrm>
            <a:off x="6355080" y="50749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37" name="Text 35"/>
          <p:cNvSpPr txBox="1"/>
          <p:nvPr/>
        </p:nvSpPr>
        <p:spPr>
          <a:xfrm>
            <a:off x="7086600" y="5074920"/>
            <a:ext cx="4206240" cy="502920"/>
          </a:xfrm>
          <a:prstGeom prst="rect">
            <a:avLst/>
          </a:prstGeom>
          <a:noFill/>
          <a:ln/>
        </p:spPr>
        <p:txBody>
          <a:bodyPr wrap="square" lIns="0" tIns="0" rIns="0" bIns="0" rtlCol="0" anchor="ctr"/>
          <a:lstStyle/>
          <a:p>
            <a:pPr indent="0" marL="0">
              <a:buNone/>
            </a:pPr>
            <a:r>
              <a:rPr lang="en-US" sz="1700" b="1" dirty="0">
                <a:solidFill>
                  <a:srgbClr val="0E2A33"/>
                </a:solidFill>
                <a:latin typeface="Calibri" pitchFamily="34" charset="0"/>
                <a:ea typeface="Calibri" pitchFamily="34" charset="-122"/>
                <a:cs typeface="Calibri" pitchFamily="34" charset="-120"/>
              </a:rPr>
              <a:t>Trả lời câu hỏi, hạn chế và kết luận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01</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Bối cảnh và câu hỏi nghiên cứu</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Vì sao một con số dự báo là chưa đủ cho quyết định bán lẻ</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BỐI CẢNH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Từ dự báo điểm đến quyết định có kiểm soát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45920"/>
            <a:ext cx="3520440" cy="3063240"/>
          </a:xfrm>
          <a:prstGeom prst="roundRect">
            <a:avLst>
              <a:gd name="adj" fmla="val 3582"/>
            </a:avLst>
          </a:prstGeom>
          <a:solidFill>
            <a:srgbClr val="EEF5F5"/>
          </a:solidFill>
          <a:ln w="12700">
            <a:solidFill>
              <a:srgbClr val="EEF5F5"/>
            </a:solidFill>
            <a:prstDash val="solid"/>
          </a:ln>
        </p:spPr>
      </p:sp>
      <p:sp>
        <p:nvSpPr>
          <p:cNvPr id="7" name="Shape 5"/>
          <p:cNvSpPr/>
          <p:nvPr/>
        </p:nvSpPr>
        <p:spPr>
          <a:xfrm>
            <a:off x="822960" y="1874520"/>
            <a:ext cx="457200" cy="457200"/>
          </a:xfrm>
          <a:prstGeom prst="ellipse">
            <a:avLst/>
          </a:prstGeom>
          <a:solidFill>
            <a:srgbClr val="1B8A8F"/>
          </a:solidFill>
          <a:ln w="12700">
            <a:solidFill>
              <a:srgbClr val="1B8A8F"/>
            </a:solidFill>
            <a:prstDash val="solid"/>
          </a:ln>
        </p:spPr>
      </p:sp>
      <p:sp>
        <p:nvSpPr>
          <p:cNvPr id="8" name="Text 6"/>
          <p:cNvSpPr txBox="1"/>
          <p:nvPr/>
        </p:nvSpPr>
        <p:spPr>
          <a:xfrm>
            <a:off x="82296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17320" y="1920240"/>
            <a:ext cx="2560320" cy="411480"/>
          </a:xfrm>
          <a:prstGeom prst="rect">
            <a:avLst/>
          </a:prstGeom>
          <a:noFill/>
          <a:ln/>
        </p:spPr>
        <p:txBody>
          <a:bodyPr wrap="square" lIns="0" tIns="0" rIns="0" bIns="0" rtlCol="0" anchor="t"/>
          <a:lstStyle/>
          <a:p>
            <a:pPr indent="0" marL="0">
              <a:buNone/>
            </a:pPr>
            <a:r>
              <a:rPr lang="en-US" sz="1800" b="1" dirty="0">
                <a:solidFill>
                  <a:srgbClr val="1B8A8F"/>
                </a:solidFill>
                <a:latin typeface="Calibri" pitchFamily="34" charset="0"/>
                <a:ea typeface="Calibri" pitchFamily="34" charset="-122"/>
                <a:cs typeface="Calibri" pitchFamily="34" charset="-120"/>
              </a:rPr>
              <a:t>Nhà bán lẻ cần gì?</a:t>
            </a:r>
            <a:endParaRPr lang="en-US" sz="1800" dirty="0"/>
          </a:p>
        </p:txBody>
      </p:sp>
      <p:sp>
        <p:nvSpPr>
          <p:cNvPr id="10" name="Text 8"/>
          <p:cNvSpPr txBox="1"/>
          <p:nvPr/>
        </p:nvSpPr>
        <p:spPr>
          <a:xfrm>
            <a:off x="822960" y="2606040"/>
            <a:ext cx="301752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Đặt hàng cho hàng nghìn chuỗi cửa hàng × nhóm hàng mỗi kỳ</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Biết mức bất định để cân bằng thiếu hàng và tồn dư</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Hiểu tác động có điều kiện của khuyến mãi</a:t>
            </a:r>
            <a:endParaRPr lang="en-US" sz="1500" dirty="0"/>
          </a:p>
        </p:txBody>
      </p:sp>
      <p:sp>
        <p:nvSpPr>
          <p:cNvPr id="11" name="Shape 9"/>
          <p:cNvSpPr/>
          <p:nvPr/>
        </p:nvSpPr>
        <p:spPr>
          <a:xfrm>
            <a:off x="4297680" y="1645920"/>
            <a:ext cx="3520440" cy="3063240"/>
          </a:xfrm>
          <a:prstGeom prst="roundRect">
            <a:avLst>
              <a:gd name="adj" fmla="val 3582"/>
            </a:avLst>
          </a:prstGeom>
          <a:solidFill>
            <a:srgbClr val="EEF5F5"/>
          </a:solidFill>
          <a:ln w="12700">
            <a:solidFill>
              <a:srgbClr val="EEF5F5"/>
            </a:solidFill>
            <a:prstDash val="solid"/>
          </a:ln>
        </p:spPr>
      </p:sp>
      <p:sp>
        <p:nvSpPr>
          <p:cNvPr id="12" name="Shape 10"/>
          <p:cNvSpPr/>
          <p:nvPr/>
        </p:nvSpPr>
        <p:spPr>
          <a:xfrm>
            <a:off x="4572000" y="1874520"/>
            <a:ext cx="457200" cy="457200"/>
          </a:xfrm>
          <a:prstGeom prst="ellipse">
            <a:avLst/>
          </a:prstGeom>
          <a:solidFill>
            <a:srgbClr val="D05A4E"/>
          </a:solidFill>
          <a:ln w="12700">
            <a:solidFill>
              <a:srgbClr val="D05A4E"/>
            </a:solidFill>
            <a:prstDash val="solid"/>
          </a:ln>
        </p:spPr>
      </p:sp>
      <p:sp>
        <p:nvSpPr>
          <p:cNvPr id="13" name="Text 11"/>
          <p:cNvSpPr txBox="1"/>
          <p:nvPr/>
        </p:nvSpPr>
        <p:spPr>
          <a:xfrm>
            <a:off x="457200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166360" y="1920240"/>
            <a:ext cx="2560320" cy="411480"/>
          </a:xfrm>
          <a:prstGeom prst="rect">
            <a:avLst/>
          </a:prstGeom>
          <a:noFill/>
          <a:ln/>
        </p:spPr>
        <p:txBody>
          <a:bodyPr wrap="square" lIns="0" tIns="0" rIns="0" bIns="0" rtlCol="0" anchor="t"/>
          <a:lstStyle/>
          <a:p>
            <a:pPr indent="0" marL="0">
              <a:buNone/>
            </a:pPr>
            <a:r>
              <a:rPr lang="en-US" sz="1800" b="1" dirty="0">
                <a:solidFill>
                  <a:srgbClr val="D05A4E"/>
                </a:solidFill>
                <a:latin typeface="Calibri" pitchFamily="34" charset="0"/>
                <a:ea typeface="Calibri" pitchFamily="34" charset="-122"/>
                <a:cs typeface="Calibri" pitchFamily="34" charset="-120"/>
              </a:rPr>
              <a:t>Khoảng trống</a:t>
            </a:r>
            <a:endParaRPr lang="en-US" sz="1800" dirty="0"/>
          </a:p>
        </p:txBody>
      </p:sp>
      <p:sp>
        <p:nvSpPr>
          <p:cNvPr id="15" name="Text 13"/>
          <p:cNvSpPr txBox="1"/>
          <p:nvPr/>
        </p:nvSpPr>
        <p:spPr>
          <a:xfrm>
            <a:off x="4572000" y="2606040"/>
            <a:ext cx="301752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Nhiều nghiên cứu dừng ở độ chính xác dự báo điểm</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Khoảng dự báo ít khi được đánh giá theo từng nhóm quy mô</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GenAI dễ tạo số liệu không có căn cứ nếu không kiểm soát</a:t>
            </a:r>
            <a:endParaRPr lang="en-US" sz="1500" dirty="0"/>
          </a:p>
        </p:txBody>
      </p:sp>
      <p:sp>
        <p:nvSpPr>
          <p:cNvPr id="16" name="Shape 14"/>
          <p:cNvSpPr/>
          <p:nvPr/>
        </p:nvSpPr>
        <p:spPr>
          <a:xfrm>
            <a:off x="8046720" y="1645920"/>
            <a:ext cx="3520440" cy="3063240"/>
          </a:xfrm>
          <a:prstGeom prst="roundRect">
            <a:avLst>
              <a:gd name="adj" fmla="val 3582"/>
            </a:avLst>
          </a:prstGeom>
          <a:solidFill>
            <a:srgbClr val="EEF5F5"/>
          </a:solidFill>
          <a:ln w="12700">
            <a:solidFill>
              <a:srgbClr val="EEF5F5"/>
            </a:solidFill>
            <a:prstDash val="solid"/>
          </a:ln>
        </p:spPr>
      </p:sp>
      <p:sp>
        <p:nvSpPr>
          <p:cNvPr id="17" name="Shape 15"/>
          <p:cNvSpPr/>
          <p:nvPr/>
        </p:nvSpPr>
        <p:spPr>
          <a:xfrm>
            <a:off x="8321040" y="1874520"/>
            <a:ext cx="457200" cy="457200"/>
          </a:xfrm>
          <a:prstGeom prst="ellipse">
            <a:avLst/>
          </a:prstGeom>
          <a:solidFill>
            <a:srgbClr val="12505F"/>
          </a:solidFill>
          <a:ln w="12700">
            <a:solidFill>
              <a:srgbClr val="12505F"/>
            </a:solidFill>
            <a:prstDash val="solid"/>
          </a:ln>
        </p:spPr>
      </p:sp>
      <p:sp>
        <p:nvSpPr>
          <p:cNvPr id="18" name="Text 16"/>
          <p:cNvSpPr txBox="1"/>
          <p:nvPr/>
        </p:nvSpPr>
        <p:spPr>
          <a:xfrm>
            <a:off x="832104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915400" y="1920240"/>
            <a:ext cx="2560320" cy="41148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Hướng tiếp cận</a:t>
            </a:r>
            <a:endParaRPr lang="en-US" sz="1800" dirty="0"/>
          </a:p>
        </p:txBody>
      </p:sp>
      <p:sp>
        <p:nvSpPr>
          <p:cNvPr id="20" name="Text 18"/>
          <p:cNvSpPr txBox="1"/>
          <p:nvPr/>
        </p:nvSpPr>
        <p:spPr>
          <a:xfrm>
            <a:off x="8321040" y="2606040"/>
            <a:ext cx="301752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Pipeline khép kín: dữ liệu → dự báo → bất định → quyết định</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Mọi con số trong khuyến nghị lấy từ kết quả mô hình</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Con người phê duyệt, có nhật ký kiểm toán (HITL)</a:t>
            </a:r>
            <a:endParaRPr lang="en-US" sz="1500" dirty="0"/>
          </a:p>
        </p:txBody>
      </p:sp>
      <p:sp>
        <p:nvSpPr>
          <p:cNvPr id="21" name="Shape 19"/>
          <p:cNvSpPr/>
          <p:nvPr/>
        </p:nvSpPr>
        <p:spPr>
          <a:xfrm>
            <a:off x="548640" y="4983480"/>
            <a:ext cx="11094415" cy="960120"/>
          </a:xfrm>
          <a:prstGeom prst="roundRect">
            <a:avLst>
              <a:gd name="adj" fmla="val 11429"/>
            </a:avLst>
          </a:prstGeom>
          <a:solidFill>
            <a:srgbClr val="0E2A33"/>
          </a:solidFill>
          <a:ln w="12700">
            <a:solidFill>
              <a:srgbClr val="0E2A33"/>
            </a:solidFill>
            <a:prstDash val="solid"/>
          </a:ln>
        </p:spPr>
      </p:sp>
      <p:sp>
        <p:nvSpPr>
          <p:cNvPr id="22" name="Text 20"/>
          <p:cNvSpPr txBox="1"/>
          <p:nvPr/>
        </p:nvSpPr>
        <p:spPr>
          <a:xfrm>
            <a:off x="868680" y="4983480"/>
            <a:ext cx="10454335" cy="9601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Câu hỏi trung tâm: chuyển dự báo thành quyết định có căn cứ, định lượng được bất định và do con người kiểm soát.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CÂU HỎI NGHIÊN CỨU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Năm câu hỏi – mức chắc chắn giảm dần khi tiến gần quyết định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554480"/>
            <a:ext cx="11094415" cy="749808"/>
          </a:xfrm>
          <a:prstGeom prst="roundRect">
            <a:avLst>
              <a:gd name="adj" fmla="val 14634"/>
            </a:avLst>
          </a:prstGeom>
          <a:solidFill>
            <a:srgbClr val="EEF5F5"/>
          </a:solidFill>
          <a:ln w="12700">
            <a:solidFill>
              <a:srgbClr val="EEF5F5"/>
            </a:solidFill>
            <a:prstDash val="solid"/>
          </a:ln>
        </p:spPr>
      </p:sp>
      <p:sp>
        <p:nvSpPr>
          <p:cNvPr id="7" name="Shape 5"/>
          <p:cNvSpPr/>
          <p:nvPr/>
        </p:nvSpPr>
        <p:spPr>
          <a:xfrm>
            <a:off x="731520" y="1673352"/>
            <a:ext cx="512064" cy="512064"/>
          </a:xfrm>
          <a:prstGeom prst="ellipse">
            <a:avLst/>
          </a:prstGeom>
          <a:solidFill>
            <a:srgbClr val="1B8A8F"/>
          </a:solidFill>
          <a:ln w="12700">
            <a:solidFill>
              <a:srgbClr val="1B8A8F"/>
            </a:solidFill>
            <a:prstDash val="solid"/>
          </a:ln>
        </p:spPr>
      </p:sp>
      <p:sp>
        <p:nvSpPr>
          <p:cNvPr id="8" name="Text 6"/>
          <p:cNvSpPr txBox="1"/>
          <p:nvPr/>
        </p:nvSpPr>
        <p:spPr>
          <a:xfrm>
            <a:off x="731520" y="16733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RQ1</a:t>
            </a:r>
            <a:endParaRPr lang="en-US" sz="1400" dirty="0"/>
          </a:p>
        </p:txBody>
      </p:sp>
      <p:sp>
        <p:nvSpPr>
          <p:cNvPr id="9" name="Text 7"/>
          <p:cNvSpPr txBox="1"/>
          <p:nvPr/>
        </p:nvSpPr>
        <p:spPr>
          <a:xfrm>
            <a:off x="1463040" y="1645920"/>
            <a:ext cx="9997135" cy="566928"/>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Dữ liệu Favorita có đặc điểm gì về quy mô, xu hướng, mùa vụ, tỷ lệ doanh số bằng 0 và khuyến mãi ảnh hưởng đến thiết kế dự báo?</a:t>
            </a:r>
            <a:endParaRPr lang="en-US" sz="1500" dirty="0"/>
          </a:p>
        </p:txBody>
      </p:sp>
      <p:sp>
        <p:nvSpPr>
          <p:cNvPr id="10" name="Shape 8"/>
          <p:cNvSpPr/>
          <p:nvPr/>
        </p:nvSpPr>
        <p:spPr>
          <a:xfrm>
            <a:off x="548640" y="2450592"/>
            <a:ext cx="11094415" cy="749808"/>
          </a:xfrm>
          <a:prstGeom prst="roundRect">
            <a:avLst>
              <a:gd name="adj" fmla="val 14634"/>
            </a:avLst>
          </a:prstGeom>
          <a:solidFill>
            <a:srgbClr val="EEF5F5"/>
          </a:solidFill>
          <a:ln w="12700">
            <a:solidFill>
              <a:srgbClr val="EEF5F5"/>
            </a:solidFill>
            <a:prstDash val="solid"/>
          </a:ln>
        </p:spPr>
      </p:sp>
      <p:sp>
        <p:nvSpPr>
          <p:cNvPr id="11" name="Shape 9"/>
          <p:cNvSpPr/>
          <p:nvPr/>
        </p:nvSpPr>
        <p:spPr>
          <a:xfrm>
            <a:off x="731520" y="2569464"/>
            <a:ext cx="512064" cy="512064"/>
          </a:xfrm>
          <a:prstGeom prst="ellipse">
            <a:avLst/>
          </a:prstGeom>
          <a:solidFill>
            <a:srgbClr val="1B8A8F"/>
          </a:solidFill>
          <a:ln w="12700">
            <a:solidFill>
              <a:srgbClr val="1B8A8F"/>
            </a:solidFill>
            <a:prstDash val="solid"/>
          </a:ln>
        </p:spPr>
      </p:sp>
      <p:sp>
        <p:nvSpPr>
          <p:cNvPr id="12" name="Text 10"/>
          <p:cNvSpPr txBox="1"/>
          <p:nvPr/>
        </p:nvSpPr>
        <p:spPr>
          <a:xfrm>
            <a:off x="731520" y="256946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RQ2</a:t>
            </a:r>
            <a:endParaRPr lang="en-US" sz="1400" dirty="0"/>
          </a:p>
        </p:txBody>
      </p:sp>
      <p:sp>
        <p:nvSpPr>
          <p:cNvPr id="13" name="Text 11"/>
          <p:cNvSpPr txBox="1"/>
          <p:nvPr/>
        </p:nvSpPr>
        <p:spPr>
          <a:xfrm>
            <a:off x="1463040" y="2542032"/>
            <a:ext cx="9997135" cy="566928"/>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Trong 5 mô hình (Seasonal Naive, Ridge, Random Forest, XGBoost, LightGBM), mô hình nào hiệu quả và ổn định hơn theo kiểm định cuốn chiếu?</a:t>
            </a:r>
            <a:endParaRPr lang="en-US" sz="1500" dirty="0"/>
          </a:p>
        </p:txBody>
      </p:sp>
      <p:sp>
        <p:nvSpPr>
          <p:cNvPr id="14" name="Shape 12"/>
          <p:cNvSpPr/>
          <p:nvPr/>
        </p:nvSpPr>
        <p:spPr>
          <a:xfrm>
            <a:off x="548640" y="3346704"/>
            <a:ext cx="11094415" cy="749808"/>
          </a:xfrm>
          <a:prstGeom prst="roundRect">
            <a:avLst>
              <a:gd name="adj" fmla="val 14634"/>
            </a:avLst>
          </a:prstGeom>
          <a:solidFill>
            <a:srgbClr val="EEF5F5"/>
          </a:solidFill>
          <a:ln w="12700">
            <a:solidFill>
              <a:srgbClr val="EEF5F5"/>
            </a:solidFill>
            <a:prstDash val="solid"/>
          </a:ln>
        </p:spPr>
      </p:sp>
      <p:sp>
        <p:nvSpPr>
          <p:cNvPr id="15" name="Shape 13"/>
          <p:cNvSpPr/>
          <p:nvPr/>
        </p:nvSpPr>
        <p:spPr>
          <a:xfrm>
            <a:off x="731520" y="3465576"/>
            <a:ext cx="512064" cy="512064"/>
          </a:xfrm>
          <a:prstGeom prst="ellipse">
            <a:avLst/>
          </a:prstGeom>
          <a:solidFill>
            <a:srgbClr val="12505F"/>
          </a:solidFill>
          <a:ln w="12700">
            <a:solidFill>
              <a:srgbClr val="12505F"/>
            </a:solidFill>
            <a:prstDash val="solid"/>
          </a:ln>
        </p:spPr>
      </p:sp>
      <p:sp>
        <p:nvSpPr>
          <p:cNvPr id="16" name="Text 14"/>
          <p:cNvSpPr txBox="1"/>
          <p:nvPr/>
        </p:nvSpPr>
        <p:spPr>
          <a:xfrm>
            <a:off x="731520" y="346557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RQ3</a:t>
            </a:r>
            <a:endParaRPr lang="en-US" sz="1400" dirty="0"/>
          </a:p>
        </p:txBody>
      </p:sp>
      <p:sp>
        <p:nvSpPr>
          <p:cNvPr id="17" name="Text 15"/>
          <p:cNvSpPr txBox="1"/>
          <p:nvPr/>
        </p:nvSpPr>
        <p:spPr>
          <a:xfrm>
            <a:off x="1463040" y="3438144"/>
            <a:ext cx="9997135" cy="566928"/>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P10/P50/P90 mô tả bất định thế nào xét theo pinball loss, độ bao phủ và độ rộng khoảng?</a:t>
            </a:r>
            <a:endParaRPr lang="en-US" sz="1500" dirty="0"/>
          </a:p>
        </p:txBody>
      </p:sp>
      <p:sp>
        <p:nvSpPr>
          <p:cNvPr id="18" name="Shape 16"/>
          <p:cNvSpPr/>
          <p:nvPr/>
        </p:nvSpPr>
        <p:spPr>
          <a:xfrm>
            <a:off x="548640" y="4242816"/>
            <a:ext cx="11094415" cy="749808"/>
          </a:xfrm>
          <a:prstGeom prst="roundRect">
            <a:avLst>
              <a:gd name="adj" fmla="val 14634"/>
            </a:avLst>
          </a:prstGeom>
          <a:solidFill>
            <a:srgbClr val="EEF5F5"/>
          </a:solidFill>
          <a:ln w="12700">
            <a:solidFill>
              <a:srgbClr val="EEF5F5"/>
            </a:solidFill>
            <a:prstDash val="solid"/>
          </a:ln>
        </p:spPr>
      </p:sp>
      <p:sp>
        <p:nvSpPr>
          <p:cNvPr id="19" name="Shape 17"/>
          <p:cNvSpPr/>
          <p:nvPr/>
        </p:nvSpPr>
        <p:spPr>
          <a:xfrm>
            <a:off x="731520" y="4361688"/>
            <a:ext cx="512064" cy="512064"/>
          </a:xfrm>
          <a:prstGeom prst="ellipse">
            <a:avLst/>
          </a:prstGeom>
          <a:solidFill>
            <a:srgbClr val="12505F"/>
          </a:solidFill>
          <a:ln w="12700">
            <a:solidFill>
              <a:srgbClr val="12505F"/>
            </a:solidFill>
            <a:prstDash val="solid"/>
          </a:ln>
        </p:spPr>
      </p:sp>
      <p:sp>
        <p:nvSpPr>
          <p:cNvPr id="20" name="Text 18"/>
          <p:cNvSpPr txBox="1"/>
          <p:nvPr/>
        </p:nvSpPr>
        <p:spPr>
          <a:xfrm>
            <a:off x="731520" y="436168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RQ4</a:t>
            </a:r>
            <a:endParaRPr lang="en-US" sz="1400" dirty="0"/>
          </a:p>
        </p:txBody>
      </p:sp>
      <p:sp>
        <p:nvSpPr>
          <p:cNvPr id="21" name="Text 19"/>
          <p:cNvSpPr txBox="1"/>
          <p:nvPr/>
        </p:nvSpPr>
        <p:spPr>
          <a:xfrm>
            <a:off x="1463040" y="4334256"/>
            <a:ext cx="9997135" cy="566928"/>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Dự báo và bất định chuyển thành kịch bản khuyến mãi và tín hiệu ưu tiên tồn kho ra sao khi thiếu dữ liệu vận hành?</a:t>
            </a:r>
            <a:endParaRPr lang="en-US" sz="1500" dirty="0"/>
          </a:p>
        </p:txBody>
      </p:sp>
      <p:sp>
        <p:nvSpPr>
          <p:cNvPr id="22" name="Shape 20"/>
          <p:cNvSpPr/>
          <p:nvPr/>
        </p:nvSpPr>
        <p:spPr>
          <a:xfrm>
            <a:off x="548640" y="5138928"/>
            <a:ext cx="11094415" cy="749808"/>
          </a:xfrm>
          <a:prstGeom prst="roundRect">
            <a:avLst>
              <a:gd name="adj" fmla="val 14634"/>
            </a:avLst>
          </a:prstGeom>
          <a:solidFill>
            <a:srgbClr val="EEF5F5"/>
          </a:solidFill>
          <a:ln w="12700">
            <a:solidFill>
              <a:srgbClr val="EEF5F5"/>
            </a:solidFill>
            <a:prstDash val="solid"/>
          </a:ln>
        </p:spPr>
      </p:sp>
      <p:sp>
        <p:nvSpPr>
          <p:cNvPr id="23" name="Shape 21"/>
          <p:cNvSpPr/>
          <p:nvPr/>
        </p:nvSpPr>
        <p:spPr>
          <a:xfrm>
            <a:off x="731520" y="5257800"/>
            <a:ext cx="512064" cy="512064"/>
          </a:xfrm>
          <a:prstGeom prst="ellipse">
            <a:avLst/>
          </a:prstGeom>
          <a:solidFill>
            <a:srgbClr val="E8A33D"/>
          </a:solidFill>
          <a:ln w="12700">
            <a:solidFill>
              <a:srgbClr val="E8A33D"/>
            </a:solidFill>
            <a:prstDash val="solid"/>
          </a:ln>
        </p:spPr>
      </p:sp>
      <p:sp>
        <p:nvSpPr>
          <p:cNvPr id="24" name="Text 22"/>
          <p:cNvSpPr txBox="1"/>
          <p:nvPr/>
        </p:nvSpPr>
        <p:spPr>
          <a:xfrm>
            <a:off x="731520" y="525780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RQ5</a:t>
            </a:r>
            <a:endParaRPr lang="en-US" sz="1400" dirty="0"/>
          </a:p>
        </p:txBody>
      </p:sp>
      <p:sp>
        <p:nvSpPr>
          <p:cNvPr id="25" name="Text 23"/>
          <p:cNvSpPr txBox="1"/>
          <p:nvPr/>
        </p:nvSpPr>
        <p:spPr>
          <a:xfrm>
            <a:off x="1463040" y="5230368"/>
            <a:ext cx="9997135" cy="566928"/>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Generative AI/RAG/HITL hỗ trợ diễn giải và kiểm duyệt quyết định thế nào mà không trở thành nguồn tạo số liệu mới?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ĐÓNG GÓP</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Bốn đóng góp chính của luận văn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00200"/>
            <a:ext cx="5349240" cy="2011680"/>
          </a:xfrm>
          <a:prstGeom prst="roundRect">
            <a:avLst>
              <a:gd name="adj" fmla="val 5455"/>
            </a:avLst>
          </a:prstGeom>
          <a:solidFill>
            <a:srgbClr val="EEF5F5"/>
          </a:solidFill>
          <a:ln w="12700">
            <a:solidFill>
              <a:srgbClr val="EEF5F5"/>
            </a:solidFill>
            <a:prstDash val="solid"/>
          </a:ln>
        </p:spPr>
      </p:sp>
      <p:sp>
        <p:nvSpPr>
          <p:cNvPr id="7" name="Text 5"/>
          <p:cNvSpPr txBox="1"/>
          <p:nvPr/>
        </p:nvSpPr>
        <p:spPr>
          <a:xfrm>
            <a:off x="822960" y="1828800"/>
            <a:ext cx="914400" cy="548640"/>
          </a:xfrm>
          <a:prstGeom prst="rect">
            <a:avLst/>
          </a:prstGeom>
          <a:noFill/>
          <a:ln/>
        </p:spPr>
        <p:txBody>
          <a:bodyPr wrap="square" lIns="0" tIns="0" rIns="0" bIns="0" rtlCol="0" anchor="t"/>
          <a:lstStyle/>
          <a:p>
            <a:pPr indent="0" marL="0">
              <a:buNone/>
            </a:pPr>
            <a:r>
              <a:rPr lang="en-US" sz="3000" b="1" dirty="0">
                <a:solidFill>
                  <a:srgbClr val="1B8A8F"/>
                </a:solidFill>
                <a:latin typeface="Cambria" pitchFamily="34" charset="0"/>
                <a:ea typeface="Cambria" pitchFamily="34" charset="-122"/>
                <a:cs typeface="Cambria" pitchFamily="34" charset="-120"/>
              </a:rPr>
              <a:t>01</a:t>
            </a:r>
            <a:endParaRPr lang="en-US" sz="3000" dirty="0"/>
          </a:p>
        </p:txBody>
      </p:sp>
      <p:sp>
        <p:nvSpPr>
          <p:cNvPr id="8" name="Text 6"/>
          <p:cNvSpPr txBox="1"/>
          <p:nvPr/>
        </p:nvSpPr>
        <p:spPr>
          <a:xfrm>
            <a:off x="1691640" y="1901952"/>
            <a:ext cx="4023360" cy="411480"/>
          </a:xfrm>
          <a:prstGeom prst="rect">
            <a:avLst/>
          </a:prstGeom>
          <a:noFill/>
          <a:ln/>
        </p:spPr>
        <p:txBody>
          <a:bodyPr wrap="square" lIns="0" tIns="0" rIns="0" bIns="0" rtlCol="0" anchor="t"/>
          <a:lstStyle/>
          <a:p>
            <a:pPr indent="0" marL="0">
              <a:buNone/>
            </a:pPr>
            <a:r>
              <a:rPr lang="en-US" sz="1900" b="1" dirty="0">
                <a:solidFill>
                  <a:srgbClr val="0E2A33"/>
                </a:solidFill>
                <a:latin typeface="Calibri" pitchFamily="34" charset="0"/>
                <a:ea typeface="Calibri" pitchFamily="34" charset="-122"/>
                <a:cs typeface="Calibri" pitchFamily="34" charset="-120"/>
              </a:rPr>
              <a:t>Quy trình khép kín, tái lập được</a:t>
            </a:r>
            <a:endParaRPr lang="en-US" sz="1900" dirty="0"/>
          </a:p>
        </p:txBody>
      </p:sp>
      <p:sp>
        <p:nvSpPr>
          <p:cNvPr id="9" name="Text 7"/>
          <p:cNvSpPr txBox="1"/>
          <p:nvPr/>
        </p:nvSpPr>
        <p:spPr>
          <a:xfrm>
            <a:off x="1691640" y="2377440"/>
            <a:ext cx="4023360" cy="114300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Dữ liệu → dự báo điểm → P10/P50/P90 → kịch bản → tồn kho → phiếu khuyến nghị; toàn bộ kết quả sinh lại bằng một lệnh chạy từ train.csv.</a:t>
            </a:r>
            <a:endParaRPr lang="en-US" sz="1400" dirty="0"/>
          </a:p>
        </p:txBody>
      </p:sp>
      <p:sp>
        <p:nvSpPr>
          <p:cNvPr id="10" name="Shape 8"/>
          <p:cNvSpPr/>
          <p:nvPr/>
        </p:nvSpPr>
        <p:spPr>
          <a:xfrm>
            <a:off x="6126480" y="1600200"/>
            <a:ext cx="5349240" cy="2011680"/>
          </a:xfrm>
          <a:prstGeom prst="roundRect">
            <a:avLst>
              <a:gd name="adj" fmla="val 5455"/>
            </a:avLst>
          </a:prstGeom>
          <a:solidFill>
            <a:srgbClr val="EEF5F5"/>
          </a:solidFill>
          <a:ln w="12700">
            <a:solidFill>
              <a:srgbClr val="EEF5F5"/>
            </a:solidFill>
            <a:prstDash val="solid"/>
          </a:ln>
        </p:spPr>
      </p:sp>
      <p:sp>
        <p:nvSpPr>
          <p:cNvPr id="11" name="Text 9"/>
          <p:cNvSpPr txBox="1"/>
          <p:nvPr/>
        </p:nvSpPr>
        <p:spPr>
          <a:xfrm>
            <a:off x="6400800" y="1828800"/>
            <a:ext cx="914400" cy="548640"/>
          </a:xfrm>
          <a:prstGeom prst="rect">
            <a:avLst/>
          </a:prstGeom>
          <a:noFill/>
          <a:ln/>
        </p:spPr>
        <p:txBody>
          <a:bodyPr wrap="square" lIns="0" tIns="0" rIns="0" bIns="0" rtlCol="0" anchor="t"/>
          <a:lstStyle/>
          <a:p>
            <a:pPr indent="0" marL="0">
              <a:buNone/>
            </a:pPr>
            <a:r>
              <a:rPr lang="en-US" sz="3000" b="1" dirty="0">
                <a:solidFill>
                  <a:srgbClr val="1B8A8F"/>
                </a:solidFill>
                <a:latin typeface="Cambria" pitchFamily="34" charset="0"/>
                <a:ea typeface="Cambria" pitchFamily="34" charset="-122"/>
                <a:cs typeface="Cambria" pitchFamily="34" charset="-120"/>
              </a:rPr>
              <a:t>02</a:t>
            </a:r>
            <a:endParaRPr lang="en-US" sz="3000" dirty="0"/>
          </a:p>
        </p:txBody>
      </p:sp>
      <p:sp>
        <p:nvSpPr>
          <p:cNvPr id="12" name="Text 10"/>
          <p:cNvSpPr txBox="1"/>
          <p:nvPr/>
        </p:nvSpPr>
        <p:spPr>
          <a:xfrm>
            <a:off x="7269480" y="1901952"/>
            <a:ext cx="4023360" cy="411480"/>
          </a:xfrm>
          <a:prstGeom prst="rect">
            <a:avLst/>
          </a:prstGeom>
          <a:noFill/>
          <a:ln/>
        </p:spPr>
        <p:txBody>
          <a:bodyPr wrap="square" lIns="0" tIns="0" rIns="0" bIns="0" rtlCol="0" anchor="t"/>
          <a:lstStyle/>
          <a:p>
            <a:pPr indent="0" marL="0">
              <a:buNone/>
            </a:pPr>
            <a:r>
              <a:rPr lang="en-US" sz="1900" b="1" dirty="0">
                <a:solidFill>
                  <a:srgbClr val="0E2A33"/>
                </a:solidFill>
                <a:latin typeface="Calibri" pitchFamily="34" charset="0"/>
                <a:ea typeface="Calibri" pitchFamily="34" charset="-122"/>
                <a:cs typeface="Calibri" pitchFamily="34" charset="-120"/>
              </a:rPr>
              <a:t>Thiết kế chống rò rỉ</a:t>
            </a:r>
            <a:endParaRPr lang="en-US" sz="1900" dirty="0"/>
          </a:p>
        </p:txBody>
      </p:sp>
      <p:sp>
        <p:nvSpPr>
          <p:cNvPr id="13" name="Text 11"/>
          <p:cNvSpPr txBox="1"/>
          <p:nvPr/>
        </p:nvSpPr>
        <p:spPr>
          <a:xfrm>
            <a:off x="7269480" y="2377440"/>
            <a:ext cx="4023360" cy="114300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Đặc trưng theo ngày lịch cho kỳ dự báo trực tiếp 16 ngày; Seasonal Naive cố định gốc dự báo; so sánh 5 mô hình cùng điều kiện dữ liệu.</a:t>
            </a:r>
            <a:endParaRPr lang="en-US" sz="1400" dirty="0"/>
          </a:p>
        </p:txBody>
      </p:sp>
      <p:sp>
        <p:nvSpPr>
          <p:cNvPr id="14" name="Shape 12"/>
          <p:cNvSpPr/>
          <p:nvPr/>
        </p:nvSpPr>
        <p:spPr>
          <a:xfrm>
            <a:off x="548640" y="3840480"/>
            <a:ext cx="5349240" cy="2011680"/>
          </a:xfrm>
          <a:prstGeom prst="roundRect">
            <a:avLst>
              <a:gd name="adj" fmla="val 5455"/>
            </a:avLst>
          </a:prstGeom>
          <a:solidFill>
            <a:srgbClr val="EEF5F5"/>
          </a:solidFill>
          <a:ln w="12700">
            <a:solidFill>
              <a:srgbClr val="EEF5F5"/>
            </a:solidFill>
            <a:prstDash val="solid"/>
          </a:ln>
        </p:spPr>
      </p:sp>
      <p:sp>
        <p:nvSpPr>
          <p:cNvPr id="15" name="Text 13"/>
          <p:cNvSpPr txBox="1"/>
          <p:nvPr/>
        </p:nvSpPr>
        <p:spPr>
          <a:xfrm>
            <a:off x="822960" y="4069080"/>
            <a:ext cx="914400" cy="548640"/>
          </a:xfrm>
          <a:prstGeom prst="rect">
            <a:avLst/>
          </a:prstGeom>
          <a:noFill/>
          <a:ln/>
        </p:spPr>
        <p:txBody>
          <a:bodyPr wrap="square" lIns="0" tIns="0" rIns="0" bIns="0" rtlCol="0" anchor="t"/>
          <a:lstStyle/>
          <a:p>
            <a:pPr indent="0" marL="0">
              <a:buNone/>
            </a:pPr>
            <a:r>
              <a:rPr lang="en-US" sz="3000" b="1" dirty="0">
                <a:solidFill>
                  <a:srgbClr val="1B8A8F"/>
                </a:solidFill>
                <a:latin typeface="Cambria" pitchFamily="34" charset="0"/>
                <a:ea typeface="Cambria" pitchFamily="34" charset="-122"/>
                <a:cs typeface="Cambria" pitchFamily="34" charset="-120"/>
              </a:rPr>
              <a:t>03</a:t>
            </a:r>
            <a:endParaRPr lang="en-US" sz="3000" dirty="0"/>
          </a:p>
        </p:txBody>
      </p:sp>
      <p:sp>
        <p:nvSpPr>
          <p:cNvPr id="16" name="Text 14"/>
          <p:cNvSpPr txBox="1"/>
          <p:nvPr/>
        </p:nvSpPr>
        <p:spPr>
          <a:xfrm>
            <a:off x="1691640" y="4142232"/>
            <a:ext cx="4023360" cy="411480"/>
          </a:xfrm>
          <a:prstGeom prst="rect">
            <a:avLst/>
          </a:prstGeom>
          <a:noFill/>
          <a:ln/>
        </p:spPr>
        <p:txBody>
          <a:bodyPr wrap="square" lIns="0" tIns="0" rIns="0" bIns="0" rtlCol="0" anchor="t"/>
          <a:lstStyle/>
          <a:p>
            <a:pPr indent="0" marL="0">
              <a:buNone/>
            </a:pPr>
            <a:r>
              <a:rPr lang="en-US" sz="1900" b="1" dirty="0">
                <a:solidFill>
                  <a:srgbClr val="0E2A33"/>
                </a:solidFill>
                <a:latin typeface="Calibri" pitchFamily="34" charset="0"/>
                <a:ea typeface="Calibri" pitchFamily="34" charset="-122"/>
                <a:cs typeface="Calibri" pitchFamily="34" charset="-120"/>
              </a:rPr>
              <a:t>Bất định thích ứng quy mô</a:t>
            </a:r>
            <a:endParaRPr lang="en-US" sz="1900" dirty="0"/>
          </a:p>
        </p:txBody>
      </p:sp>
      <p:sp>
        <p:nvSpPr>
          <p:cNvPr id="17" name="Text 15"/>
          <p:cNvSpPr txBox="1"/>
          <p:nvPr/>
        </p:nvSpPr>
        <p:spPr>
          <a:xfrm>
            <a:off x="1691640" y="4617720"/>
            <a:ext cx="4023360" cy="114300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Khoảng split-conformal Mondrian theo 9 nhóm dự báo điểm; bao phủ P10–P90 được đánh giá theo từng mức nhu cầu, cửa hàng và nhóm hàng.</a:t>
            </a:r>
            <a:endParaRPr lang="en-US" sz="1400" dirty="0"/>
          </a:p>
        </p:txBody>
      </p:sp>
      <p:sp>
        <p:nvSpPr>
          <p:cNvPr id="18" name="Shape 16"/>
          <p:cNvSpPr/>
          <p:nvPr/>
        </p:nvSpPr>
        <p:spPr>
          <a:xfrm>
            <a:off x="6126480" y="3840480"/>
            <a:ext cx="5349240" cy="2011680"/>
          </a:xfrm>
          <a:prstGeom prst="roundRect">
            <a:avLst>
              <a:gd name="adj" fmla="val 5455"/>
            </a:avLst>
          </a:prstGeom>
          <a:solidFill>
            <a:srgbClr val="EEF5F5"/>
          </a:solidFill>
          <a:ln w="12700">
            <a:solidFill>
              <a:srgbClr val="EEF5F5"/>
            </a:solidFill>
            <a:prstDash val="solid"/>
          </a:ln>
        </p:spPr>
      </p:sp>
      <p:sp>
        <p:nvSpPr>
          <p:cNvPr id="19" name="Text 17"/>
          <p:cNvSpPr txBox="1"/>
          <p:nvPr/>
        </p:nvSpPr>
        <p:spPr>
          <a:xfrm>
            <a:off x="6400800" y="4069080"/>
            <a:ext cx="914400" cy="548640"/>
          </a:xfrm>
          <a:prstGeom prst="rect">
            <a:avLst/>
          </a:prstGeom>
          <a:noFill/>
          <a:ln/>
        </p:spPr>
        <p:txBody>
          <a:bodyPr wrap="square" lIns="0" tIns="0" rIns="0" bIns="0" rtlCol="0" anchor="t"/>
          <a:lstStyle/>
          <a:p>
            <a:pPr indent="0" marL="0">
              <a:buNone/>
            </a:pPr>
            <a:r>
              <a:rPr lang="en-US" sz="3000" b="1" dirty="0">
                <a:solidFill>
                  <a:srgbClr val="1B8A8F"/>
                </a:solidFill>
                <a:latin typeface="Cambria" pitchFamily="34" charset="0"/>
                <a:ea typeface="Cambria" pitchFamily="34" charset="-122"/>
                <a:cs typeface="Cambria" pitchFamily="34" charset="-120"/>
              </a:rPr>
              <a:t>04</a:t>
            </a:r>
            <a:endParaRPr lang="en-US" sz="3000" dirty="0"/>
          </a:p>
        </p:txBody>
      </p:sp>
      <p:sp>
        <p:nvSpPr>
          <p:cNvPr id="20" name="Text 18"/>
          <p:cNvSpPr txBox="1"/>
          <p:nvPr/>
        </p:nvSpPr>
        <p:spPr>
          <a:xfrm>
            <a:off x="7269480" y="4142232"/>
            <a:ext cx="4023360" cy="411480"/>
          </a:xfrm>
          <a:prstGeom prst="rect">
            <a:avLst/>
          </a:prstGeom>
          <a:noFill/>
          <a:ln/>
        </p:spPr>
        <p:txBody>
          <a:bodyPr wrap="square" lIns="0" tIns="0" rIns="0" bIns="0" rtlCol="0" anchor="t"/>
          <a:lstStyle/>
          <a:p>
            <a:pPr indent="0" marL="0">
              <a:buNone/>
            </a:pPr>
            <a:r>
              <a:rPr lang="en-US" sz="1900" b="1" dirty="0">
                <a:solidFill>
                  <a:srgbClr val="0E2A33"/>
                </a:solidFill>
                <a:latin typeface="Calibri" pitchFamily="34" charset="0"/>
                <a:ea typeface="Calibri" pitchFamily="34" charset="-122"/>
                <a:cs typeface="Calibri" pitchFamily="34" charset="-120"/>
              </a:rPr>
              <a:t>Quyết định có căn cứ</a:t>
            </a:r>
            <a:endParaRPr lang="en-US" sz="1900" dirty="0"/>
          </a:p>
        </p:txBody>
      </p:sp>
      <p:sp>
        <p:nvSpPr>
          <p:cNvPr id="21" name="Text 19"/>
          <p:cNvSpPr txBox="1"/>
          <p:nvPr/>
        </p:nvSpPr>
        <p:spPr>
          <a:xfrm>
            <a:off x="7269480" y="4617720"/>
            <a:ext cx="4023360" cy="114300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Phiếu khuyến nghị cho 1.782 chuỗi, hàng đợi ưu tiên minh bạch, RAG, kiểm tra bám bằng chứng, phê duyệt HITL, xuất báo cáo và mẫu ra quyết định.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02</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Dữ liệu và khám phá</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Quy mô, mùa vụ, doanh số bằng 0 và khuyến mãi</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DỮ LIỆU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Corporación Favorita: 01/01/2013 – 15/08/2017</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00200"/>
            <a:ext cx="2606040" cy="1417320"/>
          </a:xfrm>
          <a:prstGeom prst="roundRect">
            <a:avLst>
              <a:gd name="adj" fmla="val 7742"/>
            </a:avLst>
          </a:prstGeom>
          <a:solidFill>
            <a:srgbClr val="EEF5F5"/>
          </a:solidFill>
          <a:ln w="12700">
            <a:solidFill>
              <a:srgbClr val="EEF5F5"/>
            </a:solidFill>
            <a:prstDash val="solid"/>
          </a:ln>
        </p:spPr>
      </p:sp>
      <p:sp>
        <p:nvSpPr>
          <p:cNvPr id="7" name="Text 5"/>
          <p:cNvSpPr txBox="1"/>
          <p:nvPr/>
        </p:nvSpPr>
        <p:spPr>
          <a:xfrm>
            <a:off x="777240" y="1783080"/>
            <a:ext cx="214884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3.000.888</a:t>
            </a:r>
            <a:endParaRPr lang="en-US" sz="3200" dirty="0"/>
          </a:p>
        </p:txBody>
      </p:sp>
      <p:sp>
        <p:nvSpPr>
          <p:cNvPr id="8" name="Text 6"/>
          <p:cNvSpPr txBox="1"/>
          <p:nvPr/>
        </p:nvSpPr>
        <p:spPr>
          <a:xfrm>
            <a:off x="777240" y="2468880"/>
            <a:ext cx="21488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quan sát ngày × cửa hàng × nhóm</a:t>
            </a:r>
            <a:endParaRPr lang="en-US" sz="1200" dirty="0"/>
          </a:p>
        </p:txBody>
      </p:sp>
      <p:sp>
        <p:nvSpPr>
          <p:cNvPr id="9" name="Shape 7"/>
          <p:cNvSpPr/>
          <p:nvPr/>
        </p:nvSpPr>
        <p:spPr>
          <a:xfrm>
            <a:off x="3355848" y="1600200"/>
            <a:ext cx="2606040" cy="1417320"/>
          </a:xfrm>
          <a:prstGeom prst="roundRect">
            <a:avLst>
              <a:gd name="adj" fmla="val 7742"/>
            </a:avLst>
          </a:prstGeom>
          <a:solidFill>
            <a:srgbClr val="EEF5F5"/>
          </a:solidFill>
          <a:ln w="12700">
            <a:solidFill>
              <a:srgbClr val="EEF5F5"/>
            </a:solidFill>
            <a:prstDash val="solid"/>
          </a:ln>
        </p:spPr>
      </p:sp>
      <p:sp>
        <p:nvSpPr>
          <p:cNvPr id="10" name="Text 8"/>
          <p:cNvSpPr txBox="1"/>
          <p:nvPr/>
        </p:nvSpPr>
        <p:spPr>
          <a:xfrm>
            <a:off x="3584448" y="1783080"/>
            <a:ext cx="214884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54</a:t>
            </a:r>
            <a:endParaRPr lang="en-US" sz="3200" dirty="0"/>
          </a:p>
        </p:txBody>
      </p:sp>
      <p:sp>
        <p:nvSpPr>
          <p:cNvPr id="11" name="Text 9"/>
          <p:cNvSpPr txBox="1"/>
          <p:nvPr/>
        </p:nvSpPr>
        <p:spPr>
          <a:xfrm>
            <a:off x="3584448" y="2468880"/>
            <a:ext cx="21488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cửa hàng</a:t>
            </a:r>
            <a:endParaRPr lang="en-US" sz="1200" dirty="0"/>
          </a:p>
        </p:txBody>
      </p:sp>
      <p:sp>
        <p:nvSpPr>
          <p:cNvPr id="12" name="Shape 10"/>
          <p:cNvSpPr/>
          <p:nvPr/>
        </p:nvSpPr>
        <p:spPr>
          <a:xfrm>
            <a:off x="6163056" y="1600200"/>
            <a:ext cx="2606040" cy="1417320"/>
          </a:xfrm>
          <a:prstGeom prst="roundRect">
            <a:avLst>
              <a:gd name="adj" fmla="val 7742"/>
            </a:avLst>
          </a:prstGeom>
          <a:solidFill>
            <a:srgbClr val="EEF5F5"/>
          </a:solidFill>
          <a:ln w="12700">
            <a:solidFill>
              <a:srgbClr val="EEF5F5"/>
            </a:solidFill>
            <a:prstDash val="solid"/>
          </a:ln>
        </p:spPr>
      </p:sp>
      <p:sp>
        <p:nvSpPr>
          <p:cNvPr id="13" name="Text 11"/>
          <p:cNvSpPr txBox="1"/>
          <p:nvPr/>
        </p:nvSpPr>
        <p:spPr>
          <a:xfrm>
            <a:off x="6391656" y="1783080"/>
            <a:ext cx="214884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33</a:t>
            </a:r>
            <a:endParaRPr lang="en-US" sz="3200" dirty="0"/>
          </a:p>
        </p:txBody>
      </p:sp>
      <p:sp>
        <p:nvSpPr>
          <p:cNvPr id="14" name="Text 12"/>
          <p:cNvSpPr txBox="1"/>
          <p:nvPr/>
        </p:nvSpPr>
        <p:spPr>
          <a:xfrm>
            <a:off x="6391656" y="2468880"/>
            <a:ext cx="21488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nhóm sản phẩm</a:t>
            </a:r>
            <a:endParaRPr lang="en-US" sz="1200" dirty="0"/>
          </a:p>
        </p:txBody>
      </p:sp>
      <p:sp>
        <p:nvSpPr>
          <p:cNvPr id="15" name="Shape 13"/>
          <p:cNvSpPr/>
          <p:nvPr/>
        </p:nvSpPr>
        <p:spPr>
          <a:xfrm>
            <a:off x="8970264" y="1600200"/>
            <a:ext cx="2606040" cy="1417320"/>
          </a:xfrm>
          <a:prstGeom prst="roundRect">
            <a:avLst>
              <a:gd name="adj" fmla="val 7742"/>
            </a:avLst>
          </a:prstGeom>
          <a:solidFill>
            <a:srgbClr val="EEF5F5"/>
          </a:solidFill>
          <a:ln w="12700">
            <a:solidFill>
              <a:srgbClr val="EEF5F5"/>
            </a:solidFill>
            <a:prstDash val="solid"/>
          </a:ln>
        </p:spPr>
      </p:sp>
      <p:sp>
        <p:nvSpPr>
          <p:cNvPr id="16" name="Text 14"/>
          <p:cNvSpPr txBox="1"/>
          <p:nvPr/>
        </p:nvSpPr>
        <p:spPr>
          <a:xfrm>
            <a:off x="9198864" y="1783080"/>
            <a:ext cx="2148840" cy="685800"/>
          </a:xfrm>
          <a:prstGeom prst="rect">
            <a:avLst/>
          </a:prstGeom>
          <a:noFill/>
          <a:ln/>
        </p:spPr>
        <p:txBody>
          <a:bodyPr wrap="square" lIns="0" tIns="0" rIns="0" bIns="0" rtlCol="0" anchor="t"/>
          <a:lstStyle/>
          <a:p>
            <a:pPr indent="0" marL="0">
              <a:buNone/>
            </a:pPr>
            <a:r>
              <a:rPr lang="en-US" sz="3200" b="1" dirty="0">
                <a:solidFill>
                  <a:srgbClr val="E8A33D"/>
                </a:solidFill>
                <a:latin typeface="Cambria" pitchFamily="34" charset="0"/>
                <a:ea typeface="Cambria" pitchFamily="34" charset="-122"/>
                <a:cs typeface="Cambria" pitchFamily="34" charset="-120"/>
              </a:rPr>
              <a:t>1.782</a:t>
            </a:r>
            <a:endParaRPr lang="en-US" sz="3200" dirty="0"/>
          </a:p>
        </p:txBody>
      </p:sp>
      <p:sp>
        <p:nvSpPr>
          <p:cNvPr id="17" name="Text 15"/>
          <p:cNvSpPr txBox="1"/>
          <p:nvPr/>
        </p:nvSpPr>
        <p:spPr>
          <a:xfrm>
            <a:off x="9198864" y="2468880"/>
            <a:ext cx="21488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chuỗi Store × Family</a:t>
            </a:r>
            <a:endParaRPr lang="en-US" sz="1200" dirty="0"/>
          </a:p>
        </p:txBody>
      </p:sp>
      <p:sp>
        <p:nvSpPr>
          <p:cNvPr id="18" name="Shape 16"/>
          <p:cNvSpPr/>
          <p:nvPr/>
        </p:nvSpPr>
        <p:spPr>
          <a:xfrm>
            <a:off x="548640" y="3291840"/>
            <a:ext cx="3520440" cy="1417320"/>
          </a:xfrm>
          <a:prstGeom prst="roundRect">
            <a:avLst>
              <a:gd name="adj" fmla="val 7742"/>
            </a:avLst>
          </a:prstGeom>
          <a:solidFill>
            <a:srgbClr val="EEF5F5"/>
          </a:solidFill>
          <a:ln w="12700">
            <a:solidFill>
              <a:srgbClr val="EEF5F5"/>
            </a:solidFill>
            <a:prstDash val="solid"/>
          </a:ln>
        </p:spPr>
      </p:sp>
      <p:sp>
        <p:nvSpPr>
          <p:cNvPr id="19" name="Text 17"/>
          <p:cNvSpPr txBox="1"/>
          <p:nvPr/>
        </p:nvSpPr>
        <p:spPr>
          <a:xfrm>
            <a:off x="777240" y="3474720"/>
            <a:ext cx="3063240" cy="685800"/>
          </a:xfrm>
          <a:prstGeom prst="rect">
            <a:avLst/>
          </a:prstGeom>
          <a:noFill/>
          <a:ln/>
        </p:spPr>
        <p:txBody>
          <a:bodyPr wrap="square" lIns="0" tIns="0" rIns="0" bIns="0" rtlCol="0" anchor="t"/>
          <a:lstStyle/>
          <a:p>
            <a:pPr indent="0" marL="0">
              <a:buNone/>
            </a:pPr>
            <a:r>
              <a:rPr lang="en-US" sz="3200" b="1" dirty="0">
                <a:solidFill>
                  <a:srgbClr val="D05A4E"/>
                </a:solidFill>
                <a:latin typeface="Cambria" pitchFamily="34" charset="0"/>
                <a:ea typeface="Cambria" pitchFamily="34" charset="-122"/>
                <a:cs typeface="Cambria" pitchFamily="34" charset="-120"/>
              </a:rPr>
              <a:t>31,3%</a:t>
            </a:r>
            <a:endParaRPr lang="en-US" sz="3200" dirty="0"/>
          </a:p>
        </p:txBody>
      </p:sp>
      <p:sp>
        <p:nvSpPr>
          <p:cNvPr id="20" name="Text 18"/>
          <p:cNvSpPr txBox="1"/>
          <p:nvPr/>
        </p:nvSpPr>
        <p:spPr>
          <a:xfrm>
            <a:off x="777240" y="4160520"/>
            <a:ext cx="30632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dòng có doanh số bằng 0</a:t>
            </a:r>
            <a:endParaRPr lang="en-US" sz="1200" dirty="0"/>
          </a:p>
        </p:txBody>
      </p:sp>
      <p:sp>
        <p:nvSpPr>
          <p:cNvPr id="21" name="Shape 19"/>
          <p:cNvSpPr/>
          <p:nvPr/>
        </p:nvSpPr>
        <p:spPr>
          <a:xfrm>
            <a:off x="4297680" y="3291840"/>
            <a:ext cx="3520440" cy="1417320"/>
          </a:xfrm>
          <a:prstGeom prst="roundRect">
            <a:avLst>
              <a:gd name="adj" fmla="val 7742"/>
            </a:avLst>
          </a:prstGeom>
          <a:solidFill>
            <a:srgbClr val="EEF5F5"/>
          </a:solidFill>
          <a:ln w="12700">
            <a:solidFill>
              <a:srgbClr val="EEF5F5"/>
            </a:solidFill>
            <a:prstDash val="solid"/>
          </a:ln>
        </p:spPr>
      </p:sp>
      <p:sp>
        <p:nvSpPr>
          <p:cNvPr id="22" name="Text 20"/>
          <p:cNvSpPr txBox="1"/>
          <p:nvPr/>
        </p:nvSpPr>
        <p:spPr>
          <a:xfrm>
            <a:off x="4526280" y="3474720"/>
            <a:ext cx="3063240" cy="685800"/>
          </a:xfrm>
          <a:prstGeom prst="rect">
            <a:avLst/>
          </a:prstGeom>
          <a:noFill/>
          <a:ln/>
        </p:spPr>
        <p:txBody>
          <a:bodyPr wrap="square" lIns="0" tIns="0" rIns="0" bIns="0" rtlCol="0" anchor="t"/>
          <a:lstStyle/>
          <a:p>
            <a:pPr indent="0" marL="0">
              <a:buNone/>
            </a:pPr>
            <a:r>
              <a:rPr lang="en-US" sz="3200" b="1" dirty="0">
                <a:solidFill>
                  <a:srgbClr val="12505F"/>
                </a:solidFill>
                <a:latin typeface="Cambria" pitchFamily="34" charset="0"/>
                <a:ea typeface="Cambria" pitchFamily="34" charset="-122"/>
                <a:cs typeface="Cambria" pitchFamily="34" charset="-120"/>
              </a:rPr>
              <a:t>20,4%</a:t>
            </a:r>
            <a:endParaRPr lang="en-US" sz="3200" dirty="0"/>
          </a:p>
        </p:txBody>
      </p:sp>
      <p:sp>
        <p:nvSpPr>
          <p:cNvPr id="23" name="Text 21"/>
          <p:cNvSpPr txBox="1"/>
          <p:nvPr/>
        </p:nvSpPr>
        <p:spPr>
          <a:xfrm>
            <a:off x="4526280" y="4160520"/>
            <a:ext cx="30632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dòng có onpromotion &gt; 0</a:t>
            </a:r>
            <a:endParaRPr lang="en-US" sz="1200" dirty="0"/>
          </a:p>
        </p:txBody>
      </p:sp>
      <p:sp>
        <p:nvSpPr>
          <p:cNvPr id="24" name="Shape 22"/>
          <p:cNvSpPr/>
          <p:nvPr/>
        </p:nvSpPr>
        <p:spPr>
          <a:xfrm>
            <a:off x="8046720" y="3291840"/>
            <a:ext cx="3520440" cy="1417320"/>
          </a:xfrm>
          <a:prstGeom prst="roundRect">
            <a:avLst>
              <a:gd name="adj" fmla="val 7742"/>
            </a:avLst>
          </a:prstGeom>
          <a:solidFill>
            <a:srgbClr val="EEF5F5"/>
          </a:solidFill>
          <a:ln w="12700">
            <a:solidFill>
              <a:srgbClr val="EEF5F5"/>
            </a:solidFill>
            <a:prstDash val="solid"/>
          </a:ln>
        </p:spPr>
      </p:sp>
      <p:sp>
        <p:nvSpPr>
          <p:cNvPr id="25" name="Text 23"/>
          <p:cNvSpPr txBox="1"/>
          <p:nvPr/>
        </p:nvSpPr>
        <p:spPr>
          <a:xfrm>
            <a:off x="8275320" y="3474720"/>
            <a:ext cx="3063240" cy="685800"/>
          </a:xfrm>
          <a:prstGeom prst="rect">
            <a:avLst/>
          </a:prstGeom>
          <a:noFill/>
          <a:ln/>
        </p:spPr>
        <p:txBody>
          <a:bodyPr wrap="square" lIns="0" tIns="0" rIns="0" bIns="0" rtlCol="0" anchor="t"/>
          <a:lstStyle/>
          <a:p>
            <a:pPr indent="0" marL="0">
              <a:buNone/>
            </a:pPr>
            <a:r>
              <a:rPr lang="en-US" sz="3200" b="1" dirty="0">
                <a:solidFill>
                  <a:srgbClr val="3C8D5A"/>
                </a:solidFill>
                <a:latin typeface="Cambria" pitchFamily="34" charset="0"/>
                <a:ea typeface="Cambria" pitchFamily="34" charset="-122"/>
                <a:cs typeface="Cambria" pitchFamily="34" charset="-120"/>
              </a:rPr>
              <a:t>0</a:t>
            </a:r>
            <a:endParaRPr lang="en-US" sz="3200" dirty="0"/>
          </a:p>
        </p:txBody>
      </p:sp>
      <p:sp>
        <p:nvSpPr>
          <p:cNvPr id="26" name="Text 24"/>
          <p:cNvSpPr txBox="1"/>
          <p:nvPr/>
        </p:nvSpPr>
        <p:spPr>
          <a:xfrm>
            <a:off x="8275320" y="4160520"/>
            <a:ext cx="306324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giá trị thiếu và dòng trùng</a:t>
            </a:r>
            <a:endParaRPr lang="en-US" sz="1200" dirty="0"/>
          </a:p>
        </p:txBody>
      </p:sp>
      <p:sp>
        <p:nvSpPr>
          <p:cNvPr id="27" name="Text 25"/>
          <p:cNvSpPr txBox="1"/>
          <p:nvPr/>
        </p:nvSpPr>
        <p:spPr>
          <a:xfrm>
            <a:off x="548640" y="5029200"/>
            <a:ext cx="11094415" cy="54864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Nguồn bổ sung: stores.csv, oil.csv (dịch 16 ngày lịch), transactions.csv (theo lịch từng cửa hàng), holidays_events.csv (loại Work Day).</a:t>
            </a:r>
            <a:endParaRPr lang="en-US" sz="1400" dirty="0"/>
          </a:p>
        </p:txBody>
      </p:sp>
      <p:sp>
        <p:nvSpPr>
          <p:cNvPr id="28" name="Text 26"/>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outputs/01_data_validation/data_quality.csv.</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KHÁM PHÁ DỮ LIỆU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Xu hướng tăng và mùa vụ tuần rõ rệt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08760"/>
            <a:ext cx="6949440" cy="4480560"/>
          </a:xfrm>
          <a:prstGeom prst="roundRect">
            <a:avLst>
              <a:gd name="adj" fmla="val 244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home/claude/proj_full/REPORT_READY/figures/F02_daily_sales.png">    </p:cNvPr>
          <p:cNvPicPr>
            <a:picLocks noChangeAspect="1"/>
          </p:cNvPicPr>
          <p:nvPr/>
        </p:nvPicPr>
        <p:blipFill>
          <a:blip r:embed="rId1"/>
          <a:stretch>
            <a:fillRect/>
          </a:stretch>
        </p:blipFill>
        <p:spPr>
          <a:xfrm>
            <a:off x="685800" y="2569095"/>
            <a:ext cx="6675120" cy="2359891"/>
          </a:xfrm>
          <a:prstGeom prst="rect">
            <a:avLst/>
          </a:prstGeom>
        </p:spPr>
      </p:pic>
      <p:sp>
        <p:nvSpPr>
          <p:cNvPr id="8" name="Shape 5"/>
          <p:cNvSpPr/>
          <p:nvPr/>
        </p:nvSpPr>
        <p:spPr>
          <a:xfrm>
            <a:off x="7726680" y="1508760"/>
            <a:ext cx="3913632" cy="4480560"/>
          </a:xfrm>
          <a:prstGeom prst="roundRect">
            <a:avLst>
              <a:gd name="adj" fmla="val 280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9" name="Image 1" descr="/home/claude/proj_full/REPORT_READY/figures/F03_weekday_pattern.png">    </p:cNvPr>
          <p:cNvPicPr>
            <a:picLocks noChangeAspect="1"/>
          </p:cNvPicPr>
          <p:nvPr/>
        </p:nvPicPr>
        <p:blipFill>
          <a:blip r:embed="rId2"/>
          <a:stretch>
            <a:fillRect/>
          </a:stretch>
        </p:blipFill>
        <p:spPr>
          <a:xfrm>
            <a:off x="7818120" y="2787206"/>
            <a:ext cx="3730752" cy="1923669"/>
          </a:xfrm>
          <a:prstGeom prst="rect">
            <a:avLst/>
          </a:prstGeom>
        </p:spPr>
      </p:pic>
      <p:sp>
        <p:nvSpPr>
          <p:cNvPr id="10" name="Text 6"/>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REPORT_READY/figures F02, F03.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KHUYẾN MÃI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Có khuyến mãi bán nhiều hơn – nhưng chỉ là thống kê mô tả</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10</a:t>
            </a:r>
            <a:endParaRPr lang="en-US" sz="900" dirty="0"/>
          </a:p>
        </p:txBody>
      </p:sp>
      <p:graphicFrame>
        <p:nvGraphicFramePr>
          <p:cNvPr id="6" name="Chart 0" descr=""/>
          <p:cNvGraphicFramePr/>
          <p:nvPr/>
        </p:nvGraphicFramePr>
        <p:xfrm>
          <a:off x="548640" y="1554480"/>
          <a:ext cx="5669280" cy="4389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83680" y="1645920"/>
            <a:ext cx="5029200" cy="4206240"/>
          </a:xfrm>
          <a:prstGeom prst="roundRect">
            <a:avLst>
              <a:gd name="adj" fmla="val 2609"/>
            </a:avLst>
          </a:prstGeom>
          <a:solidFill>
            <a:srgbClr val="EEF5F5"/>
          </a:solidFill>
          <a:ln w="12700">
            <a:solidFill>
              <a:srgbClr val="EEF5F5"/>
            </a:solidFill>
            <a:prstDash val="solid"/>
          </a:ln>
        </p:spPr>
      </p:sp>
      <p:sp>
        <p:nvSpPr>
          <p:cNvPr id="8" name="Text 5"/>
          <p:cNvSpPr txBox="1"/>
          <p:nvPr/>
        </p:nvSpPr>
        <p:spPr>
          <a:xfrm>
            <a:off x="6858000" y="1874520"/>
            <a:ext cx="4572000" cy="411480"/>
          </a:xfrm>
          <a:prstGeom prst="rect">
            <a:avLst/>
          </a:prstGeom>
          <a:noFill/>
          <a:ln/>
        </p:spPr>
        <p:txBody>
          <a:bodyPr wrap="square" lIns="0" tIns="0" rIns="0" bIns="0" rtlCol="0" anchor="t"/>
          <a:lstStyle/>
          <a:p>
            <a:pPr indent="0" marL="0">
              <a:buNone/>
            </a:pPr>
            <a:r>
              <a:rPr lang="en-US" sz="1900" b="1" dirty="0">
                <a:solidFill>
                  <a:srgbClr val="12505F"/>
                </a:solidFill>
                <a:latin typeface="Calibri" pitchFamily="34" charset="0"/>
                <a:ea typeface="Calibri" pitchFamily="34" charset="-122"/>
                <a:cs typeface="Calibri" pitchFamily="34" charset="-120"/>
              </a:rPr>
              <a:t>Đọc đúng con số</a:t>
            </a:r>
            <a:endParaRPr lang="en-US" sz="1900" dirty="0"/>
          </a:p>
        </p:txBody>
      </p:sp>
      <p:sp>
        <p:nvSpPr>
          <p:cNvPr id="9" name="Text 6"/>
          <p:cNvSpPr txBox="1"/>
          <p:nvPr/>
        </p:nvSpPr>
        <p:spPr>
          <a:xfrm>
            <a:off x="6858000" y="2423160"/>
            <a:ext cx="4572000" cy="32918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2.389.559 dòng không khuyến mãi: trung vị 3</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611.329 dòng có khuyến mãi: trung vị 373</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Khuyến mãi tập trung ở nhóm hàng và cửa hàng lớn → chênh lệch phản ánh cả quy mô</a:t>
            </a:r>
            <a:endParaRPr lang="en-US" sz="1500" dirty="0"/>
          </a:p>
          <a:p>
            <a:pPr marL="203200" indent="-203200">
              <a:spcAft>
                <a:spcPts val="800"/>
              </a:spcAft>
              <a:buSzPct val="100000"/>
              <a:buChar char="•"/>
            </a:pPr>
            <a:r>
              <a:rPr lang="en-US" sz="1500" dirty="0">
                <a:solidFill>
                  <a:srgbClr val="0E2A33"/>
                </a:solidFill>
                <a:latin typeface="Calibri" pitchFamily="34" charset="0"/>
                <a:ea typeface="Calibri" pitchFamily="34" charset="-122"/>
                <a:cs typeface="Calibri" pitchFamily="34" charset="-120"/>
              </a:rPr>
              <a:t>Vì vậy luận văn không diễn giải thành tác động nhân quả của khuyến mãi</a:t>
            </a:r>
            <a:endParaRPr lang="en-US" sz="150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outputs/02_eda_decomposition/promotion_descriptive.csv.</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PHÂN RÃ CHUỖI THỜI GIAN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Robust STL: tách xu hướng, mùa vụ tuần và phần dư</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463040"/>
            <a:ext cx="667512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home/claude/proj_full/REPORT_READY/figures/F05_robust_stl.png">    </p:cNvPr>
          <p:cNvPicPr>
            <a:picLocks noChangeAspect="1"/>
          </p:cNvPicPr>
          <p:nvPr/>
        </p:nvPicPr>
        <p:blipFill>
          <a:blip r:embed="rId1"/>
          <a:stretch>
            <a:fillRect/>
          </a:stretch>
        </p:blipFill>
        <p:spPr>
          <a:xfrm>
            <a:off x="950235" y="1554480"/>
            <a:ext cx="5871931" cy="4389120"/>
          </a:xfrm>
          <a:prstGeom prst="rect">
            <a:avLst/>
          </a:prstGeom>
        </p:spPr>
      </p:pic>
      <p:sp>
        <p:nvSpPr>
          <p:cNvPr id="8" name="Shape 5"/>
          <p:cNvSpPr/>
          <p:nvPr/>
        </p:nvSpPr>
        <p:spPr>
          <a:xfrm>
            <a:off x="7498080" y="1463040"/>
            <a:ext cx="4142232" cy="4572000"/>
          </a:xfrm>
          <a:prstGeom prst="roundRect">
            <a:avLst>
              <a:gd name="adj" fmla="val 2649"/>
            </a:avLst>
          </a:prstGeom>
          <a:solidFill>
            <a:srgbClr val="EEF5F5"/>
          </a:solidFill>
          <a:ln w="12700">
            <a:solidFill>
              <a:srgbClr val="EEF5F5"/>
            </a:solidFill>
            <a:prstDash val="solid"/>
          </a:ln>
        </p:spPr>
      </p:sp>
      <p:sp>
        <p:nvSpPr>
          <p:cNvPr id="9" name="Text 6"/>
          <p:cNvSpPr txBox="1"/>
          <p:nvPr/>
        </p:nvSpPr>
        <p:spPr>
          <a:xfrm>
            <a:off x="7772400" y="1691640"/>
            <a:ext cx="3657600" cy="411480"/>
          </a:xfrm>
          <a:prstGeom prst="rect">
            <a:avLst/>
          </a:prstGeom>
          <a:noFill/>
          <a:ln/>
        </p:spPr>
        <p:txBody>
          <a:bodyPr wrap="square" lIns="0" tIns="0" rIns="0" bIns="0" rtlCol="0" anchor="t"/>
          <a:lstStyle/>
          <a:p>
            <a:pPr indent="0" marL="0">
              <a:buNone/>
            </a:pPr>
            <a:r>
              <a:rPr lang="en-US" sz="1900" b="1" dirty="0">
                <a:solidFill>
                  <a:srgbClr val="12505F"/>
                </a:solidFill>
                <a:latin typeface="Calibri" pitchFamily="34" charset="0"/>
                <a:ea typeface="Calibri" pitchFamily="34" charset="-122"/>
                <a:cs typeface="Calibri" pitchFamily="34" charset="-120"/>
              </a:rPr>
              <a:t>Hàm ý cho thiết kế</a:t>
            </a:r>
            <a:endParaRPr lang="en-US" sz="1900" dirty="0"/>
          </a:p>
        </p:txBody>
      </p:sp>
      <p:sp>
        <p:nvSpPr>
          <p:cNvPr id="10" name="Text 7"/>
          <p:cNvSpPr txBox="1"/>
          <p:nvPr/>
        </p:nvSpPr>
        <p:spPr>
          <a:xfrm>
            <a:off x="7772400" y="2240280"/>
            <a:ext cx="3657600" cy="3657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Mùa vụ tuần ổn định → đặc trưng thứ trong tuần và lag bội số 7</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Xu hướng thay đổi chậm → trung bình trượt 7/14/28 ngày</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Phần dư có các cú sốc lễ, Tết → cờ ngày lễ quốc gia (loại Work Day)</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Robust STL giảm ảnh hưởng của ngoại lệ lên thành phần mùa vụ</a:t>
            </a:r>
            <a:endParaRPr lang="en-US" sz="1400" dirty="0"/>
          </a:p>
        </p:txBody>
      </p:sp>
      <p:sp>
        <p:nvSpPr>
          <p:cNvPr id="11" name="Text 8"/>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REPORT_READY/figures/F05_robust_stl.png.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03</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Thiết kế quy trình và kiểm soát rò rỉ</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Mọi đặc trưng phải có sẵn tại thời điểm dự báo</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QUY TRÌNH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Quy trình 14 stage từ dữ liệu thô đến phê duyệt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828800"/>
            <a:ext cx="1261872" cy="1554480"/>
          </a:xfrm>
          <a:prstGeom prst="roundRect">
            <a:avLst>
              <a:gd name="adj" fmla="val 8696"/>
            </a:avLst>
          </a:prstGeom>
          <a:solidFill>
            <a:srgbClr val="EEF5F5"/>
          </a:solidFill>
          <a:ln w="12700">
            <a:solidFill>
              <a:srgbClr val="EEF5F5"/>
            </a:solidFill>
            <a:prstDash val="solid"/>
          </a:ln>
        </p:spPr>
      </p:sp>
      <p:sp>
        <p:nvSpPr>
          <p:cNvPr id="7" name="Shape 5"/>
          <p:cNvSpPr/>
          <p:nvPr/>
        </p:nvSpPr>
        <p:spPr>
          <a:xfrm>
            <a:off x="923544" y="1993392"/>
            <a:ext cx="512064" cy="512064"/>
          </a:xfrm>
          <a:prstGeom prst="ellipse">
            <a:avLst/>
          </a:prstGeom>
          <a:solidFill>
            <a:srgbClr val="1B8A8F"/>
          </a:solidFill>
          <a:ln w="12700">
            <a:solidFill>
              <a:srgbClr val="1B8A8F"/>
            </a:solidFill>
            <a:prstDash val="solid"/>
          </a:ln>
        </p:spPr>
      </p:sp>
      <p:sp>
        <p:nvSpPr>
          <p:cNvPr id="8" name="Text 6"/>
          <p:cNvSpPr txBox="1"/>
          <p:nvPr/>
        </p:nvSpPr>
        <p:spPr>
          <a:xfrm>
            <a:off x="923544"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txBox="1"/>
          <p:nvPr/>
        </p:nvSpPr>
        <p:spPr>
          <a:xfrm>
            <a:off x="603504"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Kiểm tra dữ liệu</a:t>
            </a:r>
            <a:endParaRPr lang="en-US" sz="1200" dirty="0"/>
          </a:p>
        </p:txBody>
      </p:sp>
      <p:sp>
        <p:nvSpPr>
          <p:cNvPr id="10" name="Shape 8"/>
          <p:cNvSpPr/>
          <p:nvPr/>
        </p:nvSpPr>
        <p:spPr>
          <a:xfrm>
            <a:off x="1938528" y="1828800"/>
            <a:ext cx="1261872" cy="1554480"/>
          </a:xfrm>
          <a:prstGeom prst="roundRect">
            <a:avLst>
              <a:gd name="adj" fmla="val 8696"/>
            </a:avLst>
          </a:prstGeom>
          <a:solidFill>
            <a:srgbClr val="EEF5F5"/>
          </a:solidFill>
          <a:ln w="12700">
            <a:solidFill>
              <a:srgbClr val="EEF5F5"/>
            </a:solidFill>
            <a:prstDash val="solid"/>
          </a:ln>
        </p:spPr>
      </p:sp>
      <p:sp>
        <p:nvSpPr>
          <p:cNvPr id="11" name="Shape 9"/>
          <p:cNvSpPr/>
          <p:nvPr/>
        </p:nvSpPr>
        <p:spPr>
          <a:xfrm>
            <a:off x="2313432" y="1993392"/>
            <a:ext cx="512064" cy="512064"/>
          </a:xfrm>
          <a:prstGeom prst="ellipse">
            <a:avLst/>
          </a:prstGeom>
          <a:solidFill>
            <a:srgbClr val="1B8A8F"/>
          </a:solidFill>
          <a:ln w="12700">
            <a:solidFill>
              <a:srgbClr val="1B8A8F"/>
            </a:solidFill>
            <a:prstDash val="solid"/>
          </a:ln>
        </p:spPr>
      </p:sp>
      <p:sp>
        <p:nvSpPr>
          <p:cNvPr id="12" name="Text 10"/>
          <p:cNvSpPr txBox="1"/>
          <p:nvPr/>
        </p:nvSpPr>
        <p:spPr>
          <a:xfrm>
            <a:off x="2313432"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3" name="Text 11"/>
          <p:cNvSpPr txBox="1"/>
          <p:nvPr/>
        </p:nvSpPr>
        <p:spPr>
          <a:xfrm>
            <a:off x="1993392"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EDA &amp; Robust STL</a:t>
            </a:r>
            <a:endParaRPr lang="en-US" sz="1200" dirty="0"/>
          </a:p>
        </p:txBody>
      </p:sp>
      <p:sp>
        <p:nvSpPr>
          <p:cNvPr id="14" name="Shape 12"/>
          <p:cNvSpPr/>
          <p:nvPr/>
        </p:nvSpPr>
        <p:spPr>
          <a:xfrm>
            <a:off x="3328416" y="1828800"/>
            <a:ext cx="1261872" cy="1554480"/>
          </a:xfrm>
          <a:prstGeom prst="roundRect">
            <a:avLst>
              <a:gd name="adj" fmla="val 8696"/>
            </a:avLst>
          </a:prstGeom>
          <a:solidFill>
            <a:srgbClr val="EEF5F5"/>
          </a:solidFill>
          <a:ln w="12700">
            <a:solidFill>
              <a:srgbClr val="EEF5F5"/>
            </a:solidFill>
            <a:prstDash val="solid"/>
          </a:ln>
        </p:spPr>
      </p:sp>
      <p:sp>
        <p:nvSpPr>
          <p:cNvPr id="15" name="Shape 13"/>
          <p:cNvSpPr/>
          <p:nvPr/>
        </p:nvSpPr>
        <p:spPr>
          <a:xfrm>
            <a:off x="3703320" y="1993392"/>
            <a:ext cx="512064" cy="512064"/>
          </a:xfrm>
          <a:prstGeom prst="ellipse">
            <a:avLst/>
          </a:prstGeom>
          <a:solidFill>
            <a:srgbClr val="1B8A8F"/>
          </a:solidFill>
          <a:ln w="12700">
            <a:solidFill>
              <a:srgbClr val="1B8A8F"/>
            </a:solidFill>
            <a:prstDash val="solid"/>
          </a:ln>
        </p:spPr>
      </p:sp>
      <p:sp>
        <p:nvSpPr>
          <p:cNvPr id="16" name="Text 14"/>
          <p:cNvSpPr txBox="1"/>
          <p:nvPr/>
        </p:nvSpPr>
        <p:spPr>
          <a:xfrm>
            <a:off x="3703320"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txBox="1"/>
          <p:nvPr/>
        </p:nvSpPr>
        <p:spPr>
          <a:xfrm>
            <a:off x="3383280"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Đặc trưng theo lịch</a:t>
            </a:r>
            <a:endParaRPr lang="en-US" sz="1200" dirty="0"/>
          </a:p>
        </p:txBody>
      </p:sp>
      <p:sp>
        <p:nvSpPr>
          <p:cNvPr id="18" name="Shape 16"/>
          <p:cNvSpPr/>
          <p:nvPr/>
        </p:nvSpPr>
        <p:spPr>
          <a:xfrm>
            <a:off x="4718304" y="1828800"/>
            <a:ext cx="1261872" cy="1554480"/>
          </a:xfrm>
          <a:prstGeom prst="roundRect">
            <a:avLst>
              <a:gd name="adj" fmla="val 8696"/>
            </a:avLst>
          </a:prstGeom>
          <a:solidFill>
            <a:srgbClr val="EEF5F5"/>
          </a:solidFill>
          <a:ln w="12700">
            <a:solidFill>
              <a:srgbClr val="EEF5F5"/>
            </a:solidFill>
            <a:prstDash val="solid"/>
          </a:ln>
        </p:spPr>
      </p:sp>
      <p:sp>
        <p:nvSpPr>
          <p:cNvPr id="19" name="Shape 17"/>
          <p:cNvSpPr/>
          <p:nvPr/>
        </p:nvSpPr>
        <p:spPr>
          <a:xfrm>
            <a:off x="5093208" y="1993392"/>
            <a:ext cx="512064" cy="512064"/>
          </a:xfrm>
          <a:prstGeom prst="ellipse">
            <a:avLst/>
          </a:prstGeom>
          <a:solidFill>
            <a:srgbClr val="1B8A8F"/>
          </a:solidFill>
          <a:ln w="12700">
            <a:solidFill>
              <a:srgbClr val="1B8A8F"/>
            </a:solidFill>
            <a:prstDash val="solid"/>
          </a:ln>
        </p:spPr>
      </p:sp>
      <p:sp>
        <p:nvSpPr>
          <p:cNvPr id="20" name="Text 18"/>
          <p:cNvSpPr txBox="1"/>
          <p:nvPr/>
        </p:nvSpPr>
        <p:spPr>
          <a:xfrm>
            <a:off x="5093208"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1" name="Text 19"/>
          <p:cNvSpPr txBox="1"/>
          <p:nvPr/>
        </p:nvSpPr>
        <p:spPr>
          <a:xfrm>
            <a:off x="4773168"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So sánh 5 mô hình</a:t>
            </a:r>
            <a:endParaRPr lang="en-US" sz="1200" dirty="0"/>
          </a:p>
        </p:txBody>
      </p:sp>
      <p:sp>
        <p:nvSpPr>
          <p:cNvPr id="22" name="Shape 20"/>
          <p:cNvSpPr/>
          <p:nvPr/>
        </p:nvSpPr>
        <p:spPr>
          <a:xfrm>
            <a:off x="6108192" y="1828800"/>
            <a:ext cx="1261872" cy="1554480"/>
          </a:xfrm>
          <a:prstGeom prst="roundRect">
            <a:avLst>
              <a:gd name="adj" fmla="val 8696"/>
            </a:avLst>
          </a:prstGeom>
          <a:solidFill>
            <a:srgbClr val="EEF5F5"/>
          </a:solidFill>
          <a:ln w="12700">
            <a:solidFill>
              <a:srgbClr val="EEF5F5"/>
            </a:solidFill>
            <a:prstDash val="solid"/>
          </a:ln>
        </p:spPr>
      </p:sp>
      <p:sp>
        <p:nvSpPr>
          <p:cNvPr id="23" name="Shape 21"/>
          <p:cNvSpPr/>
          <p:nvPr/>
        </p:nvSpPr>
        <p:spPr>
          <a:xfrm>
            <a:off x="6483096" y="1993392"/>
            <a:ext cx="512064" cy="512064"/>
          </a:xfrm>
          <a:prstGeom prst="ellipse">
            <a:avLst/>
          </a:prstGeom>
          <a:solidFill>
            <a:srgbClr val="12505F"/>
          </a:solidFill>
          <a:ln w="12700">
            <a:solidFill>
              <a:srgbClr val="12505F"/>
            </a:solidFill>
            <a:prstDash val="solid"/>
          </a:ln>
        </p:spPr>
      </p:sp>
      <p:sp>
        <p:nvSpPr>
          <p:cNvPr id="24" name="Text 22"/>
          <p:cNvSpPr txBox="1"/>
          <p:nvPr/>
        </p:nvSpPr>
        <p:spPr>
          <a:xfrm>
            <a:off x="6483096"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5" name="Text 23"/>
          <p:cNvSpPr txBox="1"/>
          <p:nvPr/>
        </p:nvSpPr>
        <p:spPr>
          <a:xfrm>
            <a:off x="6163056"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P10/P50/P90 Mondrian</a:t>
            </a:r>
            <a:endParaRPr lang="en-US" sz="1200" dirty="0"/>
          </a:p>
        </p:txBody>
      </p:sp>
      <p:sp>
        <p:nvSpPr>
          <p:cNvPr id="26" name="Shape 24"/>
          <p:cNvSpPr/>
          <p:nvPr/>
        </p:nvSpPr>
        <p:spPr>
          <a:xfrm>
            <a:off x="7498080" y="1828800"/>
            <a:ext cx="1261872" cy="1554480"/>
          </a:xfrm>
          <a:prstGeom prst="roundRect">
            <a:avLst>
              <a:gd name="adj" fmla="val 8696"/>
            </a:avLst>
          </a:prstGeom>
          <a:solidFill>
            <a:srgbClr val="EEF5F5"/>
          </a:solidFill>
          <a:ln w="12700">
            <a:solidFill>
              <a:srgbClr val="EEF5F5"/>
            </a:solidFill>
            <a:prstDash val="solid"/>
          </a:ln>
        </p:spPr>
      </p:sp>
      <p:sp>
        <p:nvSpPr>
          <p:cNvPr id="27" name="Shape 25"/>
          <p:cNvSpPr/>
          <p:nvPr/>
        </p:nvSpPr>
        <p:spPr>
          <a:xfrm>
            <a:off x="7872984" y="1993392"/>
            <a:ext cx="512064" cy="512064"/>
          </a:xfrm>
          <a:prstGeom prst="ellipse">
            <a:avLst/>
          </a:prstGeom>
          <a:solidFill>
            <a:srgbClr val="12505F"/>
          </a:solidFill>
          <a:ln w="12700">
            <a:solidFill>
              <a:srgbClr val="12505F"/>
            </a:solidFill>
            <a:prstDash val="solid"/>
          </a:ln>
        </p:spPr>
      </p:sp>
      <p:sp>
        <p:nvSpPr>
          <p:cNvPr id="28" name="Text 26"/>
          <p:cNvSpPr txBox="1"/>
          <p:nvPr/>
        </p:nvSpPr>
        <p:spPr>
          <a:xfrm>
            <a:off x="7872984"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9" name="Text 27"/>
          <p:cNvSpPr txBox="1"/>
          <p:nvPr/>
        </p:nvSpPr>
        <p:spPr>
          <a:xfrm>
            <a:off x="7552944"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Kịch bản khuyến mãi</a:t>
            </a:r>
            <a:endParaRPr lang="en-US" sz="1200" dirty="0"/>
          </a:p>
        </p:txBody>
      </p:sp>
      <p:sp>
        <p:nvSpPr>
          <p:cNvPr id="30" name="Shape 28"/>
          <p:cNvSpPr/>
          <p:nvPr/>
        </p:nvSpPr>
        <p:spPr>
          <a:xfrm>
            <a:off x="8887968" y="1828800"/>
            <a:ext cx="1261872" cy="1554480"/>
          </a:xfrm>
          <a:prstGeom prst="roundRect">
            <a:avLst>
              <a:gd name="adj" fmla="val 8696"/>
            </a:avLst>
          </a:prstGeom>
          <a:solidFill>
            <a:srgbClr val="EEF5F5"/>
          </a:solidFill>
          <a:ln w="12700">
            <a:solidFill>
              <a:srgbClr val="EEF5F5"/>
            </a:solidFill>
            <a:prstDash val="solid"/>
          </a:ln>
        </p:spPr>
      </p:sp>
      <p:sp>
        <p:nvSpPr>
          <p:cNvPr id="31" name="Shape 29"/>
          <p:cNvSpPr/>
          <p:nvPr/>
        </p:nvSpPr>
        <p:spPr>
          <a:xfrm>
            <a:off x="9262872" y="1993392"/>
            <a:ext cx="512064" cy="512064"/>
          </a:xfrm>
          <a:prstGeom prst="ellipse">
            <a:avLst/>
          </a:prstGeom>
          <a:solidFill>
            <a:srgbClr val="12505F"/>
          </a:solidFill>
          <a:ln w="12700">
            <a:solidFill>
              <a:srgbClr val="12505F"/>
            </a:solidFill>
            <a:prstDash val="solid"/>
          </a:ln>
        </p:spPr>
      </p:sp>
      <p:sp>
        <p:nvSpPr>
          <p:cNvPr id="32" name="Text 30"/>
          <p:cNvSpPr txBox="1"/>
          <p:nvPr/>
        </p:nvSpPr>
        <p:spPr>
          <a:xfrm>
            <a:off x="9262872"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3" name="Text 31"/>
          <p:cNvSpPr txBox="1"/>
          <p:nvPr/>
        </p:nvSpPr>
        <p:spPr>
          <a:xfrm>
            <a:off x="8942832"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Tồn kho Newsvendor</a:t>
            </a:r>
            <a:endParaRPr lang="en-US" sz="1200" dirty="0"/>
          </a:p>
        </p:txBody>
      </p:sp>
      <p:sp>
        <p:nvSpPr>
          <p:cNvPr id="34" name="Shape 32"/>
          <p:cNvSpPr/>
          <p:nvPr/>
        </p:nvSpPr>
        <p:spPr>
          <a:xfrm>
            <a:off x="10277856" y="1828800"/>
            <a:ext cx="1261872" cy="1554480"/>
          </a:xfrm>
          <a:prstGeom prst="roundRect">
            <a:avLst>
              <a:gd name="adj" fmla="val 8696"/>
            </a:avLst>
          </a:prstGeom>
          <a:solidFill>
            <a:srgbClr val="EEF5F5"/>
          </a:solidFill>
          <a:ln w="12700">
            <a:solidFill>
              <a:srgbClr val="EEF5F5"/>
            </a:solidFill>
            <a:prstDash val="solid"/>
          </a:ln>
        </p:spPr>
      </p:sp>
      <p:sp>
        <p:nvSpPr>
          <p:cNvPr id="35" name="Shape 33"/>
          <p:cNvSpPr/>
          <p:nvPr/>
        </p:nvSpPr>
        <p:spPr>
          <a:xfrm>
            <a:off x="10652760" y="1993392"/>
            <a:ext cx="512064" cy="512064"/>
          </a:xfrm>
          <a:prstGeom prst="ellipse">
            <a:avLst/>
          </a:prstGeom>
          <a:solidFill>
            <a:srgbClr val="12505F"/>
          </a:solidFill>
          <a:ln w="12700">
            <a:solidFill>
              <a:srgbClr val="12505F"/>
            </a:solidFill>
            <a:prstDash val="solid"/>
          </a:ln>
        </p:spPr>
      </p:sp>
      <p:sp>
        <p:nvSpPr>
          <p:cNvPr id="36" name="Text 34"/>
          <p:cNvSpPr txBox="1"/>
          <p:nvPr/>
        </p:nvSpPr>
        <p:spPr>
          <a:xfrm>
            <a:off x="10652760" y="199339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37" name="Text 35"/>
          <p:cNvSpPr txBox="1"/>
          <p:nvPr/>
        </p:nvSpPr>
        <p:spPr>
          <a:xfrm>
            <a:off x="10332720" y="263347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Phiếu khuyến nghị + RAG</a:t>
            </a:r>
            <a:endParaRPr lang="en-US" sz="1200" dirty="0"/>
          </a:p>
        </p:txBody>
      </p:sp>
      <p:sp>
        <p:nvSpPr>
          <p:cNvPr id="38" name="Shape 36"/>
          <p:cNvSpPr/>
          <p:nvPr/>
        </p:nvSpPr>
        <p:spPr>
          <a:xfrm>
            <a:off x="1243584" y="3840480"/>
            <a:ext cx="1261872" cy="1554480"/>
          </a:xfrm>
          <a:prstGeom prst="roundRect">
            <a:avLst>
              <a:gd name="adj" fmla="val 8696"/>
            </a:avLst>
          </a:prstGeom>
          <a:solidFill>
            <a:srgbClr val="EEF5F5"/>
          </a:solidFill>
          <a:ln w="12700">
            <a:solidFill>
              <a:srgbClr val="EEF5F5"/>
            </a:solidFill>
            <a:prstDash val="solid"/>
          </a:ln>
        </p:spPr>
      </p:sp>
      <p:sp>
        <p:nvSpPr>
          <p:cNvPr id="39" name="Shape 37"/>
          <p:cNvSpPr/>
          <p:nvPr/>
        </p:nvSpPr>
        <p:spPr>
          <a:xfrm>
            <a:off x="1618488" y="4005072"/>
            <a:ext cx="512064" cy="512064"/>
          </a:xfrm>
          <a:prstGeom prst="ellipse">
            <a:avLst/>
          </a:prstGeom>
          <a:solidFill>
            <a:srgbClr val="E8A33D"/>
          </a:solidFill>
          <a:ln w="12700">
            <a:solidFill>
              <a:srgbClr val="E8A33D"/>
            </a:solidFill>
            <a:prstDash val="solid"/>
          </a:ln>
        </p:spPr>
      </p:sp>
      <p:sp>
        <p:nvSpPr>
          <p:cNvPr id="40" name="Text 38"/>
          <p:cNvSpPr txBox="1"/>
          <p:nvPr/>
        </p:nvSpPr>
        <p:spPr>
          <a:xfrm>
            <a:off x="1618488"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1" name="Text 39"/>
          <p:cNvSpPr txBox="1"/>
          <p:nvPr/>
        </p:nvSpPr>
        <p:spPr>
          <a:xfrm>
            <a:off x="1298448"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Tổng hợp nghiên cứu</a:t>
            </a:r>
            <a:endParaRPr lang="en-US" sz="1200" dirty="0"/>
          </a:p>
        </p:txBody>
      </p:sp>
      <p:sp>
        <p:nvSpPr>
          <p:cNvPr id="42" name="Shape 40"/>
          <p:cNvSpPr/>
          <p:nvPr/>
        </p:nvSpPr>
        <p:spPr>
          <a:xfrm>
            <a:off x="2633472" y="3840480"/>
            <a:ext cx="1261872" cy="1554480"/>
          </a:xfrm>
          <a:prstGeom prst="roundRect">
            <a:avLst>
              <a:gd name="adj" fmla="val 8696"/>
            </a:avLst>
          </a:prstGeom>
          <a:solidFill>
            <a:srgbClr val="EEF5F5"/>
          </a:solidFill>
          <a:ln w="12700">
            <a:solidFill>
              <a:srgbClr val="EEF5F5"/>
            </a:solidFill>
            <a:prstDash val="solid"/>
          </a:ln>
        </p:spPr>
      </p:sp>
      <p:sp>
        <p:nvSpPr>
          <p:cNvPr id="43" name="Shape 41"/>
          <p:cNvSpPr/>
          <p:nvPr/>
        </p:nvSpPr>
        <p:spPr>
          <a:xfrm>
            <a:off x="3008376" y="4005072"/>
            <a:ext cx="512064" cy="512064"/>
          </a:xfrm>
          <a:prstGeom prst="ellipse">
            <a:avLst/>
          </a:prstGeom>
          <a:solidFill>
            <a:srgbClr val="E8A33D"/>
          </a:solidFill>
          <a:ln w="12700">
            <a:solidFill>
              <a:srgbClr val="E8A33D"/>
            </a:solidFill>
            <a:prstDash val="solid"/>
          </a:ln>
        </p:spPr>
      </p:sp>
      <p:sp>
        <p:nvSpPr>
          <p:cNvPr id="44" name="Text 42"/>
          <p:cNvSpPr txBox="1"/>
          <p:nvPr/>
        </p:nvSpPr>
        <p:spPr>
          <a:xfrm>
            <a:off x="3008376"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5" name="Text 43"/>
          <p:cNvSpPr txBox="1"/>
          <p:nvPr/>
        </p:nvSpPr>
        <p:spPr>
          <a:xfrm>
            <a:off x="2688336"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Smoke test</a:t>
            </a:r>
            <a:endParaRPr lang="en-US" sz="1200" dirty="0"/>
          </a:p>
        </p:txBody>
      </p:sp>
      <p:sp>
        <p:nvSpPr>
          <p:cNvPr id="46" name="Shape 44"/>
          <p:cNvSpPr/>
          <p:nvPr/>
        </p:nvSpPr>
        <p:spPr>
          <a:xfrm>
            <a:off x="4023360" y="3840480"/>
            <a:ext cx="1261872" cy="1554480"/>
          </a:xfrm>
          <a:prstGeom prst="roundRect">
            <a:avLst>
              <a:gd name="adj" fmla="val 8696"/>
            </a:avLst>
          </a:prstGeom>
          <a:solidFill>
            <a:srgbClr val="EEF5F5"/>
          </a:solidFill>
          <a:ln w="12700">
            <a:solidFill>
              <a:srgbClr val="EEF5F5"/>
            </a:solidFill>
            <a:prstDash val="solid"/>
          </a:ln>
        </p:spPr>
      </p:sp>
      <p:sp>
        <p:nvSpPr>
          <p:cNvPr id="47" name="Shape 45"/>
          <p:cNvSpPr/>
          <p:nvPr/>
        </p:nvSpPr>
        <p:spPr>
          <a:xfrm>
            <a:off x="4398264" y="4005072"/>
            <a:ext cx="512064" cy="512064"/>
          </a:xfrm>
          <a:prstGeom prst="ellipse">
            <a:avLst/>
          </a:prstGeom>
          <a:solidFill>
            <a:srgbClr val="E8A33D"/>
          </a:solidFill>
          <a:ln w="12700">
            <a:solidFill>
              <a:srgbClr val="E8A33D"/>
            </a:solidFill>
            <a:prstDash val="solid"/>
          </a:ln>
        </p:spPr>
      </p:sp>
      <p:sp>
        <p:nvSpPr>
          <p:cNvPr id="48" name="Text 46"/>
          <p:cNvSpPr txBox="1"/>
          <p:nvPr/>
        </p:nvSpPr>
        <p:spPr>
          <a:xfrm>
            <a:off x="4398264"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9" name="Text 47"/>
          <p:cNvSpPr txBox="1"/>
          <p:nvPr/>
        </p:nvSpPr>
        <p:spPr>
          <a:xfrm>
            <a:off x="4078224"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Chẩn đoán sai số</a:t>
            </a:r>
            <a:endParaRPr lang="en-US" sz="1200" dirty="0"/>
          </a:p>
        </p:txBody>
      </p:sp>
      <p:sp>
        <p:nvSpPr>
          <p:cNvPr id="50" name="Shape 48"/>
          <p:cNvSpPr/>
          <p:nvPr/>
        </p:nvSpPr>
        <p:spPr>
          <a:xfrm>
            <a:off x="5413248" y="3840480"/>
            <a:ext cx="1261872" cy="1554480"/>
          </a:xfrm>
          <a:prstGeom prst="roundRect">
            <a:avLst>
              <a:gd name="adj" fmla="val 8696"/>
            </a:avLst>
          </a:prstGeom>
          <a:solidFill>
            <a:srgbClr val="EEF5F5"/>
          </a:solidFill>
          <a:ln w="12700">
            <a:solidFill>
              <a:srgbClr val="EEF5F5"/>
            </a:solidFill>
            <a:prstDash val="solid"/>
          </a:ln>
        </p:spPr>
      </p:sp>
      <p:sp>
        <p:nvSpPr>
          <p:cNvPr id="51" name="Shape 49"/>
          <p:cNvSpPr/>
          <p:nvPr/>
        </p:nvSpPr>
        <p:spPr>
          <a:xfrm>
            <a:off x="5788152" y="4005072"/>
            <a:ext cx="512064" cy="512064"/>
          </a:xfrm>
          <a:prstGeom prst="ellipse">
            <a:avLst/>
          </a:prstGeom>
          <a:solidFill>
            <a:srgbClr val="E8A33D"/>
          </a:solidFill>
          <a:ln w="12700">
            <a:solidFill>
              <a:srgbClr val="E8A33D"/>
            </a:solidFill>
            <a:prstDash val="solid"/>
          </a:ln>
        </p:spPr>
      </p:sp>
      <p:sp>
        <p:nvSpPr>
          <p:cNvPr id="52" name="Text 50"/>
          <p:cNvSpPr txBox="1"/>
          <p:nvPr/>
        </p:nvSpPr>
        <p:spPr>
          <a:xfrm>
            <a:off x="5788152"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3" name="Text 51"/>
          <p:cNvSpPr txBox="1"/>
          <p:nvPr/>
        </p:nvSpPr>
        <p:spPr>
          <a:xfrm>
            <a:off x="5468112"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Trường hợp đại diện</a:t>
            </a:r>
            <a:endParaRPr lang="en-US" sz="1200" dirty="0"/>
          </a:p>
        </p:txBody>
      </p:sp>
      <p:sp>
        <p:nvSpPr>
          <p:cNvPr id="54" name="Shape 52"/>
          <p:cNvSpPr/>
          <p:nvPr/>
        </p:nvSpPr>
        <p:spPr>
          <a:xfrm>
            <a:off x="6803136" y="3840480"/>
            <a:ext cx="1261872" cy="1554480"/>
          </a:xfrm>
          <a:prstGeom prst="roundRect">
            <a:avLst>
              <a:gd name="adj" fmla="val 8696"/>
            </a:avLst>
          </a:prstGeom>
          <a:solidFill>
            <a:srgbClr val="EEF5F5"/>
          </a:solidFill>
          <a:ln w="12700">
            <a:solidFill>
              <a:srgbClr val="EEF5F5"/>
            </a:solidFill>
            <a:prstDash val="solid"/>
          </a:ln>
        </p:spPr>
      </p:sp>
      <p:sp>
        <p:nvSpPr>
          <p:cNvPr id="55" name="Shape 53"/>
          <p:cNvSpPr/>
          <p:nvPr/>
        </p:nvSpPr>
        <p:spPr>
          <a:xfrm>
            <a:off x="7178040" y="4005072"/>
            <a:ext cx="512064" cy="512064"/>
          </a:xfrm>
          <a:prstGeom prst="ellipse">
            <a:avLst/>
          </a:prstGeom>
          <a:solidFill>
            <a:srgbClr val="E8A33D"/>
          </a:solidFill>
          <a:ln w="12700">
            <a:solidFill>
              <a:srgbClr val="E8A33D"/>
            </a:solidFill>
            <a:prstDash val="solid"/>
          </a:ln>
        </p:spPr>
      </p:sp>
      <p:sp>
        <p:nvSpPr>
          <p:cNvPr id="56" name="Text 54"/>
          <p:cNvSpPr txBox="1"/>
          <p:nvPr/>
        </p:nvSpPr>
        <p:spPr>
          <a:xfrm>
            <a:off x="7178040"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57" name="Text 55"/>
          <p:cNvSpPr txBox="1"/>
          <p:nvPr/>
        </p:nvSpPr>
        <p:spPr>
          <a:xfrm>
            <a:off x="6858000"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REPORT_READY</a:t>
            </a:r>
            <a:endParaRPr lang="en-US" sz="1200" dirty="0"/>
          </a:p>
        </p:txBody>
      </p:sp>
      <p:sp>
        <p:nvSpPr>
          <p:cNvPr id="58" name="Shape 56"/>
          <p:cNvSpPr/>
          <p:nvPr/>
        </p:nvSpPr>
        <p:spPr>
          <a:xfrm>
            <a:off x="8193024" y="3840480"/>
            <a:ext cx="1261872" cy="1554480"/>
          </a:xfrm>
          <a:prstGeom prst="roundRect">
            <a:avLst>
              <a:gd name="adj" fmla="val 8696"/>
            </a:avLst>
          </a:prstGeom>
          <a:solidFill>
            <a:srgbClr val="EEF5F5"/>
          </a:solidFill>
          <a:ln w="12700">
            <a:solidFill>
              <a:srgbClr val="EEF5F5"/>
            </a:solidFill>
            <a:prstDash val="solid"/>
          </a:ln>
        </p:spPr>
      </p:sp>
      <p:sp>
        <p:nvSpPr>
          <p:cNvPr id="59" name="Shape 57"/>
          <p:cNvSpPr/>
          <p:nvPr/>
        </p:nvSpPr>
        <p:spPr>
          <a:xfrm>
            <a:off x="8567928" y="4005072"/>
            <a:ext cx="512064" cy="512064"/>
          </a:xfrm>
          <a:prstGeom prst="ellipse">
            <a:avLst/>
          </a:prstGeom>
          <a:solidFill>
            <a:srgbClr val="E8A33D"/>
          </a:solidFill>
          <a:ln w="12700">
            <a:solidFill>
              <a:srgbClr val="E8A33D"/>
            </a:solidFill>
            <a:prstDash val="solid"/>
          </a:ln>
        </p:spPr>
      </p:sp>
      <p:sp>
        <p:nvSpPr>
          <p:cNvPr id="60" name="Text 58"/>
          <p:cNvSpPr txBox="1"/>
          <p:nvPr/>
        </p:nvSpPr>
        <p:spPr>
          <a:xfrm>
            <a:off x="8567928"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61" name="Text 59"/>
          <p:cNvSpPr txBox="1"/>
          <p:nvPr/>
        </p:nvSpPr>
        <p:spPr>
          <a:xfrm>
            <a:off x="8247888"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Thí nghiệm độ nhạy</a:t>
            </a:r>
            <a:endParaRPr lang="en-US" sz="1200" dirty="0"/>
          </a:p>
        </p:txBody>
      </p:sp>
      <p:sp>
        <p:nvSpPr>
          <p:cNvPr id="62" name="Shape 60"/>
          <p:cNvSpPr/>
          <p:nvPr/>
        </p:nvSpPr>
        <p:spPr>
          <a:xfrm>
            <a:off x="9582912" y="3840480"/>
            <a:ext cx="1261872" cy="1554480"/>
          </a:xfrm>
          <a:prstGeom prst="roundRect">
            <a:avLst>
              <a:gd name="adj" fmla="val 8696"/>
            </a:avLst>
          </a:prstGeom>
          <a:solidFill>
            <a:srgbClr val="EEF5F5"/>
          </a:solidFill>
          <a:ln w="12700">
            <a:solidFill>
              <a:srgbClr val="EEF5F5"/>
            </a:solidFill>
            <a:prstDash val="solid"/>
          </a:ln>
        </p:spPr>
      </p:sp>
      <p:sp>
        <p:nvSpPr>
          <p:cNvPr id="63" name="Shape 61"/>
          <p:cNvSpPr/>
          <p:nvPr/>
        </p:nvSpPr>
        <p:spPr>
          <a:xfrm>
            <a:off x="9957816" y="4005072"/>
            <a:ext cx="512064" cy="512064"/>
          </a:xfrm>
          <a:prstGeom prst="ellipse">
            <a:avLst/>
          </a:prstGeom>
          <a:solidFill>
            <a:srgbClr val="E8A33D"/>
          </a:solidFill>
          <a:ln w="12700">
            <a:solidFill>
              <a:srgbClr val="E8A33D"/>
            </a:solidFill>
            <a:prstDash val="solid"/>
          </a:ln>
        </p:spPr>
      </p:sp>
      <p:sp>
        <p:nvSpPr>
          <p:cNvPr id="64" name="Text 62"/>
          <p:cNvSpPr txBox="1"/>
          <p:nvPr/>
        </p:nvSpPr>
        <p:spPr>
          <a:xfrm>
            <a:off x="9957816" y="400507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a:t>
            </a:r>
            <a:endParaRPr lang="en-US" sz="1400" dirty="0"/>
          </a:p>
        </p:txBody>
      </p:sp>
      <p:sp>
        <p:nvSpPr>
          <p:cNvPr id="65" name="Text 63"/>
          <p:cNvSpPr txBox="1"/>
          <p:nvPr/>
        </p:nvSpPr>
        <p:spPr>
          <a:xfrm>
            <a:off x="9637776" y="4645152"/>
            <a:ext cx="1152144" cy="658368"/>
          </a:xfrm>
          <a:prstGeom prst="rect">
            <a:avLst/>
          </a:prstGeom>
          <a:noFill/>
          <a:ln/>
        </p:spPr>
        <p:txBody>
          <a:bodyPr wrap="square" lIns="0" tIns="0" rIns="0" bIns="0" rtlCol="0" anchor="t"/>
          <a:lstStyle/>
          <a:p>
            <a:pPr algn="ctr" indent="0" marL="0">
              <a:buNone/>
            </a:pPr>
            <a:r>
              <a:rPr lang="en-US" sz="1200" b="1" dirty="0">
                <a:solidFill>
                  <a:srgbClr val="0E2A33"/>
                </a:solidFill>
                <a:latin typeface="Calibri" pitchFamily="34" charset="0"/>
                <a:ea typeface="Calibri" pitchFamily="34" charset="-122"/>
                <a:cs typeface="Calibri" pitchFamily="34" charset="-120"/>
              </a:rPr>
              <a:t>Dashboard + HITL</a:t>
            </a:r>
            <a:endParaRPr lang="en-US" sz="1200" dirty="0"/>
          </a:p>
        </p:txBody>
      </p:sp>
      <p:sp>
        <p:nvSpPr>
          <p:cNvPr id="66" name="Text 64"/>
          <p:cNvSpPr txBox="1"/>
          <p:nvPr/>
        </p:nvSpPr>
        <p:spPr>
          <a:xfrm>
            <a:off x="548640" y="5760720"/>
            <a:ext cx="11094415" cy="274320"/>
          </a:xfrm>
          <a:prstGeom prst="rect">
            <a:avLst/>
          </a:prstGeom>
          <a:noFill/>
          <a:ln/>
        </p:spPr>
        <p:txBody>
          <a:bodyPr wrap="square" lIns="0" tIns="0" rIns="0" bIns="0" rtlCol="0" anchor="t"/>
          <a:lstStyle/>
          <a:p>
            <a:pPr algn="r" indent="0" marL="0">
              <a:buNone/>
            </a:pPr>
            <a:r>
              <a:rPr lang="en-US" sz="1200" dirty="0">
                <a:solidFill>
                  <a:srgbClr val="1B8A8F"/>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Dữ liệu &amp; mô hình    </a:t>
            </a:r>
            <a:pPr algn="r" indent="0" marL="0">
              <a:buNone/>
            </a:pPr>
            <a:r>
              <a:rPr lang="en-US" sz="1200" dirty="0">
                <a:solidFill>
                  <a:srgbClr val="12505F"/>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Bất định &amp; quyết định    </a:t>
            </a:r>
            <a:pPr algn="r" indent="0" marL="0">
              <a:buNone/>
            </a:pPr>
            <a:r>
              <a:rPr lang="en-US" sz="1200" dirty="0">
                <a:solidFill>
                  <a:srgbClr val="E8A33D"/>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Kiểm thử, diễn giải &amp; vận hành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NGUYÊN TẮC THIẾT KẾ</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Mười hai nguyên tắc thiết kế của quy trình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54480"/>
            <a:ext cx="3566160" cy="841248"/>
          </a:xfrm>
          <a:prstGeom prst="roundRect">
            <a:avLst>
              <a:gd name="adj" fmla="val 13043"/>
            </a:avLst>
          </a:prstGeom>
          <a:solidFill>
            <a:srgbClr val="EEF5F5"/>
          </a:solidFill>
          <a:ln w="12700">
            <a:solidFill>
              <a:srgbClr val="EEF5F5"/>
            </a:solidFill>
            <a:prstDash val="solid"/>
          </a:ln>
        </p:spPr>
      </p:sp>
      <p:sp>
        <p:nvSpPr>
          <p:cNvPr id="7" name="Shape 5"/>
          <p:cNvSpPr/>
          <p:nvPr/>
        </p:nvSpPr>
        <p:spPr>
          <a:xfrm>
            <a:off x="685800" y="1737360"/>
            <a:ext cx="457200" cy="457200"/>
          </a:xfrm>
          <a:prstGeom prst="ellipse">
            <a:avLst/>
          </a:prstGeom>
          <a:solidFill>
            <a:srgbClr val="1B8A8F"/>
          </a:solidFill>
          <a:ln w="12700">
            <a:solidFill>
              <a:srgbClr val="1B8A8F"/>
            </a:solidFill>
            <a:prstDash val="solid"/>
          </a:ln>
        </p:spPr>
      </p:sp>
      <p:sp>
        <p:nvSpPr>
          <p:cNvPr id="8" name="Text 6"/>
          <p:cNvSpPr txBox="1"/>
          <p:nvPr/>
        </p:nvSpPr>
        <p:spPr>
          <a:xfrm>
            <a:off x="685800"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80160" y="1664208"/>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Seasonal Naive cố định tại gốc dự báo</a:t>
            </a:r>
            <a:endParaRPr lang="en-US" sz="1400" dirty="0"/>
          </a:p>
        </p:txBody>
      </p:sp>
      <p:sp>
        <p:nvSpPr>
          <p:cNvPr id="10" name="Shape 8"/>
          <p:cNvSpPr/>
          <p:nvPr/>
        </p:nvSpPr>
        <p:spPr>
          <a:xfrm>
            <a:off x="4297680" y="1554480"/>
            <a:ext cx="3566160" cy="841248"/>
          </a:xfrm>
          <a:prstGeom prst="roundRect">
            <a:avLst>
              <a:gd name="adj" fmla="val 13043"/>
            </a:avLst>
          </a:prstGeom>
          <a:solidFill>
            <a:srgbClr val="EEF5F5"/>
          </a:solidFill>
          <a:ln w="12700">
            <a:solidFill>
              <a:srgbClr val="EEF5F5"/>
            </a:solidFill>
            <a:prstDash val="solid"/>
          </a:ln>
        </p:spPr>
      </p:sp>
      <p:sp>
        <p:nvSpPr>
          <p:cNvPr id="11" name="Shape 9"/>
          <p:cNvSpPr/>
          <p:nvPr/>
        </p:nvSpPr>
        <p:spPr>
          <a:xfrm>
            <a:off x="4434840" y="1737360"/>
            <a:ext cx="457200" cy="457200"/>
          </a:xfrm>
          <a:prstGeom prst="ellipse">
            <a:avLst/>
          </a:prstGeom>
          <a:solidFill>
            <a:srgbClr val="1B8A8F"/>
          </a:solidFill>
          <a:ln w="12700">
            <a:solidFill>
              <a:srgbClr val="1B8A8F"/>
            </a:solidFill>
            <a:prstDash val="solid"/>
          </a:ln>
        </p:spPr>
      </p:sp>
      <p:sp>
        <p:nvSpPr>
          <p:cNvPr id="12" name="Text 10"/>
          <p:cNvSpPr txBox="1"/>
          <p:nvPr/>
        </p:nvSpPr>
        <p:spPr>
          <a:xfrm>
            <a:off x="4434840"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5029200" y="1664208"/>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Lịch ngày đầy đủ, 25/12 gắn cờ đóng cửa</a:t>
            </a:r>
            <a:endParaRPr lang="en-US" sz="1400" dirty="0"/>
          </a:p>
        </p:txBody>
      </p:sp>
      <p:sp>
        <p:nvSpPr>
          <p:cNvPr id="14" name="Shape 12"/>
          <p:cNvSpPr/>
          <p:nvPr/>
        </p:nvSpPr>
        <p:spPr>
          <a:xfrm>
            <a:off x="8046720" y="1554480"/>
            <a:ext cx="3566160" cy="841248"/>
          </a:xfrm>
          <a:prstGeom prst="roundRect">
            <a:avLst>
              <a:gd name="adj" fmla="val 13043"/>
            </a:avLst>
          </a:prstGeom>
          <a:solidFill>
            <a:srgbClr val="EEF5F5"/>
          </a:solidFill>
          <a:ln w="12700">
            <a:solidFill>
              <a:srgbClr val="EEF5F5"/>
            </a:solidFill>
            <a:prstDash val="solid"/>
          </a:ln>
        </p:spPr>
      </p:sp>
      <p:sp>
        <p:nvSpPr>
          <p:cNvPr id="15" name="Shape 13"/>
          <p:cNvSpPr/>
          <p:nvPr/>
        </p:nvSpPr>
        <p:spPr>
          <a:xfrm>
            <a:off x="8183880" y="1737360"/>
            <a:ext cx="457200" cy="457200"/>
          </a:xfrm>
          <a:prstGeom prst="ellipse">
            <a:avLst/>
          </a:prstGeom>
          <a:solidFill>
            <a:srgbClr val="1B8A8F"/>
          </a:solidFill>
          <a:ln w="12700">
            <a:solidFill>
              <a:srgbClr val="1B8A8F"/>
            </a:solidFill>
            <a:prstDash val="solid"/>
          </a:ln>
        </p:spPr>
      </p:sp>
      <p:sp>
        <p:nvSpPr>
          <p:cNvPr id="16" name="Text 14"/>
          <p:cNvSpPr txBox="1"/>
          <p:nvPr/>
        </p:nvSpPr>
        <p:spPr>
          <a:xfrm>
            <a:off x="8183880"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778240" y="1664208"/>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Giá dầu dịch 16 ngày lịch</a:t>
            </a:r>
            <a:endParaRPr lang="en-US" sz="1400" dirty="0"/>
          </a:p>
        </p:txBody>
      </p:sp>
      <p:sp>
        <p:nvSpPr>
          <p:cNvPr id="18" name="Shape 16"/>
          <p:cNvSpPr/>
          <p:nvPr/>
        </p:nvSpPr>
        <p:spPr>
          <a:xfrm>
            <a:off x="548640" y="2578608"/>
            <a:ext cx="3566160" cy="841248"/>
          </a:xfrm>
          <a:prstGeom prst="roundRect">
            <a:avLst>
              <a:gd name="adj" fmla="val 13043"/>
            </a:avLst>
          </a:prstGeom>
          <a:solidFill>
            <a:srgbClr val="EEF5F5"/>
          </a:solidFill>
          <a:ln w="12700">
            <a:solidFill>
              <a:srgbClr val="EEF5F5"/>
            </a:solidFill>
            <a:prstDash val="solid"/>
          </a:ln>
        </p:spPr>
      </p:sp>
      <p:sp>
        <p:nvSpPr>
          <p:cNvPr id="19" name="Shape 17"/>
          <p:cNvSpPr/>
          <p:nvPr/>
        </p:nvSpPr>
        <p:spPr>
          <a:xfrm>
            <a:off x="685800" y="2761488"/>
            <a:ext cx="457200" cy="457200"/>
          </a:xfrm>
          <a:prstGeom prst="ellipse">
            <a:avLst/>
          </a:prstGeom>
          <a:solidFill>
            <a:srgbClr val="1B8A8F"/>
          </a:solidFill>
          <a:ln w="12700">
            <a:solidFill>
              <a:srgbClr val="1B8A8F"/>
            </a:solidFill>
            <a:prstDash val="solid"/>
          </a:ln>
        </p:spPr>
      </p:sp>
      <p:sp>
        <p:nvSpPr>
          <p:cNvPr id="20" name="Text 18"/>
          <p:cNvSpPr txBox="1"/>
          <p:nvPr/>
        </p:nvSpPr>
        <p:spPr>
          <a:xfrm>
            <a:off x="685800" y="27614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280160" y="2688336"/>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Giao dịch tính trên lịch từng cửa hàng</a:t>
            </a:r>
            <a:endParaRPr lang="en-US" sz="1400" dirty="0"/>
          </a:p>
        </p:txBody>
      </p:sp>
      <p:sp>
        <p:nvSpPr>
          <p:cNvPr id="22" name="Shape 20"/>
          <p:cNvSpPr/>
          <p:nvPr/>
        </p:nvSpPr>
        <p:spPr>
          <a:xfrm>
            <a:off x="4297680" y="2578608"/>
            <a:ext cx="3566160" cy="841248"/>
          </a:xfrm>
          <a:prstGeom prst="roundRect">
            <a:avLst>
              <a:gd name="adj" fmla="val 13043"/>
            </a:avLst>
          </a:prstGeom>
          <a:solidFill>
            <a:srgbClr val="EEF5F5"/>
          </a:solidFill>
          <a:ln w="12700">
            <a:solidFill>
              <a:srgbClr val="EEF5F5"/>
            </a:solidFill>
            <a:prstDash val="solid"/>
          </a:ln>
        </p:spPr>
      </p:sp>
      <p:sp>
        <p:nvSpPr>
          <p:cNvPr id="23" name="Shape 21"/>
          <p:cNvSpPr/>
          <p:nvPr/>
        </p:nvSpPr>
        <p:spPr>
          <a:xfrm>
            <a:off x="4434840" y="2761488"/>
            <a:ext cx="457200" cy="457200"/>
          </a:xfrm>
          <a:prstGeom prst="ellipse">
            <a:avLst/>
          </a:prstGeom>
          <a:solidFill>
            <a:srgbClr val="1B8A8F"/>
          </a:solidFill>
          <a:ln w="12700">
            <a:solidFill>
              <a:srgbClr val="1B8A8F"/>
            </a:solidFill>
            <a:prstDash val="solid"/>
          </a:ln>
        </p:spPr>
      </p:sp>
      <p:sp>
        <p:nvSpPr>
          <p:cNvPr id="24" name="Text 22"/>
          <p:cNvSpPr txBox="1"/>
          <p:nvPr/>
        </p:nvSpPr>
        <p:spPr>
          <a:xfrm>
            <a:off x="4434840" y="27614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txBox="1"/>
          <p:nvPr/>
        </p:nvSpPr>
        <p:spPr>
          <a:xfrm>
            <a:off x="5029200" y="2688336"/>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Ngày lễ quốc gia loại Work Day</a:t>
            </a:r>
            <a:endParaRPr lang="en-US" sz="1400" dirty="0"/>
          </a:p>
        </p:txBody>
      </p:sp>
      <p:sp>
        <p:nvSpPr>
          <p:cNvPr id="26" name="Shape 24"/>
          <p:cNvSpPr/>
          <p:nvPr/>
        </p:nvSpPr>
        <p:spPr>
          <a:xfrm>
            <a:off x="8046720" y="2578608"/>
            <a:ext cx="3566160" cy="841248"/>
          </a:xfrm>
          <a:prstGeom prst="roundRect">
            <a:avLst>
              <a:gd name="adj" fmla="val 13043"/>
            </a:avLst>
          </a:prstGeom>
          <a:solidFill>
            <a:srgbClr val="EEF5F5"/>
          </a:solidFill>
          <a:ln w="12700">
            <a:solidFill>
              <a:srgbClr val="EEF5F5"/>
            </a:solidFill>
            <a:prstDash val="solid"/>
          </a:ln>
        </p:spPr>
      </p:sp>
      <p:sp>
        <p:nvSpPr>
          <p:cNvPr id="27" name="Shape 25"/>
          <p:cNvSpPr/>
          <p:nvPr/>
        </p:nvSpPr>
        <p:spPr>
          <a:xfrm>
            <a:off x="8183880" y="2761488"/>
            <a:ext cx="457200" cy="457200"/>
          </a:xfrm>
          <a:prstGeom prst="ellipse">
            <a:avLst/>
          </a:prstGeom>
          <a:solidFill>
            <a:srgbClr val="1B8A8F"/>
          </a:solidFill>
          <a:ln w="12700">
            <a:solidFill>
              <a:srgbClr val="1B8A8F"/>
            </a:solidFill>
            <a:prstDash val="solid"/>
          </a:ln>
        </p:spPr>
      </p:sp>
      <p:sp>
        <p:nvSpPr>
          <p:cNvPr id="28" name="Text 26"/>
          <p:cNvSpPr txBox="1"/>
          <p:nvPr/>
        </p:nvSpPr>
        <p:spPr>
          <a:xfrm>
            <a:off x="8183880" y="27614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9" name="Text 27"/>
          <p:cNvSpPr txBox="1"/>
          <p:nvPr/>
        </p:nvSpPr>
        <p:spPr>
          <a:xfrm>
            <a:off x="8778240" y="2688336"/>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Mô hình dùng độ trễ ≥ 16 ngày</a:t>
            </a:r>
            <a:endParaRPr lang="en-US" sz="1400" dirty="0"/>
          </a:p>
        </p:txBody>
      </p:sp>
      <p:sp>
        <p:nvSpPr>
          <p:cNvPr id="30" name="Shape 28"/>
          <p:cNvSpPr/>
          <p:nvPr/>
        </p:nvSpPr>
        <p:spPr>
          <a:xfrm>
            <a:off x="548640" y="3602736"/>
            <a:ext cx="3566160" cy="841248"/>
          </a:xfrm>
          <a:prstGeom prst="roundRect">
            <a:avLst>
              <a:gd name="adj" fmla="val 13043"/>
            </a:avLst>
          </a:prstGeom>
          <a:solidFill>
            <a:srgbClr val="EEF5F5"/>
          </a:solidFill>
          <a:ln w="12700">
            <a:solidFill>
              <a:srgbClr val="EEF5F5"/>
            </a:solidFill>
            <a:prstDash val="solid"/>
          </a:ln>
        </p:spPr>
      </p:sp>
      <p:sp>
        <p:nvSpPr>
          <p:cNvPr id="31" name="Shape 29"/>
          <p:cNvSpPr/>
          <p:nvPr/>
        </p:nvSpPr>
        <p:spPr>
          <a:xfrm>
            <a:off x="685800" y="3785616"/>
            <a:ext cx="457200" cy="457200"/>
          </a:xfrm>
          <a:prstGeom prst="ellipse">
            <a:avLst/>
          </a:prstGeom>
          <a:solidFill>
            <a:srgbClr val="12505F"/>
          </a:solidFill>
          <a:ln w="12700">
            <a:solidFill>
              <a:srgbClr val="12505F"/>
            </a:solidFill>
            <a:prstDash val="solid"/>
          </a:ln>
        </p:spPr>
      </p:sp>
      <p:sp>
        <p:nvSpPr>
          <p:cNvPr id="32" name="Text 30"/>
          <p:cNvSpPr txBox="1"/>
          <p:nvPr/>
        </p:nvSpPr>
        <p:spPr>
          <a:xfrm>
            <a:off x="685800" y="3785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3" name="Text 31"/>
          <p:cNvSpPr txBox="1"/>
          <p:nvPr/>
        </p:nvSpPr>
        <p:spPr>
          <a:xfrm>
            <a:off x="1280160" y="3712464"/>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Ridge chuẩn hóa StandardScaler</a:t>
            </a:r>
            <a:endParaRPr lang="en-US" sz="1400" dirty="0"/>
          </a:p>
        </p:txBody>
      </p:sp>
      <p:sp>
        <p:nvSpPr>
          <p:cNvPr id="34" name="Shape 32"/>
          <p:cNvSpPr/>
          <p:nvPr/>
        </p:nvSpPr>
        <p:spPr>
          <a:xfrm>
            <a:off x="4297680" y="3602736"/>
            <a:ext cx="3566160" cy="841248"/>
          </a:xfrm>
          <a:prstGeom prst="roundRect">
            <a:avLst>
              <a:gd name="adj" fmla="val 13043"/>
            </a:avLst>
          </a:prstGeom>
          <a:solidFill>
            <a:srgbClr val="EEF5F5"/>
          </a:solidFill>
          <a:ln w="12700">
            <a:solidFill>
              <a:srgbClr val="EEF5F5"/>
            </a:solidFill>
            <a:prstDash val="solid"/>
          </a:ln>
        </p:spPr>
      </p:sp>
      <p:sp>
        <p:nvSpPr>
          <p:cNvPr id="35" name="Shape 33"/>
          <p:cNvSpPr/>
          <p:nvPr/>
        </p:nvSpPr>
        <p:spPr>
          <a:xfrm>
            <a:off x="4434840" y="3785616"/>
            <a:ext cx="457200" cy="457200"/>
          </a:xfrm>
          <a:prstGeom prst="ellipse">
            <a:avLst/>
          </a:prstGeom>
          <a:solidFill>
            <a:srgbClr val="12505F"/>
          </a:solidFill>
          <a:ln w="12700">
            <a:solidFill>
              <a:srgbClr val="12505F"/>
            </a:solidFill>
            <a:prstDash val="solid"/>
          </a:ln>
        </p:spPr>
      </p:sp>
      <p:sp>
        <p:nvSpPr>
          <p:cNvPr id="36" name="Text 34"/>
          <p:cNvSpPr txBox="1"/>
          <p:nvPr/>
        </p:nvSpPr>
        <p:spPr>
          <a:xfrm>
            <a:off x="4434840" y="3785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7" name="Text 35"/>
          <p:cNvSpPr txBox="1"/>
          <p:nvPr/>
        </p:nvSpPr>
        <p:spPr>
          <a:xfrm>
            <a:off x="5029200" y="3712464"/>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LightGBM subsample_freq = 1</a:t>
            </a:r>
            <a:endParaRPr lang="en-US" sz="1400" dirty="0"/>
          </a:p>
        </p:txBody>
      </p:sp>
      <p:sp>
        <p:nvSpPr>
          <p:cNvPr id="38" name="Shape 36"/>
          <p:cNvSpPr/>
          <p:nvPr/>
        </p:nvSpPr>
        <p:spPr>
          <a:xfrm>
            <a:off x="8046720" y="3602736"/>
            <a:ext cx="3566160" cy="841248"/>
          </a:xfrm>
          <a:prstGeom prst="roundRect">
            <a:avLst>
              <a:gd name="adj" fmla="val 13043"/>
            </a:avLst>
          </a:prstGeom>
          <a:solidFill>
            <a:srgbClr val="EEF5F5"/>
          </a:solidFill>
          <a:ln w="12700">
            <a:solidFill>
              <a:srgbClr val="EEF5F5"/>
            </a:solidFill>
            <a:prstDash val="solid"/>
          </a:ln>
        </p:spPr>
      </p:sp>
      <p:sp>
        <p:nvSpPr>
          <p:cNvPr id="39" name="Shape 37"/>
          <p:cNvSpPr/>
          <p:nvPr/>
        </p:nvSpPr>
        <p:spPr>
          <a:xfrm>
            <a:off x="8183880" y="3785616"/>
            <a:ext cx="457200" cy="457200"/>
          </a:xfrm>
          <a:prstGeom prst="ellipse">
            <a:avLst/>
          </a:prstGeom>
          <a:solidFill>
            <a:srgbClr val="12505F"/>
          </a:solidFill>
          <a:ln w="12700">
            <a:solidFill>
              <a:srgbClr val="12505F"/>
            </a:solidFill>
            <a:prstDash val="solid"/>
          </a:ln>
        </p:spPr>
      </p:sp>
      <p:sp>
        <p:nvSpPr>
          <p:cNvPr id="40" name="Text 38"/>
          <p:cNvSpPr txBox="1"/>
          <p:nvPr/>
        </p:nvSpPr>
        <p:spPr>
          <a:xfrm>
            <a:off x="8183880" y="3785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1" name="Text 39"/>
          <p:cNvSpPr txBox="1"/>
          <p:nvPr/>
        </p:nvSpPr>
        <p:spPr>
          <a:xfrm>
            <a:off x="8778240" y="3712464"/>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XGBoost, LightGBM, Ridge dùng toàn bộ dữ liệu</a:t>
            </a:r>
            <a:endParaRPr lang="en-US" sz="1400" dirty="0"/>
          </a:p>
        </p:txBody>
      </p:sp>
      <p:sp>
        <p:nvSpPr>
          <p:cNvPr id="42" name="Shape 40"/>
          <p:cNvSpPr/>
          <p:nvPr/>
        </p:nvSpPr>
        <p:spPr>
          <a:xfrm>
            <a:off x="548640" y="4626864"/>
            <a:ext cx="3566160" cy="841248"/>
          </a:xfrm>
          <a:prstGeom prst="roundRect">
            <a:avLst>
              <a:gd name="adj" fmla="val 13043"/>
            </a:avLst>
          </a:prstGeom>
          <a:solidFill>
            <a:srgbClr val="EEF5F5"/>
          </a:solidFill>
          <a:ln w="12700">
            <a:solidFill>
              <a:srgbClr val="EEF5F5"/>
            </a:solidFill>
            <a:prstDash val="solid"/>
          </a:ln>
        </p:spPr>
      </p:sp>
      <p:sp>
        <p:nvSpPr>
          <p:cNvPr id="43" name="Shape 41"/>
          <p:cNvSpPr/>
          <p:nvPr/>
        </p:nvSpPr>
        <p:spPr>
          <a:xfrm>
            <a:off x="685800" y="4809744"/>
            <a:ext cx="457200" cy="457200"/>
          </a:xfrm>
          <a:prstGeom prst="ellipse">
            <a:avLst/>
          </a:prstGeom>
          <a:solidFill>
            <a:srgbClr val="E8A33D"/>
          </a:solidFill>
          <a:ln w="12700">
            <a:solidFill>
              <a:srgbClr val="E8A33D"/>
            </a:solidFill>
            <a:prstDash val="solid"/>
          </a:ln>
        </p:spPr>
      </p:sp>
      <p:sp>
        <p:nvSpPr>
          <p:cNvPr id="44" name="Text 42"/>
          <p:cNvSpPr txBox="1"/>
          <p:nvPr/>
        </p:nvSpPr>
        <p:spPr>
          <a:xfrm>
            <a:off x="685800" y="4809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5" name="Text 43"/>
          <p:cNvSpPr txBox="1"/>
          <p:nvPr/>
        </p:nvSpPr>
        <p:spPr>
          <a:xfrm>
            <a:off x="1280160" y="4736592"/>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Khoảng Mondrian theo 9 nhóm quy mô</a:t>
            </a:r>
            <a:endParaRPr lang="en-US" sz="1400" dirty="0"/>
          </a:p>
        </p:txBody>
      </p:sp>
      <p:sp>
        <p:nvSpPr>
          <p:cNvPr id="46" name="Shape 44"/>
          <p:cNvSpPr/>
          <p:nvPr/>
        </p:nvSpPr>
        <p:spPr>
          <a:xfrm>
            <a:off x="4297680" y="4626864"/>
            <a:ext cx="3566160" cy="841248"/>
          </a:xfrm>
          <a:prstGeom prst="roundRect">
            <a:avLst>
              <a:gd name="adj" fmla="val 13043"/>
            </a:avLst>
          </a:prstGeom>
          <a:solidFill>
            <a:srgbClr val="EEF5F5"/>
          </a:solidFill>
          <a:ln w="12700">
            <a:solidFill>
              <a:srgbClr val="EEF5F5"/>
            </a:solidFill>
            <a:prstDash val="solid"/>
          </a:ln>
        </p:spPr>
      </p:sp>
      <p:sp>
        <p:nvSpPr>
          <p:cNvPr id="47" name="Shape 45"/>
          <p:cNvSpPr/>
          <p:nvPr/>
        </p:nvSpPr>
        <p:spPr>
          <a:xfrm>
            <a:off x="4434840" y="4809744"/>
            <a:ext cx="457200" cy="457200"/>
          </a:xfrm>
          <a:prstGeom prst="ellipse">
            <a:avLst/>
          </a:prstGeom>
          <a:solidFill>
            <a:srgbClr val="E8A33D"/>
          </a:solidFill>
          <a:ln w="12700">
            <a:solidFill>
              <a:srgbClr val="E8A33D"/>
            </a:solidFill>
            <a:prstDash val="solid"/>
          </a:ln>
        </p:spPr>
      </p:sp>
      <p:sp>
        <p:nvSpPr>
          <p:cNvPr id="48" name="Text 46"/>
          <p:cNvSpPr txBox="1"/>
          <p:nvPr/>
        </p:nvSpPr>
        <p:spPr>
          <a:xfrm>
            <a:off x="4434840" y="4809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9" name="Text 47"/>
          <p:cNvSpPr txBox="1"/>
          <p:nvPr/>
        </p:nvSpPr>
        <p:spPr>
          <a:xfrm>
            <a:off x="5029200" y="4736592"/>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Kịch bản dùng độ rộng theo từng dòng</a:t>
            </a:r>
            <a:endParaRPr lang="en-US" sz="1400" dirty="0"/>
          </a:p>
        </p:txBody>
      </p:sp>
      <p:sp>
        <p:nvSpPr>
          <p:cNvPr id="50" name="Shape 48"/>
          <p:cNvSpPr/>
          <p:nvPr/>
        </p:nvSpPr>
        <p:spPr>
          <a:xfrm>
            <a:off x="8046720" y="4626864"/>
            <a:ext cx="3566160" cy="841248"/>
          </a:xfrm>
          <a:prstGeom prst="roundRect">
            <a:avLst>
              <a:gd name="adj" fmla="val 13043"/>
            </a:avLst>
          </a:prstGeom>
          <a:solidFill>
            <a:srgbClr val="EEF5F5"/>
          </a:solidFill>
          <a:ln w="12700">
            <a:solidFill>
              <a:srgbClr val="EEF5F5"/>
            </a:solidFill>
            <a:prstDash val="solid"/>
          </a:ln>
        </p:spPr>
      </p:sp>
      <p:sp>
        <p:nvSpPr>
          <p:cNvPr id="51" name="Shape 49"/>
          <p:cNvSpPr/>
          <p:nvPr/>
        </p:nvSpPr>
        <p:spPr>
          <a:xfrm>
            <a:off x="8183880" y="4809744"/>
            <a:ext cx="457200" cy="457200"/>
          </a:xfrm>
          <a:prstGeom prst="ellipse">
            <a:avLst/>
          </a:prstGeom>
          <a:solidFill>
            <a:srgbClr val="E8A33D"/>
          </a:solidFill>
          <a:ln w="12700">
            <a:solidFill>
              <a:srgbClr val="E8A33D"/>
            </a:solidFill>
            <a:prstDash val="solid"/>
          </a:ln>
        </p:spPr>
      </p:sp>
      <p:sp>
        <p:nvSpPr>
          <p:cNvPr id="52" name="Text 50"/>
          <p:cNvSpPr txBox="1"/>
          <p:nvPr/>
        </p:nvSpPr>
        <p:spPr>
          <a:xfrm>
            <a:off x="8183880" y="48097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3" name="Text 51"/>
          <p:cNvSpPr txBox="1"/>
          <p:nvPr/>
        </p:nvSpPr>
        <p:spPr>
          <a:xfrm>
            <a:off x="8778240" y="4736592"/>
            <a:ext cx="2743200" cy="621792"/>
          </a:xfrm>
          <a:prstGeom prst="rect">
            <a:avLst/>
          </a:prstGeom>
          <a:noFill/>
          <a:ln/>
        </p:spPr>
        <p:txBody>
          <a:bodyPr wrap="square" lIns="0" tIns="0" rIns="0" bIns="0" rtlCol="0" anchor="ctr"/>
          <a:lstStyle/>
          <a:p>
            <a:pPr indent="0" marL="0">
              <a:buNone/>
            </a:pPr>
            <a:r>
              <a:rPr lang="en-US" sz="1400" dirty="0">
                <a:solidFill>
                  <a:srgbClr val="0E2A33"/>
                </a:solidFill>
                <a:latin typeface="Calibri" pitchFamily="34" charset="0"/>
                <a:ea typeface="Calibri" pitchFamily="34" charset="-122"/>
                <a:cs typeface="Calibri" pitchFamily="34" charset="-120"/>
              </a:rPr>
              <a:t>Hàng đợi theo điểm ưu tiên, HITL 14 cột</a:t>
            </a:r>
            <a:endParaRPr lang="en-US" sz="1400" dirty="0"/>
          </a:p>
        </p:txBody>
      </p:sp>
      <p:sp>
        <p:nvSpPr>
          <p:cNvPr id="54" name="Text 52"/>
          <p:cNvSpPr txBox="1"/>
          <p:nvPr/>
        </p:nvSpPr>
        <p:spPr>
          <a:xfrm>
            <a:off x="548640" y="5760720"/>
            <a:ext cx="11094415" cy="274320"/>
          </a:xfrm>
          <a:prstGeom prst="rect">
            <a:avLst/>
          </a:prstGeom>
          <a:noFill/>
          <a:ln/>
        </p:spPr>
        <p:txBody>
          <a:bodyPr wrap="square" lIns="0" tIns="0" rIns="0" bIns="0" rtlCol="0" anchor="t"/>
          <a:lstStyle/>
          <a:p>
            <a:pPr algn="r" indent="0" marL="0">
              <a:buNone/>
            </a:pPr>
            <a:r>
              <a:rPr lang="en-US" sz="1200" dirty="0">
                <a:solidFill>
                  <a:srgbClr val="1B8A8F"/>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Đặc trưng &amp; dữ liệu    </a:t>
            </a:r>
            <a:pPr algn="r" indent="0" marL="0">
              <a:buNone/>
            </a:pPr>
            <a:r>
              <a:rPr lang="en-US" sz="1200" dirty="0">
                <a:solidFill>
                  <a:srgbClr val="12505F"/>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Mô hình    </a:t>
            </a:r>
            <a:pPr algn="r" indent="0" marL="0">
              <a:buNone/>
            </a:pPr>
            <a:r>
              <a:rPr lang="en-US" sz="1200" dirty="0">
                <a:solidFill>
                  <a:srgbClr val="E8A33D"/>
                </a:solidFill>
                <a:latin typeface="Calibri" pitchFamily="34" charset="0"/>
                <a:ea typeface="Calibri" pitchFamily="34" charset="-122"/>
                <a:cs typeface="Calibri" pitchFamily="34" charset="-120"/>
              </a:rPr>
              <a:t>● </a:t>
            </a:r>
            <a:pPr algn="r" indent="0" marL="0">
              <a:buNone/>
            </a:pPr>
            <a:r>
              <a:rPr lang="en-US" sz="1200" dirty="0">
                <a:solidFill>
                  <a:srgbClr val="5B6B70"/>
                </a:solidFill>
                <a:latin typeface="Calibri" pitchFamily="34" charset="0"/>
                <a:ea typeface="Calibri" pitchFamily="34" charset="-122"/>
                <a:cs typeface="Calibri" pitchFamily="34" charset="-120"/>
              </a:rPr>
              <a:t>Bất định &amp; quyết định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CHỐNG RÒ RỈ</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Seasonal Naive cố định tại gốc dự báo (m = 7, H = 16)</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548640" y="1554480"/>
            <a:ext cx="3657600" cy="274320"/>
          </a:xfrm>
          <a:prstGeom prst="rect">
            <a:avLst/>
          </a:prstGeom>
          <a:noFill/>
          <a:ln/>
        </p:spPr>
        <p:txBody>
          <a:bodyPr wrap="square" lIns="0" tIns="0" rIns="0" bIns="0" rtlCol="0" anchor="t"/>
          <a:lstStyle/>
          <a:p>
            <a:pPr indent="0" marL="0">
              <a:buNone/>
            </a:pPr>
            <a:r>
              <a:rPr lang="en-US" sz="1200" b="1" dirty="0">
                <a:solidFill>
                  <a:srgbClr val="5B6B70"/>
                </a:solidFill>
                <a:latin typeface="Calibri" pitchFamily="34" charset="0"/>
                <a:ea typeface="Calibri" pitchFamily="34" charset="-122"/>
                <a:cs typeface="Calibri" pitchFamily="34" charset="-120"/>
              </a:rPr>
              <a:t>Ngày trong kỳ dự báo</a:t>
            </a:r>
            <a:endParaRPr lang="en-US" sz="1200" dirty="0"/>
          </a:p>
        </p:txBody>
      </p:sp>
      <p:sp>
        <p:nvSpPr>
          <p:cNvPr id="7" name="Shape 5"/>
          <p:cNvSpPr/>
          <p:nvPr/>
        </p:nvSpPr>
        <p:spPr>
          <a:xfrm>
            <a:off x="548640" y="1874520"/>
            <a:ext cx="603504" cy="603504"/>
          </a:xfrm>
          <a:prstGeom prst="roundRect">
            <a:avLst>
              <a:gd name="adj" fmla="val 12121"/>
            </a:avLst>
          </a:prstGeom>
          <a:solidFill>
            <a:srgbClr val="1B8A8F"/>
          </a:solidFill>
          <a:ln w="12700">
            <a:solidFill>
              <a:srgbClr val="1B8A8F"/>
            </a:solidFill>
            <a:prstDash val="solid"/>
          </a:ln>
        </p:spPr>
      </p:sp>
      <p:sp>
        <p:nvSpPr>
          <p:cNvPr id="8" name="Text 6"/>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Shape 7"/>
          <p:cNvSpPr/>
          <p:nvPr/>
        </p:nvSpPr>
        <p:spPr>
          <a:xfrm>
            <a:off x="1225296" y="1874520"/>
            <a:ext cx="603504" cy="603504"/>
          </a:xfrm>
          <a:prstGeom prst="roundRect">
            <a:avLst>
              <a:gd name="adj" fmla="val 12121"/>
            </a:avLst>
          </a:prstGeom>
          <a:solidFill>
            <a:srgbClr val="1B8A8F"/>
          </a:solidFill>
          <a:ln w="12700">
            <a:solidFill>
              <a:srgbClr val="1B8A8F"/>
            </a:solidFill>
            <a:prstDash val="solid"/>
          </a:ln>
        </p:spPr>
      </p:sp>
      <p:sp>
        <p:nvSpPr>
          <p:cNvPr id="10" name="Text 8"/>
          <p:cNvSpPr txBox="1"/>
          <p:nvPr/>
        </p:nvSpPr>
        <p:spPr>
          <a:xfrm>
            <a:off x="1225296"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Shape 9"/>
          <p:cNvSpPr/>
          <p:nvPr/>
        </p:nvSpPr>
        <p:spPr>
          <a:xfrm>
            <a:off x="1901952" y="1874520"/>
            <a:ext cx="603504" cy="603504"/>
          </a:xfrm>
          <a:prstGeom prst="roundRect">
            <a:avLst>
              <a:gd name="adj" fmla="val 12121"/>
            </a:avLst>
          </a:prstGeom>
          <a:solidFill>
            <a:srgbClr val="1B8A8F"/>
          </a:solidFill>
          <a:ln w="12700">
            <a:solidFill>
              <a:srgbClr val="1B8A8F"/>
            </a:solidFill>
            <a:prstDash val="solid"/>
          </a:ln>
        </p:spPr>
      </p:sp>
      <p:sp>
        <p:nvSpPr>
          <p:cNvPr id="12" name="Text 10"/>
          <p:cNvSpPr txBox="1"/>
          <p:nvPr/>
        </p:nvSpPr>
        <p:spPr>
          <a:xfrm>
            <a:off x="1901952"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Shape 11"/>
          <p:cNvSpPr/>
          <p:nvPr/>
        </p:nvSpPr>
        <p:spPr>
          <a:xfrm>
            <a:off x="2578608" y="1874520"/>
            <a:ext cx="603504" cy="603504"/>
          </a:xfrm>
          <a:prstGeom prst="roundRect">
            <a:avLst>
              <a:gd name="adj" fmla="val 12121"/>
            </a:avLst>
          </a:prstGeom>
          <a:solidFill>
            <a:srgbClr val="1B8A8F"/>
          </a:solidFill>
          <a:ln w="12700">
            <a:solidFill>
              <a:srgbClr val="1B8A8F"/>
            </a:solidFill>
            <a:prstDash val="solid"/>
          </a:ln>
        </p:spPr>
      </p:sp>
      <p:sp>
        <p:nvSpPr>
          <p:cNvPr id="14" name="Text 12"/>
          <p:cNvSpPr txBox="1"/>
          <p:nvPr/>
        </p:nvSpPr>
        <p:spPr>
          <a:xfrm>
            <a:off x="2578608"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Shape 13"/>
          <p:cNvSpPr/>
          <p:nvPr/>
        </p:nvSpPr>
        <p:spPr>
          <a:xfrm>
            <a:off x="3255264" y="1874520"/>
            <a:ext cx="603504" cy="603504"/>
          </a:xfrm>
          <a:prstGeom prst="roundRect">
            <a:avLst>
              <a:gd name="adj" fmla="val 12121"/>
            </a:avLst>
          </a:prstGeom>
          <a:solidFill>
            <a:srgbClr val="1B8A8F"/>
          </a:solidFill>
          <a:ln w="12700">
            <a:solidFill>
              <a:srgbClr val="1B8A8F"/>
            </a:solidFill>
            <a:prstDash val="solid"/>
          </a:ln>
        </p:spPr>
      </p:sp>
      <p:sp>
        <p:nvSpPr>
          <p:cNvPr id="16" name="Text 14"/>
          <p:cNvSpPr txBox="1"/>
          <p:nvPr/>
        </p:nvSpPr>
        <p:spPr>
          <a:xfrm>
            <a:off x="3255264"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Shape 15"/>
          <p:cNvSpPr/>
          <p:nvPr/>
        </p:nvSpPr>
        <p:spPr>
          <a:xfrm>
            <a:off x="3931920" y="1874520"/>
            <a:ext cx="603504" cy="603504"/>
          </a:xfrm>
          <a:prstGeom prst="roundRect">
            <a:avLst>
              <a:gd name="adj" fmla="val 12121"/>
            </a:avLst>
          </a:prstGeom>
          <a:solidFill>
            <a:srgbClr val="1B8A8F"/>
          </a:solidFill>
          <a:ln w="12700">
            <a:solidFill>
              <a:srgbClr val="1B8A8F"/>
            </a:solidFill>
            <a:prstDash val="solid"/>
          </a:ln>
        </p:spPr>
      </p:sp>
      <p:sp>
        <p:nvSpPr>
          <p:cNvPr id="18" name="Text 16"/>
          <p:cNvSpPr txBox="1"/>
          <p:nvPr/>
        </p:nvSpPr>
        <p:spPr>
          <a:xfrm>
            <a:off x="3931920"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9" name="Shape 17"/>
          <p:cNvSpPr/>
          <p:nvPr/>
        </p:nvSpPr>
        <p:spPr>
          <a:xfrm>
            <a:off x="4608576" y="1874520"/>
            <a:ext cx="603504" cy="603504"/>
          </a:xfrm>
          <a:prstGeom prst="roundRect">
            <a:avLst>
              <a:gd name="adj" fmla="val 12121"/>
            </a:avLst>
          </a:prstGeom>
          <a:solidFill>
            <a:srgbClr val="1B8A8F"/>
          </a:solidFill>
          <a:ln w="12700">
            <a:solidFill>
              <a:srgbClr val="1B8A8F"/>
            </a:solidFill>
            <a:prstDash val="solid"/>
          </a:ln>
        </p:spPr>
      </p:sp>
      <p:sp>
        <p:nvSpPr>
          <p:cNvPr id="20" name="Text 18"/>
          <p:cNvSpPr txBox="1"/>
          <p:nvPr/>
        </p:nvSpPr>
        <p:spPr>
          <a:xfrm>
            <a:off x="4608576"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1" name="Shape 19"/>
          <p:cNvSpPr/>
          <p:nvPr/>
        </p:nvSpPr>
        <p:spPr>
          <a:xfrm>
            <a:off x="5285232" y="1874520"/>
            <a:ext cx="603504" cy="603504"/>
          </a:xfrm>
          <a:prstGeom prst="roundRect">
            <a:avLst>
              <a:gd name="adj" fmla="val 12121"/>
            </a:avLst>
          </a:prstGeom>
          <a:solidFill>
            <a:srgbClr val="12505F"/>
          </a:solidFill>
          <a:ln w="12700">
            <a:solidFill>
              <a:srgbClr val="12505F"/>
            </a:solidFill>
            <a:prstDash val="solid"/>
          </a:ln>
        </p:spPr>
      </p:sp>
      <p:sp>
        <p:nvSpPr>
          <p:cNvPr id="22" name="Text 20"/>
          <p:cNvSpPr txBox="1"/>
          <p:nvPr/>
        </p:nvSpPr>
        <p:spPr>
          <a:xfrm>
            <a:off x="5285232"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3" name="Shape 21"/>
          <p:cNvSpPr/>
          <p:nvPr/>
        </p:nvSpPr>
        <p:spPr>
          <a:xfrm>
            <a:off x="5961888" y="1874520"/>
            <a:ext cx="603504" cy="603504"/>
          </a:xfrm>
          <a:prstGeom prst="roundRect">
            <a:avLst>
              <a:gd name="adj" fmla="val 12121"/>
            </a:avLst>
          </a:prstGeom>
          <a:solidFill>
            <a:srgbClr val="12505F"/>
          </a:solidFill>
          <a:ln w="12700">
            <a:solidFill>
              <a:srgbClr val="12505F"/>
            </a:solidFill>
            <a:prstDash val="solid"/>
          </a:ln>
        </p:spPr>
      </p:sp>
      <p:sp>
        <p:nvSpPr>
          <p:cNvPr id="24" name="Text 22"/>
          <p:cNvSpPr txBox="1"/>
          <p:nvPr/>
        </p:nvSpPr>
        <p:spPr>
          <a:xfrm>
            <a:off x="5961888"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5" name="Shape 23"/>
          <p:cNvSpPr/>
          <p:nvPr/>
        </p:nvSpPr>
        <p:spPr>
          <a:xfrm>
            <a:off x="6638544" y="1874520"/>
            <a:ext cx="603504" cy="603504"/>
          </a:xfrm>
          <a:prstGeom prst="roundRect">
            <a:avLst>
              <a:gd name="adj" fmla="val 12121"/>
            </a:avLst>
          </a:prstGeom>
          <a:solidFill>
            <a:srgbClr val="12505F"/>
          </a:solidFill>
          <a:ln w="12700">
            <a:solidFill>
              <a:srgbClr val="12505F"/>
            </a:solidFill>
            <a:prstDash val="solid"/>
          </a:ln>
        </p:spPr>
      </p:sp>
      <p:sp>
        <p:nvSpPr>
          <p:cNvPr id="26" name="Text 24"/>
          <p:cNvSpPr txBox="1"/>
          <p:nvPr/>
        </p:nvSpPr>
        <p:spPr>
          <a:xfrm>
            <a:off x="6638544"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27" name="Shape 25"/>
          <p:cNvSpPr/>
          <p:nvPr/>
        </p:nvSpPr>
        <p:spPr>
          <a:xfrm>
            <a:off x="7315200" y="1874520"/>
            <a:ext cx="603504" cy="603504"/>
          </a:xfrm>
          <a:prstGeom prst="roundRect">
            <a:avLst>
              <a:gd name="adj" fmla="val 12121"/>
            </a:avLst>
          </a:prstGeom>
          <a:solidFill>
            <a:srgbClr val="12505F"/>
          </a:solidFill>
          <a:ln w="12700">
            <a:solidFill>
              <a:srgbClr val="12505F"/>
            </a:solidFill>
            <a:prstDash val="solid"/>
          </a:ln>
        </p:spPr>
      </p:sp>
      <p:sp>
        <p:nvSpPr>
          <p:cNvPr id="28" name="Text 26"/>
          <p:cNvSpPr txBox="1"/>
          <p:nvPr/>
        </p:nvSpPr>
        <p:spPr>
          <a:xfrm>
            <a:off x="7315200"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9" name="Shape 27"/>
          <p:cNvSpPr/>
          <p:nvPr/>
        </p:nvSpPr>
        <p:spPr>
          <a:xfrm>
            <a:off x="7991856" y="1874520"/>
            <a:ext cx="603504" cy="603504"/>
          </a:xfrm>
          <a:prstGeom prst="roundRect">
            <a:avLst>
              <a:gd name="adj" fmla="val 12121"/>
            </a:avLst>
          </a:prstGeom>
          <a:solidFill>
            <a:srgbClr val="12505F"/>
          </a:solidFill>
          <a:ln w="12700">
            <a:solidFill>
              <a:srgbClr val="12505F"/>
            </a:solidFill>
            <a:prstDash val="solid"/>
          </a:ln>
        </p:spPr>
      </p:sp>
      <p:sp>
        <p:nvSpPr>
          <p:cNvPr id="30" name="Text 28"/>
          <p:cNvSpPr txBox="1"/>
          <p:nvPr/>
        </p:nvSpPr>
        <p:spPr>
          <a:xfrm>
            <a:off x="7991856"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31" name="Shape 29"/>
          <p:cNvSpPr/>
          <p:nvPr/>
        </p:nvSpPr>
        <p:spPr>
          <a:xfrm>
            <a:off x="8668512" y="1874520"/>
            <a:ext cx="603504" cy="603504"/>
          </a:xfrm>
          <a:prstGeom prst="roundRect">
            <a:avLst>
              <a:gd name="adj" fmla="val 12121"/>
            </a:avLst>
          </a:prstGeom>
          <a:solidFill>
            <a:srgbClr val="12505F"/>
          </a:solidFill>
          <a:ln w="12700">
            <a:solidFill>
              <a:srgbClr val="12505F"/>
            </a:solidFill>
            <a:prstDash val="solid"/>
          </a:ln>
        </p:spPr>
      </p:sp>
      <p:sp>
        <p:nvSpPr>
          <p:cNvPr id="32" name="Text 30"/>
          <p:cNvSpPr txBox="1"/>
          <p:nvPr/>
        </p:nvSpPr>
        <p:spPr>
          <a:xfrm>
            <a:off x="8668512"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33" name="Shape 31"/>
          <p:cNvSpPr/>
          <p:nvPr/>
        </p:nvSpPr>
        <p:spPr>
          <a:xfrm>
            <a:off x="9345168" y="1874520"/>
            <a:ext cx="603504" cy="603504"/>
          </a:xfrm>
          <a:prstGeom prst="roundRect">
            <a:avLst>
              <a:gd name="adj" fmla="val 12121"/>
            </a:avLst>
          </a:prstGeom>
          <a:solidFill>
            <a:srgbClr val="12505F"/>
          </a:solidFill>
          <a:ln w="12700">
            <a:solidFill>
              <a:srgbClr val="12505F"/>
            </a:solidFill>
            <a:prstDash val="solid"/>
          </a:ln>
        </p:spPr>
      </p:sp>
      <p:sp>
        <p:nvSpPr>
          <p:cNvPr id="34" name="Text 32"/>
          <p:cNvSpPr txBox="1"/>
          <p:nvPr/>
        </p:nvSpPr>
        <p:spPr>
          <a:xfrm>
            <a:off x="9345168"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35" name="Shape 33"/>
          <p:cNvSpPr/>
          <p:nvPr/>
        </p:nvSpPr>
        <p:spPr>
          <a:xfrm>
            <a:off x="10021824" y="1874520"/>
            <a:ext cx="603504" cy="603504"/>
          </a:xfrm>
          <a:prstGeom prst="roundRect">
            <a:avLst>
              <a:gd name="adj" fmla="val 12121"/>
            </a:avLst>
          </a:prstGeom>
          <a:solidFill>
            <a:srgbClr val="E8A33D"/>
          </a:solidFill>
          <a:ln w="12700">
            <a:solidFill>
              <a:srgbClr val="E8A33D"/>
            </a:solidFill>
            <a:prstDash val="solid"/>
          </a:ln>
        </p:spPr>
      </p:sp>
      <p:sp>
        <p:nvSpPr>
          <p:cNvPr id="36" name="Text 34"/>
          <p:cNvSpPr txBox="1"/>
          <p:nvPr/>
        </p:nvSpPr>
        <p:spPr>
          <a:xfrm>
            <a:off x="10021824"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37" name="Shape 35"/>
          <p:cNvSpPr/>
          <p:nvPr/>
        </p:nvSpPr>
        <p:spPr>
          <a:xfrm>
            <a:off x="10698480" y="1874520"/>
            <a:ext cx="603504" cy="603504"/>
          </a:xfrm>
          <a:prstGeom prst="roundRect">
            <a:avLst>
              <a:gd name="adj" fmla="val 12121"/>
            </a:avLst>
          </a:prstGeom>
          <a:solidFill>
            <a:srgbClr val="E8A33D"/>
          </a:solidFill>
          <a:ln w="12700">
            <a:solidFill>
              <a:srgbClr val="E8A33D"/>
            </a:solidFill>
            <a:prstDash val="solid"/>
          </a:ln>
        </p:spPr>
      </p:sp>
      <p:sp>
        <p:nvSpPr>
          <p:cNvPr id="38" name="Text 36"/>
          <p:cNvSpPr txBox="1"/>
          <p:nvPr/>
        </p:nvSpPr>
        <p:spPr>
          <a:xfrm>
            <a:off x="10698480" y="1874520"/>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39" name="Text 37"/>
          <p:cNvSpPr txBox="1"/>
          <p:nvPr/>
        </p:nvSpPr>
        <p:spPr>
          <a:xfrm>
            <a:off x="548640" y="2560320"/>
            <a:ext cx="3200400" cy="320040"/>
          </a:xfrm>
          <a:prstGeom prst="rect">
            <a:avLst/>
          </a:prstGeom>
          <a:noFill/>
          <a:ln/>
        </p:spPr>
        <p:txBody>
          <a:bodyPr wrap="square" lIns="0" tIns="0" rIns="0" bIns="0" rtlCol="0" anchor="t"/>
          <a:lstStyle/>
          <a:p>
            <a:pPr indent="0" marL="0">
              <a:buNone/>
            </a:pPr>
            <a:r>
              <a:rPr lang="en-US" sz="1300" b="1" dirty="0">
                <a:solidFill>
                  <a:srgbClr val="1B8A8F"/>
                </a:solidFill>
                <a:latin typeface="Calibri" pitchFamily="34" charset="0"/>
                <a:ea typeface="Calibri" pitchFamily="34" charset="-122"/>
                <a:cs typeface="Calibri" pitchFamily="34" charset="-120"/>
              </a:rPr>
              <a:t>Ngày 1–7 → lag_7</a:t>
            </a:r>
            <a:endParaRPr lang="en-US" sz="1300" dirty="0"/>
          </a:p>
        </p:txBody>
      </p:sp>
      <p:sp>
        <p:nvSpPr>
          <p:cNvPr id="40" name="Text 38"/>
          <p:cNvSpPr txBox="1"/>
          <p:nvPr/>
        </p:nvSpPr>
        <p:spPr>
          <a:xfrm>
            <a:off x="5285232" y="2560320"/>
            <a:ext cx="3200400" cy="320040"/>
          </a:xfrm>
          <a:prstGeom prst="rect">
            <a:avLst/>
          </a:prstGeom>
          <a:noFill/>
          <a:ln/>
        </p:spPr>
        <p:txBody>
          <a:bodyPr wrap="square" lIns="0" tIns="0" rIns="0" bIns="0" rtlCol="0" anchor="t"/>
          <a:lstStyle/>
          <a:p>
            <a:pPr indent="0" marL="0">
              <a:buNone/>
            </a:pPr>
            <a:r>
              <a:rPr lang="en-US" sz="1300" b="1" dirty="0">
                <a:solidFill>
                  <a:srgbClr val="12505F"/>
                </a:solidFill>
                <a:latin typeface="Calibri" pitchFamily="34" charset="0"/>
                <a:ea typeface="Calibri" pitchFamily="34" charset="-122"/>
                <a:cs typeface="Calibri" pitchFamily="34" charset="-120"/>
              </a:rPr>
              <a:t>Ngày 8–14 → lag_14</a:t>
            </a:r>
            <a:endParaRPr lang="en-US" sz="1300" dirty="0"/>
          </a:p>
        </p:txBody>
      </p:sp>
      <p:sp>
        <p:nvSpPr>
          <p:cNvPr id="41" name="Text 39"/>
          <p:cNvSpPr txBox="1"/>
          <p:nvPr/>
        </p:nvSpPr>
        <p:spPr>
          <a:xfrm>
            <a:off x="10021824" y="2560320"/>
            <a:ext cx="3200400" cy="320040"/>
          </a:xfrm>
          <a:prstGeom prst="rect">
            <a:avLst/>
          </a:prstGeom>
          <a:noFill/>
          <a:ln/>
        </p:spPr>
        <p:txBody>
          <a:bodyPr wrap="square" lIns="0" tIns="0" rIns="0" bIns="0" rtlCol="0" anchor="t"/>
          <a:lstStyle/>
          <a:p>
            <a:pPr indent="0" marL="0">
              <a:buNone/>
            </a:pPr>
            <a:r>
              <a:rPr lang="en-US" sz="1300" b="1" dirty="0">
                <a:solidFill>
                  <a:srgbClr val="E8A33D"/>
                </a:solidFill>
                <a:latin typeface="Calibri" pitchFamily="34" charset="0"/>
                <a:ea typeface="Calibri" pitchFamily="34" charset="-122"/>
                <a:cs typeface="Calibri" pitchFamily="34" charset="-120"/>
              </a:rPr>
              <a:t>Ngày 15–16 → lag_21</a:t>
            </a:r>
            <a:endParaRPr lang="en-US" sz="1300" dirty="0"/>
          </a:p>
        </p:txBody>
      </p:sp>
      <p:sp>
        <p:nvSpPr>
          <p:cNvPr id="42" name="Shape 40"/>
          <p:cNvSpPr/>
          <p:nvPr/>
        </p:nvSpPr>
        <p:spPr>
          <a:xfrm>
            <a:off x="548640" y="3246120"/>
            <a:ext cx="5394960" cy="2651760"/>
          </a:xfrm>
          <a:prstGeom prst="roundRect">
            <a:avLst>
              <a:gd name="adj" fmla="val 4138"/>
            </a:avLst>
          </a:prstGeom>
          <a:solidFill>
            <a:srgbClr val="EEF5F5"/>
          </a:solidFill>
          <a:ln w="12700">
            <a:solidFill>
              <a:srgbClr val="EEF5F5"/>
            </a:solidFill>
            <a:prstDash val="solid"/>
          </a:ln>
        </p:spPr>
      </p:sp>
      <p:sp>
        <p:nvSpPr>
          <p:cNvPr id="43" name="Text 41"/>
          <p:cNvSpPr txBox="1"/>
          <p:nvPr/>
        </p:nvSpPr>
        <p:spPr>
          <a:xfrm>
            <a:off x="822960" y="3429000"/>
            <a:ext cx="4846320" cy="365760"/>
          </a:xfrm>
          <a:prstGeom prst="rect">
            <a:avLst/>
          </a:prstGeom>
          <a:noFill/>
          <a:ln/>
        </p:spPr>
        <p:txBody>
          <a:bodyPr wrap="square" lIns="0" tIns="0" rIns="0" bIns="0" rtlCol="0" anchor="t"/>
          <a:lstStyle/>
          <a:p>
            <a:pPr indent="0" marL="0">
              <a:buNone/>
            </a:pPr>
            <a:r>
              <a:rPr lang="en-US" sz="1800" b="1" dirty="0">
                <a:solidFill>
                  <a:srgbClr val="D05A4E"/>
                </a:solidFill>
                <a:latin typeface="Calibri" pitchFamily="34" charset="0"/>
                <a:ea typeface="Calibri" pitchFamily="34" charset="-122"/>
                <a:cs typeface="Calibri" pitchFamily="34" charset="-120"/>
              </a:rPr>
              <a:t>Vì sao không dùng lag_7 cho cả kỳ?</a:t>
            </a:r>
            <a:endParaRPr lang="en-US" sz="1800" dirty="0"/>
          </a:p>
        </p:txBody>
      </p:sp>
      <p:sp>
        <p:nvSpPr>
          <p:cNvPr id="44" name="Text 42"/>
          <p:cNvSpPr txBox="1"/>
          <p:nvPr/>
        </p:nvSpPr>
        <p:spPr>
          <a:xfrm>
            <a:off x="822960" y="3886200"/>
            <a:ext cx="4846320" cy="1463040"/>
          </a:xfrm>
          <a:prstGeom prst="rect">
            <a:avLst/>
          </a:prstGeom>
          <a:noFill/>
          <a:ln/>
        </p:spPr>
        <p:txBody>
          <a:bodyPr wrap="square" lIns="0" tIns="0" rIns="0" bIns="0" rtlCol="0" anchor="t"/>
          <a:lstStyle/>
          <a:p>
            <a:pPr indent="0" marL="0">
              <a:buNone/>
            </a:pPr>
            <a:r>
              <a:rPr lang="en-US" sz="1400" dirty="0">
                <a:solidFill>
                  <a:srgbClr val="0E2A33"/>
                </a:solidFill>
                <a:latin typeface="Calibri" pitchFamily="34" charset="0"/>
                <a:ea typeface="Calibri" pitchFamily="34" charset="-122"/>
                <a:cs typeface="Calibri" pitchFamily="34" charset="-120"/>
              </a:rPr>
              <a:t>Với H = 16, lag_7 của ngày 8–16 là doanh số nằm trong chính kỳ dự báo – thông tin chưa có tại gốc dự báo. Một mô hình cơ sở như vậy không khả thi trong vận hành.</a:t>
            </a:r>
            <a:endParaRPr lang="en-US" sz="1400" dirty="0"/>
          </a:p>
        </p:txBody>
      </p:sp>
      <p:sp>
        <p:nvSpPr>
          <p:cNvPr id="45" name="Shape 43"/>
          <p:cNvSpPr/>
          <p:nvPr/>
        </p:nvSpPr>
        <p:spPr>
          <a:xfrm>
            <a:off x="6245352" y="3246120"/>
            <a:ext cx="5394960" cy="2651760"/>
          </a:xfrm>
          <a:prstGeom prst="roundRect">
            <a:avLst>
              <a:gd name="adj" fmla="val 4138"/>
            </a:avLst>
          </a:prstGeom>
          <a:solidFill>
            <a:srgbClr val="EEF5F5"/>
          </a:solidFill>
          <a:ln w="12700">
            <a:solidFill>
              <a:srgbClr val="EEF5F5"/>
            </a:solidFill>
            <a:prstDash val="solid"/>
          </a:ln>
        </p:spPr>
      </p:sp>
      <p:sp>
        <p:nvSpPr>
          <p:cNvPr id="46" name="Text 44"/>
          <p:cNvSpPr txBox="1"/>
          <p:nvPr/>
        </p:nvSpPr>
        <p:spPr>
          <a:xfrm>
            <a:off x="6519672" y="3429000"/>
            <a:ext cx="4572000" cy="365760"/>
          </a:xfrm>
          <a:prstGeom prst="rect">
            <a:avLst/>
          </a:prstGeom>
          <a:noFill/>
          <a:ln/>
        </p:spPr>
        <p:txBody>
          <a:bodyPr wrap="square" lIns="0" tIns="0" rIns="0" bIns="0" rtlCol="0" anchor="t"/>
          <a:lstStyle/>
          <a:p>
            <a:pPr indent="0" marL="0">
              <a:buNone/>
            </a:pPr>
            <a:r>
              <a:rPr lang="en-US" sz="1800" b="1" dirty="0">
                <a:solidFill>
                  <a:srgbClr val="3C8D5A"/>
                </a:solidFill>
                <a:latin typeface="Calibri" pitchFamily="34" charset="0"/>
                <a:ea typeface="Calibri" pitchFamily="34" charset="-122"/>
                <a:cs typeface="Calibri" pitchFamily="34" charset="-120"/>
              </a:rPr>
              <a:t>Thiết kế của nghiên cứu</a:t>
            </a:r>
            <a:endParaRPr lang="en-US" sz="1800" dirty="0"/>
          </a:p>
        </p:txBody>
      </p:sp>
      <p:sp>
        <p:nvSpPr>
          <p:cNvPr id="47" name="Text 45"/>
          <p:cNvSpPr txBox="1"/>
          <p:nvPr/>
        </p:nvSpPr>
        <p:spPr>
          <a:xfrm>
            <a:off x="6519672" y="3886200"/>
            <a:ext cx="4846320" cy="914400"/>
          </a:xfrm>
          <a:prstGeom prst="rect">
            <a:avLst/>
          </a:prstGeom>
          <a:noFill/>
          <a:ln/>
        </p:spPr>
        <p:txBody>
          <a:bodyPr wrap="square" lIns="0" tIns="0" rIns="0" bIns="0" rtlCol="0" anchor="t"/>
          <a:lstStyle/>
          <a:p>
            <a:pPr indent="0" marL="0">
              <a:buNone/>
            </a:pPr>
            <a:r>
              <a:rPr lang="en-US" sz="1400" dirty="0">
                <a:solidFill>
                  <a:srgbClr val="0E2A33"/>
                </a:solidFill>
                <a:latin typeface="Calibri" pitchFamily="34" charset="0"/>
                <a:ea typeface="Calibri" pitchFamily="34" charset="-122"/>
                <a:cs typeface="Calibri" pitchFamily="34" charset="-120"/>
              </a:rPr>
              <a:t>Mọi ngày chỉ dùng tuần cuối trước gốc dự báo. Bốn mô hình học máy dùng độ trễ ≥ 16 ngày theo ngày lịch (29 đặc trưng).</a:t>
            </a:r>
            <a:endParaRPr lang="en-US" sz="1400" dirty="0"/>
          </a:p>
        </p:txBody>
      </p:sp>
      <p:sp>
        <p:nvSpPr>
          <p:cNvPr id="48" name="Text 46"/>
          <p:cNvSpPr txBox="1"/>
          <p:nvPr/>
        </p:nvSpPr>
        <p:spPr>
          <a:xfrm>
            <a:off x="6519672" y="5029200"/>
            <a:ext cx="4572000" cy="457200"/>
          </a:xfrm>
          <a:prstGeom prst="rect">
            <a:avLst/>
          </a:prstGeom>
          <a:noFill/>
          <a:ln/>
        </p:spPr>
        <p:txBody>
          <a:bodyPr wrap="square" lIns="0" tIns="0" rIns="0" bIns="0" rtlCol="0" anchor="t"/>
          <a:lstStyle/>
          <a:p>
            <a:pPr indent="0" marL="0">
              <a:buNone/>
            </a:pPr>
            <a:r>
              <a:rPr lang="en-US" sz="2200" b="1" dirty="0">
                <a:solidFill>
                  <a:srgbClr val="3C8D5A"/>
                </a:solidFill>
                <a:latin typeface="Cambria" pitchFamily="34" charset="0"/>
                <a:ea typeface="Cambria" pitchFamily="34" charset="-122"/>
                <a:cs typeface="Cambria" pitchFamily="34" charset="-120"/>
              </a:rPr>
              <a:t>WAPE CV 15,718%</a:t>
            </a:r>
            <a:endParaRPr lang="en-US" sz="2200" dirty="0"/>
          </a:p>
        </p:txBody>
      </p:sp>
      <p:sp>
        <p:nvSpPr>
          <p:cNvPr id="49" name="Text 4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outputs/04_model_comparison/model_comparison_summary.csv; 04_train_compare_5_models.py.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THIẾT KẾ ĐÁNH GIÁ</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Ba lần kiểm định cuốn chiếu và một tập kiểm tra cuối khóa trước</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16</a:t>
            </a:r>
            <a:endParaRPr lang="en-US" sz="900" dirty="0"/>
          </a:p>
        </p:txBody>
      </p:sp>
      <p:sp>
        <p:nvSpPr>
          <p:cNvPr id="6" name="Text 4"/>
          <p:cNvSpPr txBox="1"/>
          <p:nvPr/>
        </p:nvSpPr>
        <p:spPr>
          <a:xfrm>
            <a:off x="548640" y="1755648"/>
            <a:ext cx="1463040" cy="365760"/>
          </a:xfrm>
          <a:prstGeom prst="rect">
            <a:avLst/>
          </a:prstGeom>
          <a:noFill/>
          <a:ln/>
        </p:spPr>
        <p:txBody>
          <a:bodyPr wrap="square" lIns="0" tIns="0" rIns="0" bIns="0" rtlCol="0" anchor="t"/>
          <a:lstStyle/>
          <a:p>
            <a:pPr indent="0" marL="0">
              <a:buNone/>
            </a:pPr>
            <a:r>
              <a:rPr lang="en-US" sz="1400" b="1" dirty="0">
                <a:solidFill>
                  <a:srgbClr val="12505F"/>
                </a:solidFill>
                <a:latin typeface="Calibri" pitchFamily="34" charset="0"/>
                <a:ea typeface="Calibri" pitchFamily="34" charset="-122"/>
                <a:cs typeface="Calibri" pitchFamily="34" charset="-120"/>
              </a:rPr>
              <a:t>Lần 1</a:t>
            </a:r>
            <a:endParaRPr lang="en-US" sz="1400" dirty="0"/>
          </a:p>
        </p:txBody>
      </p:sp>
      <p:sp>
        <p:nvSpPr>
          <p:cNvPr id="7" name="Shape 5"/>
          <p:cNvSpPr/>
          <p:nvPr/>
        </p:nvSpPr>
        <p:spPr>
          <a:xfrm>
            <a:off x="2103120" y="1645920"/>
            <a:ext cx="3383280" cy="566928"/>
          </a:xfrm>
          <a:prstGeom prst="roundRect">
            <a:avLst>
              <a:gd name="adj" fmla="val 9677"/>
            </a:avLst>
          </a:prstGeom>
          <a:solidFill>
            <a:srgbClr val="C9D6D8"/>
          </a:solidFill>
          <a:ln w="12700">
            <a:solidFill>
              <a:srgbClr val="C9D6D8"/>
            </a:solidFill>
            <a:prstDash val="solid"/>
          </a:ln>
        </p:spPr>
      </p:sp>
      <p:sp>
        <p:nvSpPr>
          <p:cNvPr id="8" name="Text 6"/>
          <p:cNvSpPr txBox="1"/>
          <p:nvPr/>
        </p:nvSpPr>
        <p:spPr>
          <a:xfrm>
            <a:off x="2240280" y="1645920"/>
            <a:ext cx="3657600" cy="566928"/>
          </a:xfrm>
          <a:prstGeom prst="rect">
            <a:avLst/>
          </a:prstGeom>
          <a:noFill/>
          <a:ln/>
        </p:spPr>
        <p:txBody>
          <a:bodyPr wrap="square" lIns="0" tIns="0" rIns="0" bIns="0" rtlCol="0" anchor="ctr"/>
          <a:lstStyle/>
          <a:p>
            <a:pPr indent="0" marL="0">
              <a:buNone/>
            </a:pPr>
            <a:r>
              <a:rPr lang="en-US" sz="1200" dirty="0">
                <a:solidFill>
                  <a:srgbClr val="0E2A33"/>
                </a:solidFill>
                <a:latin typeface="Calibri" pitchFamily="34" charset="0"/>
                <a:ea typeface="Calibri" pitchFamily="34" charset="-122"/>
                <a:cs typeface="Calibri" pitchFamily="34" charset="-120"/>
              </a:rPr>
              <a:t>Huấn luyện: mọi ngày trước gốc</a:t>
            </a:r>
            <a:endParaRPr lang="en-US" sz="1200" dirty="0"/>
          </a:p>
        </p:txBody>
      </p:sp>
      <p:sp>
        <p:nvSpPr>
          <p:cNvPr id="9" name="Shape 7"/>
          <p:cNvSpPr/>
          <p:nvPr/>
        </p:nvSpPr>
        <p:spPr>
          <a:xfrm>
            <a:off x="5532120" y="1645920"/>
            <a:ext cx="1005840" cy="566928"/>
          </a:xfrm>
          <a:prstGeom prst="roundRect">
            <a:avLst>
              <a:gd name="adj" fmla="val 9677"/>
            </a:avLst>
          </a:prstGeom>
          <a:solidFill>
            <a:srgbClr val="1B8A8F"/>
          </a:solidFill>
          <a:ln w="12700">
            <a:solidFill>
              <a:srgbClr val="1B8A8F"/>
            </a:solidFill>
            <a:prstDash val="solid"/>
          </a:ln>
        </p:spPr>
      </p:sp>
      <p:sp>
        <p:nvSpPr>
          <p:cNvPr id="10" name="Text 8"/>
          <p:cNvSpPr txBox="1"/>
          <p:nvPr/>
        </p:nvSpPr>
        <p:spPr>
          <a:xfrm>
            <a:off x="5532120" y="1645920"/>
            <a:ext cx="1005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 ngày</a:t>
            </a:r>
            <a:endParaRPr lang="en-US" sz="1200" dirty="0"/>
          </a:p>
        </p:txBody>
      </p:sp>
      <p:sp>
        <p:nvSpPr>
          <p:cNvPr id="11" name="Text 9"/>
          <p:cNvSpPr txBox="1"/>
          <p:nvPr/>
        </p:nvSpPr>
        <p:spPr>
          <a:xfrm>
            <a:off x="6629400" y="1645920"/>
            <a:ext cx="2286000" cy="566928"/>
          </a:xfrm>
          <a:prstGeom prst="rect">
            <a:avLst/>
          </a:prstGeom>
          <a:noFill/>
          <a:ln/>
        </p:spPr>
        <p:txBody>
          <a:bodyPr wrap="square" lIns="0" tIns="0" rIns="0" bIns="0" rtlCol="0" anchor="ctr"/>
          <a:lstStyle/>
          <a:p>
            <a:pPr indent="0" marL="0">
              <a:buNone/>
            </a:pPr>
            <a:r>
              <a:rPr lang="en-US" sz="1200" dirty="0">
                <a:solidFill>
                  <a:srgbClr val="5B6B70"/>
                </a:solidFill>
                <a:latin typeface="Calibri" pitchFamily="34" charset="0"/>
                <a:ea typeface="Calibri" pitchFamily="34" charset="-122"/>
                <a:cs typeface="Calibri" pitchFamily="34" charset="-120"/>
              </a:rPr>
              <a:t>13/06 – 28/06/2017</a:t>
            </a:r>
            <a:endParaRPr lang="en-US" sz="1200" dirty="0"/>
          </a:p>
        </p:txBody>
      </p:sp>
      <p:sp>
        <p:nvSpPr>
          <p:cNvPr id="12" name="Text 10"/>
          <p:cNvSpPr txBox="1"/>
          <p:nvPr/>
        </p:nvSpPr>
        <p:spPr>
          <a:xfrm>
            <a:off x="548640" y="2624328"/>
            <a:ext cx="1463040" cy="365760"/>
          </a:xfrm>
          <a:prstGeom prst="rect">
            <a:avLst/>
          </a:prstGeom>
          <a:noFill/>
          <a:ln/>
        </p:spPr>
        <p:txBody>
          <a:bodyPr wrap="square" lIns="0" tIns="0" rIns="0" bIns="0" rtlCol="0" anchor="t"/>
          <a:lstStyle/>
          <a:p>
            <a:pPr indent="0" marL="0">
              <a:buNone/>
            </a:pPr>
            <a:r>
              <a:rPr lang="en-US" sz="1400" b="1" dirty="0">
                <a:solidFill>
                  <a:srgbClr val="12505F"/>
                </a:solidFill>
                <a:latin typeface="Calibri" pitchFamily="34" charset="0"/>
                <a:ea typeface="Calibri" pitchFamily="34" charset="-122"/>
                <a:cs typeface="Calibri" pitchFamily="34" charset="-120"/>
              </a:rPr>
              <a:t>Lần 2</a:t>
            </a:r>
            <a:endParaRPr lang="en-US" sz="1400" dirty="0"/>
          </a:p>
        </p:txBody>
      </p:sp>
      <p:sp>
        <p:nvSpPr>
          <p:cNvPr id="13" name="Shape 11"/>
          <p:cNvSpPr/>
          <p:nvPr/>
        </p:nvSpPr>
        <p:spPr>
          <a:xfrm>
            <a:off x="2103120" y="2514600"/>
            <a:ext cx="4251960" cy="566928"/>
          </a:xfrm>
          <a:prstGeom prst="roundRect">
            <a:avLst>
              <a:gd name="adj" fmla="val 9677"/>
            </a:avLst>
          </a:prstGeom>
          <a:solidFill>
            <a:srgbClr val="C9D6D8"/>
          </a:solidFill>
          <a:ln w="12700">
            <a:solidFill>
              <a:srgbClr val="C9D6D8"/>
            </a:solidFill>
            <a:prstDash val="solid"/>
          </a:ln>
        </p:spPr>
      </p:sp>
      <p:sp>
        <p:nvSpPr>
          <p:cNvPr id="14" name="Text 12"/>
          <p:cNvSpPr txBox="1"/>
          <p:nvPr/>
        </p:nvSpPr>
        <p:spPr>
          <a:xfrm>
            <a:off x="2240280" y="2514600"/>
            <a:ext cx="3657600" cy="566928"/>
          </a:xfrm>
          <a:prstGeom prst="rect">
            <a:avLst/>
          </a:prstGeom>
          <a:noFill/>
          <a:ln/>
        </p:spPr>
        <p:txBody>
          <a:bodyPr wrap="square" lIns="0" tIns="0" rIns="0" bIns="0" rtlCol="0" anchor="ctr"/>
          <a:lstStyle/>
          <a:p>
            <a:pPr indent="0" marL="0">
              <a:buNone/>
            </a:pPr>
            <a:r>
              <a:rPr lang="en-US" sz="1200" dirty="0">
                <a:solidFill>
                  <a:srgbClr val="0E2A33"/>
                </a:solidFill>
                <a:latin typeface="Calibri" pitchFamily="34" charset="0"/>
                <a:ea typeface="Calibri" pitchFamily="34" charset="-122"/>
                <a:cs typeface="Calibri" pitchFamily="34" charset="-120"/>
              </a:rPr>
              <a:t>Huấn luyện: mọi ngày trước gốc</a:t>
            </a:r>
            <a:endParaRPr lang="en-US" sz="1200" dirty="0"/>
          </a:p>
        </p:txBody>
      </p:sp>
      <p:sp>
        <p:nvSpPr>
          <p:cNvPr id="15" name="Shape 13"/>
          <p:cNvSpPr/>
          <p:nvPr/>
        </p:nvSpPr>
        <p:spPr>
          <a:xfrm>
            <a:off x="6400800" y="2514600"/>
            <a:ext cx="1005840" cy="566928"/>
          </a:xfrm>
          <a:prstGeom prst="roundRect">
            <a:avLst>
              <a:gd name="adj" fmla="val 9677"/>
            </a:avLst>
          </a:prstGeom>
          <a:solidFill>
            <a:srgbClr val="1B8A8F"/>
          </a:solidFill>
          <a:ln w="12700">
            <a:solidFill>
              <a:srgbClr val="1B8A8F"/>
            </a:solidFill>
            <a:prstDash val="solid"/>
          </a:ln>
        </p:spPr>
      </p:sp>
      <p:sp>
        <p:nvSpPr>
          <p:cNvPr id="16" name="Text 14"/>
          <p:cNvSpPr txBox="1"/>
          <p:nvPr/>
        </p:nvSpPr>
        <p:spPr>
          <a:xfrm>
            <a:off x="6400800" y="2514600"/>
            <a:ext cx="1005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 ngày</a:t>
            </a:r>
            <a:endParaRPr lang="en-US" sz="1200" dirty="0"/>
          </a:p>
        </p:txBody>
      </p:sp>
      <p:sp>
        <p:nvSpPr>
          <p:cNvPr id="17" name="Text 15"/>
          <p:cNvSpPr txBox="1"/>
          <p:nvPr/>
        </p:nvSpPr>
        <p:spPr>
          <a:xfrm>
            <a:off x="7498080" y="2514600"/>
            <a:ext cx="2286000" cy="566928"/>
          </a:xfrm>
          <a:prstGeom prst="rect">
            <a:avLst/>
          </a:prstGeom>
          <a:noFill/>
          <a:ln/>
        </p:spPr>
        <p:txBody>
          <a:bodyPr wrap="square" lIns="0" tIns="0" rIns="0" bIns="0" rtlCol="0" anchor="ctr"/>
          <a:lstStyle/>
          <a:p>
            <a:pPr indent="0" marL="0">
              <a:buNone/>
            </a:pPr>
            <a:r>
              <a:rPr lang="en-US" sz="1200" dirty="0">
                <a:solidFill>
                  <a:srgbClr val="5B6B70"/>
                </a:solidFill>
                <a:latin typeface="Calibri" pitchFamily="34" charset="0"/>
                <a:ea typeface="Calibri" pitchFamily="34" charset="-122"/>
                <a:cs typeface="Calibri" pitchFamily="34" charset="-120"/>
              </a:rPr>
              <a:t>29/06 – 14/07/2017</a:t>
            </a:r>
            <a:endParaRPr lang="en-US" sz="1200" dirty="0"/>
          </a:p>
        </p:txBody>
      </p:sp>
      <p:sp>
        <p:nvSpPr>
          <p:cNvPr id="18" name="Text 16"/>
          <p:cNvSpPr txBox="1"/>
          <p:nvPr/>
        </p:nvSpPr>
        <p:spPr>
          <a:xfrm>
            <a:off x="548640" y="3493008"/>
            <a:ext cx="1463040" cy="365760"/>
          </a:xfrm>
          <a:prstGeom prst="rect">
            <a:avLst/>
          </a:prstGeom>
          <a:noFill/>
          <a:ln/>
        </p:spPr>
        <p:txBody>
          <a:bodyPr wrap="square" lIns="0" tIns="0" rIns="0" bIns="0" rtlCol="0" anchor="t"/>
          <a:lstStyle/>
          <a:p>
            <a:pPr indent="0" marL="0">
              <a:buNone/>
            </a:pPr>
            <a:r>
              <a:rPr lang="en-US" sz="1400" b="1" dirty="0">
                <a:solidFill>
                  <a:srgbClr val="12505F"/>
                </a:solidFill>
                <a:latin typeface="Calibri" pitchFamily="34" charset="0"/>
                <a:ea typeface="Calibri" pitchFamily="34" charset="-122"/>
                <a:cs typeface="Calibri" pitchFamily="34" charset="-120"/>
              </a:rPr>
              <a:t>Lần 3</a:t>
            </a:r>
            <a:endParaRPr lang="en-US" sz="1400" dirty="0"/>
          </a:p>
        </p:txBody>
      </p:sp>
      <p:sp>
        <p:nvSpPr>
          <p:cNvPr id="19" name="Shape 17"/>
          <p:cNvSpPr/>
          <p:nvPr/>
        </p:nvSpPr>
        <p:spPr>
          <a:xfrm>
            <a:off x="2103120" y="3383280"/>
            <a:ext cx="5120640" cy="566928"/>
          </a:xfrm>
          <a:prstGeom prst="roundRect">
            <a:avLst>
              <a:gd name="adj" fmla="val 9677"/>
            </a:avLst>
          </a:prstGeom>
          <a:solidFill>
            <a:srgbClr val="C9D6D8"/>
          </a:solidFill>
          <a:ln w="12700">
            <a:solidFill>
              <a:srgbClr val="C9D6D8"/>
            </a:solidFill>
            <a:prstDash val="solid"/>
          </a:ln>
        </p:spPr>
      </p:sp>
      <p:sp>
        <p:nvSpPr>
          <p:cNvPr id="20" name="Text 18"/>
          <p:cNvSpPr txBox="1"/>
          <p:nvPr/>
        </p:nvSpPr>
        <p:spPr>
          <a:xfrm>
            <a:off x="2240280" y="3383280"/>
            <a:ext cx="3657600" cy="566928"/>
          </a:xfrm>
          <a:prstGeom prst="rect">
            <a:avLst/>
          </a:prstGeom>
          <a:noFill/>
          <a:ln/>
        </p:spPr>
        <p:txBody>
          <a:bodyPr wrap="square" lIns="0" tIns="0" rIns="0" bIns="0" rtlCol="0" anchor="ctr"/>
          <a:lstStyle/>
          <a:p>
            <a:pPr indent="0" marL="0">
              <a:buNone/>
            </a:pPr>
            <a:r>
              <a:rPr lang="en-US" sz="1200" dirty="0">
                <a:solidFill>
                  <a:srgbClr val="0E2A33"/>
                </a:solidFill>
                <a:latin typeface="Calibri" pitchFamily="34" charset="0"/>
                <a:ea typeface="Calibri" pitchFamily="34" charset="-122"/>
                <a:cs typeface="Calibri" pitchFamily="34" charset="-120"/>
              </a:rPr>
              <a:t>Huấn luyện: mọi ngày trước gốc</a:t>
            </a:r>
            <a:endParaRPr lang="en-US" sz="1200" dirty="0"/>
          </a:p>
        </p:txBody>
      </p:sp>
      <p:sp>
        <p:nvSpPr>
          <p:cNvPr id="21" name="Shape 19"/>
          <p:cNvSpPr/>
          <p:nvPr/>
        </p:nvSpPr>
        <p:spPr>
          <a:xfrm>
            <a:off x="7269480" y="3383280"/>
            <a:ext cx="1005840" cy="566928"/>
          </a:xfrm>
          <a:prstGeom prst="roundRect">
            <a:avLst>
              <a:gd name="adj" fmla="val 9677"/>
            </a:avLst>
          </a:prstGeom>
          <a:solidFill>
            <a:srgbClr val="1B8A8F"/>
          </a:solidFill>
          <a:ln w="12700">
            <a:solidFill>
              <a:srgbClr val="1B8A8F"/>
            </a:solidFill>
            <a:prstDash val="solid"/>
          </a:ln>
        </p:spPr>
      </p:sp>
      <p:sp>
        <p:nvSpPr>
          <p:cNvPr id="22" name="Text 20"/>
          <p:cNvSpPr txBox="1"/>
          <p:nvPr/>
        </p:nvSpPr>
        <p:spPr>
          <a:xfrm>
            <a:off x="7269480" y="3383280"/>
            <a:ext cx="1005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 ngày</a:t>
            </a:r>
            <a:endParaRPr lang="en-US" sz="1200" dirty="0"/>
          </a:p>
        </p:txBody>
      </p:sp>
      <p:sp>
        <p:nvSpPr>
          <p:cNvPr id="23" name="Text 21"/>
          <p:cNvSpPr txBox="1"/>
          <p:nvPr/>
        </p:nvSpPr>
        <p:spPr>
          <a:xfrm>
            <a:off x="8366760" y="3383280"/>
            <a:ext cx="2286000" cy="566928"/>
          </a:xfrm>
          <a:prstGeom prst="rect">
            <a:avLst/>
          </a:prstGeom>
          <a:noFill/>
          <a:ln/>
        </p:spPr>
        <p:txBody>
          <a:bodyPr wrap="square" lIns="0" tIns="0" rIns="0" bIns="0" rtlCol="0" anchor="ctr"/>
          <a:lstStyle/>
          <a:p>
            <a:pPr indent="0" marL="0">
              <a:buNone/>
            </a:pPr>
            <a:r>
              <a:rPr lang="en-US" sz="1200" dirty="0">
                <a:solidFill>
                  <a:srgbClr val="5B6B70"/>
                </a:solidFill>
                <a:latin typeface="Calibri" pitchFamily="34" charset="0"/>
                <a:ea typeface="Calibri" pitchFamily="34" charset="-122"/>
                <a:cs typeface="Calibri" pitchFamily="34" charset="-120"/>
              </a:rPr>
              <a:t>15/07 – 30/07/2017</a:t>
            </a:r>
            <a:endParaRPr lang="en-US" sz="1200" dirty="0"/>
          </a:p>
        </p:txBody>
      </p:sp>
      <p:sp>
        <p:nvSpPr>
          <p:cNvPr id="24" name="Text 22"/>
          <p:cNvSpPr txBox="1"/>
          <p:nvPr/>
        </p:nvSpPr>
        <p:spPr>
          <a:xfrm>
            <a:off x="548640" y="4361688"/>
            <a:ext cx="1463040" cy="36576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Kiểm tra cuối</a:t>
            </a:r>
            <a:endParaRPr lang="en-US" sz="1400" dirty="0"/>
          </a:p>
        </p:txBody>
      </p:sp>
      <p:sp>
        <p:nvSpPr>
          <p:cNvPr id="25" name="Shape 23"/>
          <p:cNvSpPr/>
          <p:nvPr/>
        </p:nvSpPr>
        <p:spPr>
          <a:xfrm>
            <a:off x="2103120" y="4251960"/>
            <a:ext cx="5989320" cy="566928"/>
          </a:xfrm>
          <a:prstGeom prst="roundRect">
            <a:avLst>
              <a:gd name="adj" fmla="val 9677"/>
            </a:avLst>
          </a:prstGeom>
          <a:solidFill>
            <a:srgbClr val="C9D6D8"/>
          </a:solidFill>
          <a:ln w="12700">
            <a:solidFill>
              <a:srgbClr val="C9D6D8"/>
            </a:solidFill>
            <a:prstDash val="solid"/>
          </a:ln>
        </p:spPr>
      </p:sp>
      <p:sp>
        <p:nvSpPr>
          <p:cNvPr id="26" name="Text 24"/>
          <p:cNvSpPr txBox="1"/>
          <p:nvPr/>
        </p:nvSpPr>
        <p:spPr>
          <a:xfrm>
            <a:off x="2240280" y="4251960"/>
            <a:ext cx="3657600" cy="566928"/>
          </a:xfrm>
          <a:prstGeom prst="rect">
            <a:avLst/>
          </a:prstGeom>
          <a:noFill/>
          <a:ln/>
        </p:spPr>
        <p:txBody>
          <a:bodyPr wrap="square" lIns="0" tIns="0" rIns="0" bIns="0" rtlCol="0" anchor="ctr"/>
          <a:lstStyle/>
          <a:p>
            <a:pPr indent="0" marL="0">
              <a:buNone/>
            </a:pPr>
            <a:r>
              <a:rPr lang="en-US" sz="1200" dirty="0">
                <a:solidFill>
                  <a:srgbClr val="0E2A33"/>
                </a:solidFill>
                <a:latin typeface="Calibri" pitchFamily="34" charset="0"/>
                <a:ea typeface="Calibri" pitchFamily="34" charset="-122"/>
                <a:cs typeface="Calibri" pitchFamily="34" charset="-120"/>
              </a:rPr>
              <a:t>Huấn luyện: mọi ngày trước gốc</a:t>
            </a:r>
            <a:endParaRPr lang="en-US" sz="1200" dirty="0"/>
          </a:p>
        </p:txBody>
      </p:sp>
      <p:sp>
        <p:nvSpPr>
          <p:cNvPr id="27" name="Shape 25"/>
          <p:cNvSpPr/>
          <p:nvPr/>
        </p:nvSpPr>
        <p:spPr>
          <a:xfrm>
            <a:off x="8138160" y="4251960"/>
            <a:ext cx="1005840" cy="566928"/>
          </a:xfrm>
          <a:prstGeom prst="roundRect">
            <a:avLst>
              <a:gd name="adj" fmla="val 9677"/>
            </a:avLst>
          </a:prstGeom>
          <a:solidFill>
            <a:srgbClr val="E8A33D"/>
          </a:solidFill>
          <a:ln w="12700">
            <a:solidFill>
              <a:srgbClr val="E8A33D"/>
            </a:solidFill>
            <a:prstDash val="solid"/>
          </a:ln>
        </p:spPr>
      </p:sp>
      <p:sp>
        <p:nvSpPr>
          <p:cNvPr id="28" name="Text 26"/>
          <p:cNvSpPr txBox="1"/>
          <p:nvPr/>
        </p:nvSpPr>
        <p:spPr>
          <a:xfrm>
            <a:off x="8138160" y="4251960"/>
            <a:ext cx="1005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 ngày</a:t>
            </a:r>
            <a:endParaRPr lang="en-US" sz="1200" dirty="0"/>
          </a:p>
        </p:txBody>
      </p:sp>
      <p:sp>
        <p:nvSpPr>
          <p:cNvPr id="29" name="Text 27"/>
          <p:cNvSpPr txBox="1"/>
          <p:nvPr/>
        </p:nvSpPr>
        <p:spPr>
          <a:xfrm>
            <a:off x="9235440" y="4251960"/>
            <a:ext cx="2286000" cy="566928"/>
          </a:xfrm>
          <a:prstGeom prst="rect">
            <a:avLst/>
          </a:prstGeom>
          <a:noFill/>
          <a:ln/>
        </p:spPr>
        <p:txBody>
          <a:bodyPr wrap="square" lIns="0" tIns="0" rIns="0" bIns="0" rtlCol="0" anchor="ctr"/>
          <a:lstStyle/>
          <a:p>
            <a:pPr indent="0" marL="0">
              <a:buNone/>
            </a:pPr>
            <a:r>
              <a:rPr lang="en-US" sz="1200" dirty="0">
                <a:solidFill>
                  <a:srgbClr val="5B6B70"/>
                </a:solidFill>
                <a:latin typeface="Calibri" pitchFamily="34" charset="0"/>
                <a:ea typeface="Calibri" pitchFamily="34" charset="-122"/>
                <a:cs typeface="Calibri" pitchFamily="34" charset="-120"/>
              </a:rPr>
              <a:t>31/07 – 15/08/2017</a:t>
            </a:r>
            <a:endParaRPr lang="en-US" sz="1200" dirty="0"/>
          </a:p>
        </p:txBody>
      </p:sp>
      <p:sp>
        <p:nvSpPr>
          <p:cNvPr id="30" name="Text 28"/>
          <p:cNvSpPr txBox="1"/>
          <p:nvPr/>
        </p:nvSpPr>
        <p:spPr>
          <a:xfrm>
            <a:off x="548640" y="5212080"/>
            <a:ext cx="10972800" cy="9144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Chọn mô hình bằng WAPE trung bình 3 lần kiểm định, trước khi mở tập kiểm tra cuối</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Thước đo: WAPE (chính), MAE, RMSE, sMAPE, RMSLE</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Cửa sổ hiệu chỉnh khoảng dự báo 15/07–30/07/2017 (trùng lần 3) – ghi rõ là giới hạn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04</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Kết quả dự báo điểm</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Năm mô hình trong cùng điều kiện dữ liệu</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KIỂM ĐỊNH CHÉO</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XGBoost có WAPE trung bình thấp nhất qua ba lần kiểm định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18</a:t>
            </a:r>
            <a:endParaRPr lang="en-US" sz="900" dirty="0"/>
          </a:p>
        </p:txBody>
      </p:sp>
      <p:graphicFrame>
        <p:nvGraphicFramePr>
          <p:cNvPr id="6" name="Chart 0" descr=""/>
          <p:cNvGraphicFramePr/>
          <p:nvPr/>
        </p:nvGraphicFramePr>
        <p:xfrm>
          <a:off x="548640" y="146304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600200"/>
            <a:ext cx="3776472" cy="1417320"/>
          </a:xfrm>
          <a:prstGeom prst="roundRect">
            <a:avLst>
              <a:gd name="adj" fmla="val 7742"/>
            </a:avLst>
          </a:prstGeom>
          <a:solidFill>
            <a:srgbClr val="EEF5F5"/>
          </a:solidFill>
          <a:ln w="12700">
            <a:solidFill>
              <a:srgbClr val="EEF5F5"/>
            </a:solidFill>
            <a:prstDash val="solid"/>
          </a:ln>
        </p:spPr>
      </p:sp>
      <p:sp>
        <p:nvSpPr>
          <p:cNvPr id="8" name="Text 5"/>
          <p:cNvSpPr txBox="1"/>
          <p:nvPr/>
        </p:nvSpPr>
        <p:spPr>
          <a:xfrm>
            <a:off x="8092440" y="1783080"/>
            <a:ext cx="3319272"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12,089%</a:t>
            </a:r>
            <a:endParaRPr lang="en-US" sz="3200" dirty="0"/>
          </a:p>
        </p:txBody>
      </p:sp>
      <p:sp>
        <p:nvSpPr>
          <p:cNvPr id="9" name="Text 6"/>
          <p:cNvSpPr txBox="1"/>
          <p:nvPr/>
        </p:nvSpPr>
        <p:spPr>
          <a:xfrm>
            <a:off x="8092440" y="2468880"/>
            <a:ext cx="3319272"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WAPE CV XGBoost (độ lệch chuẩn 0,646%)</a:t>
            </a:r>
            <a:endParaRPr lang="en-US" sz="1200" dirty="0"/>
          </a:p>
        </p:txBody>
      </p:sp>
      <p:sp>
        <p:nvSpPr>
          <p:cNvPr id="10" name="Shape 7"/>
          <p:cNvSpPr/>
          <p:nvPr/>
        </p:nvSpPr>
        <p:spPr>
          <a:xfrm>
            <a:off x="7863840" y="3200400"/>
            <a:ext cx="3776472" cy="1417320"/>
          </a:xfrm>
          <a:prstGeom prst="roundRect">
            <a:avLst>
              <a:gd name="adj" fmla="val 7742"/>
            </a:avLst>
          </a:prstGeom>
          <a:solidFill>
            <a:srgbClr val="EEF5F5"/>
          </a:solidFill>
          <a:ln w="12700">
            <a:solidFill>
              <a:srgbClr val="EEF5F5"/>
            </a:solidFill>
            <a:prstDash val="solid"/>
          </a:ln>
        </p:spPr>
      </p:sp>
      <p:sp>
        <p:nvSpPr>
          <p:cNvPr id="11" name="Text 8"/>
          <p:cNvSpPr txBox="1"/>
          <p:nvPr/>
        </p:nvSpPr>
        <p:spPr>
          <a:xfrm>
            <a:off x="8092440" y="3383280"/>
            <a:ext cx="3319272" cy="685800"/>
          </a:xfrm>
          <a:prstGeom prst="rect">
            <a:avLst/>
          </a:prstGeom>
          <a:noFill/>
          <a:ln/>
        </p:spPr>
        <p:txBody>
          <a:bodyPr wrap="square" lIns="0" tIns="0" rIns="0" bIns="0" rtlCol="0" anchor="t"/>
          <a:lstStyle/>
          <a:p>
            <a:pPr indent="0" marL="0">
              <a:buNone/>
            </a:pPr>
            <a:r>
              <a:rPr lang="en-US" sz="3200" b="1" dirty="0">
                <a:solidFill>
                  <a:srgbClr val="12505F"/>
                </a:solidFill>
                <a:latin typeface="Cambria" pitchFamily="34" charset="0"/>
                <a:ea typeface="Cambria" pitchFamily="34" charset="-122"/>
                <a:cs typeface="Cambria" pitchFamily="34" charset="-120"/>
              </a:rPr>
              <a:t>−3,63 điểm %</a:t>
            </a:r>
            <a:endParaRPr lang="en-US" sz="3200" dirty="0"/>
          </a:p>
        </p:txBody>
      </p:sp>
      <p:sp>
        <p:nvSpPr>
          <p:cNvPr id="12" name="Text 9"/>
          <p:cNvSpPr txBox="1"/>
          <p:nvPr/>
        </p:nvSpPr>
        <p:spPr>
          <a:xfrm>
            <a:off x="8092440" y="4069080"/>
            <a:ext cx="3319272"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so với Seasonal Naive (15,718%)</a:t>
            </a:r>
            <a:endParaRPr lang="en-US" sz="1200" dirty="0"/>
          </a:p>
        </p:txBody>
      </p:sp>
      <p:sp>
        <p:nvSpPr>
          <p:cNvPr id="13" name="Shape 10"/>
          <p:cNvSpPr/>
          <p:nvPr/>
        </p:nvSpPr>
        <p:spPr>
          <a:xfrm>
            <a:off x="7863840" y="4800600"/>
            <a:ext cx="3776472" cy="1188720"/>
          </a:xfrm>
          <a:prstGeom prst="roundRect">
            <a:avLst>
              <a:gd name="adj" fmla="val 9231"/>
            </a:avLst>
          </a:prstGeom>
          <a:solidFill>
            <a:srgbClr val="EEF5F5"/>
          </a:solidFill>
          <a:ln w="12700">
            <a:solidFill>
              <a:srgbClr val="EEF5F5"/>
            </a:solidFill>
            <a:prstDash val="solid"/>
          </a:ln>
        </p:spPr>
      </p:sp>
      <p:sp>
        <p:nvSpPr>
          <p:cNvPr id="14" name="Text 11"/>
          <p:cNvSpPr txBox="1"/>
          <p:nvPr/>
        </p:nvSpPr>
        <p:spPr>
          <a:xfrm>
            <a:off x="8046720" y="4892040"/>
            <a:ext cx="3474720" cy="1005840"/>
          </a:xfrm>
          <a:prstGeom prst="rect">
            <a:avLst/>
          </a:prstGeom>
          <a:noFill/>
          <a:ln/>
        </p:spPr>
        <p:txBody>
          <a:bodyPr wrap="square" lIns="0" tIns="0" rIns="0" bIns="0" rtlCol="0" anchor="t"/>
          <a:lstStyle/>
          <a:p>
            <a:pPr indent="0" marL="0">
              <a:buNone/>
            </a:pPr>
            <a:r>
              <a:rPr lang="en-US" sz="1250" dirty="0">
                <a:solidFill>
                  <a:srgbClr val="0E2A33"/>
                </a:solidFill>
                <a:latin typeface="Calibri" pitchFamily="34" charset="0"/>
                <a:ea typeface="Calibri" pitchFamily="34" charset="-122"/>
                <a:cs typeface="Calibri" pitchFamily="34" charset="-120"/>
              </a:rPr>
              <a:t>XGBoost – LightGBM chênh 0,48 điểm %, nhỏ hơn độ lệch chuẩn giữa các lần: không khẳng định được ý nghĩa thống kê.</a:t>
            </a:r>
            <a:endParaRPr lang="en-US" sz="1250" dirty="0"/>
          </a:p>
        </p:txBody>
      </p:sp>
      <p:sp>
        <p:nvSpPr>
          <p:cNvPr id="15" name="Text 12"/>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outputs/04_model_comparison/model_comparison_summary.csv.</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ĐỘ ỔN ĐỊNH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Thứ hạng theo từng lần kiểm định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19</a:t>
            </a:r>
            <a:endParaRPr lang="en-US" sz="900" dirty="0"/>
          </a:p>
        </p:txBody>
      </p:sp>
      <p:graphicFrame>
        <p:nvGraphicFramePr>
          <p:cNvPr id="6" name="Chart 0" descr=""/>
          <p:cNvGraphicFramePr/>
          <p:nvPr/>
        </p:nvGraphicFramePr>
        <p:xfrm>
          <a:off x="548640" y="146304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412480" y="1600200"/>
            <a:ext cx="3227832" cy="4389120"/>
          </a:xfrm>
          <a:prstGeom prst="roundRect">
            <a:avLst>
              <a:gd name="adj" fmla="val 3399"/>
            </a:avLst>
          </a:prstGeom>
          <a:solidFill>
            <a:srgbClr val="EEF5F5"/>
          </a:solidFill>
          <a:ln w="12700">
            <a:solidFill>
              <a:srgbClr val="EEF5F5"/>
            </a:solidFill>
            <a:prstDash val="solid"/>
          </a:ln>
        </p:spPr>
      </p:sp>
      <p:sp>
        <p:nvSpPr>
          <p:cNvPr id="8" name="Text 5"/>
          <p:cNvSpPr txBox="1"/>
          <p:nvPr/>
        </p:nvSpPr>
        <p:spPr>
          <a:xfrm>
            <a:off x="8641080" y="1783080"/>
            <a:ext cx="274320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Nhận xét</a:t>
            </a:r>
            <a:endParaRPr lang="en-US" sz="1800" dirty="0"/>
          </a:p>
        </p:txBody>
      </p:sp>
      <p:sp>
        <p:nvSpPr>
          <p:cNvPr id="9" name="Text 6"/>
          <p:cNvSpPr txBox="1"/>
          <p:nvPr/>
        </p:nvSpPr>
        <p:spPr>
          <a:xfrm>
            <a:off x="8641080" y="2286000"/>
            <a:ext cx="2834640" cy="36576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XGBoost thấp nhất và có RMSE thấp nhất ở cả ba lần</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Lần 2 có WAPE thấp nhất với cả ba mô hình cây</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Seasonal Naive dao động mạnh nhất (độ lệch chuẩn 1,552%)</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Random Forest huấn luyện trên 600.000 dòng vì chi phí; thời gian TB 613 giây/lần</a:t>
            </a:r>
            <a:endParaRPr lang="en-US" sz="135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outputs/04_model_comparison/rolling_cv_metrics.csv. Trục dọc bắt đầu từ 10%.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TẬP KIỂM TRA CUỐI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Kết quả trên 31/07–15/08/2017 giữ nguyên thứ tự hai nhóm</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400800" cy="914400"/>
        </p:xfrm>
        <a:graphic>
          <a:graphicData uri="http://schemas.openxmlformats.org/drawingml/2006/table">
            <a:tbl>
              <a:tblPr/>
              <a:tblGrid>
                <a:gridCol w="2560320"/>
                <a:gridCol w="1280160"/>
                <a:gridCol w="1280160"/>
                <a:gridCol w="128016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Mô hình</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WAPE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RMSE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r>
              <a:tr h="502920">
                <a:tc>
                  <a:txBody>
                    <a:bodyPr/>
                    <a:lstStyle/>
                    <a:p>
                      <a:pPr algn="l" indent="0" marL="0">
                        <a:buNone/>
                      </a:pPr>
                      <a:r>
                        <a:rPr lang="en-US" sz="1400" b="1" dirty="0">
                          <a:solidFill>
                            <a:srgbClr val="1B8A8F"/>
                          </a:solidFill>
                          <a:latin typeface="Calibri" pitchFamily="34" charset="0"/>
                          <a:ea typeface="Calibri" pitchFamily="34" charset="-122"/>
                          <a:cs typeface="Calibri" pitchFamily="34" charset="-120"/>
                        </a:rPr>
                        <a:t>XGBoost  (đã chọn)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b="1" dirty="0">
                          <a:solidFill>
                            <a:srgbClr val="1B8A8F"/>
                          </a:solidFill>
                          <a:latin typeface="Calibri" pitchFamily="34" charset="0"/>
                          <a:ea typeface="Calibri" pitchFamily="34" charset="-122"/>
                          <a:cs typeface="Calibri" pitchFamily="34" charset="-120"/>
                        </a:rPr>
                        <a:t>14,327%</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b="1" dirty="0">
                          <a:solidFill>
                            <a:srgbClr val="1B8A8F"/>
                          </a:solidFill>
                          <a:latin typeface="Calibri" pitchFamily="34" charset="0"/>
                          <a:ea typeface="Calibri" pitchFamily="34" charset="-122"/>
                          <a:cs typeface="Calibri" pitchFamily="34" charset="-120"/>
                        </a:rPr>
                        <a:t>66,927</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b="1" dirty="0">
                          <a:solidFill>
                            <a:srgbClr val="1B8A8F"/>
                          </a:solidFill>
                          <a:latin typeface="Calibri" pitchFamily="34" charset="0"/>
                          <a:ea typeface="Calibri" pitchFamily="34" charset="-122"/>
                          <a:cs typeface="Calibri" pitchFamily="34" charset="-120"/>
                        </a:rPr>
                        <a:t>225,602</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02920">
                <a:tc>
                  <a:txBody>
                    <a:bodyPr/>
                    <a:lstStyle/>
                    <a:p>
                      <a:pPr algn="l" indent="0" marL="0">
                        <a:buNone/>
                      </a:pPr>
                      <a:r>
                        <a:rPr lang="en-US" sz="1400" dirty="0">
                          <a:solidFill>
                            <a:srgbClr val="0E2A33"/>
                          </a:solidFill>
                          <a:latin typeface="Calibri" pitchFamily="34" charset="0"/>
                          <a:ea typeface="Calibri" pitchFamily="34" charset="-122"/>
                          <a:cs typeface="Calibri" pitchFamily="34" charset="-120"/>
                        </a:rPr>
                        <a:t>LightGBM</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14,868%</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69,453</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225,479</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0E2A33"/>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16,181%</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75,589</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260,521</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02920">
                <a:tc>
                  <a:txBody>
                    <a:bodyPr/>
                    <a:lstStyle/>
                    <a:p>
                      <a:pPr algn="l" indent="0" marL="0">
                        <a:buNone/>
                      </a:pPr>
                      <a:r>
                        <a:rPr lang="en-US" sz="1400" dirty="0">
                          <a:solidFill>
                            <a:srgbClr val="0E2A33"/>
                          </a:solidFill>
                          <a:latin typeface="Calibri" pitchFamily="34" charset="0"/>
                          <a:ea typeface="Calibri" pitchFamily="34" charset="-122"/>
                          <a:cs typeface="Calibri" pitchFamily="34" charset="-120"/>
                        </a:rPr>
                        <a:t>Seasonal Naive</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20,665%</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96,535</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348,382</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0E2A33"/>
                          </a:solidFill>
                          <a:latin typeface="Calibri" pitchFamily="34" charset="0"/>
                          <a:ea typeface="Calibri" pitchFamily="34" charset="-122"/>
                          <a:cs typeface="Calibri" pitchFamily="34" charset="-120"/>
                        </a:rPr>
                        <a:t>Ridge Regression</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21,160%</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98,847</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400" dirty="0">
                          <a:solidFill>
                            <a:srgbClr val="0E2A33"/>
                          </a:solidFill>
                          <a:latin typeface="Calibri" pitchFamily="34" charset="0"/>
                          <a:ea typeface="Calibri" pitchFamily="34" charset="-122"/>
                          <a:cs typeface="Calibri" pitchFamily="34" charset="-120"/>
                        </a:rPr>
                        <a:t>276,163</a:t>
                      </a:r>
                      <a:endParaRPr lang="en-US" sz="14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bl>
          </a:graphicData>
        </a:graphic>
      </p:graphicFrame>
      <p:graphicFrame>
        <p:nvGraphicFramePr>
          <p:cNvPr id="7" name="Chart 0" descr=""/>
          <p:cNvGraphicFramePr/>
          <p:nvPr/>
        </p:nvGraphicFramePr>
        <p:xfrm>
          <a:off x="7223760" y="1463040"/>
          <a:ext cx="4416552" cy="32918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223760" y="4846320"/>
            <a:ext cx="4416552" cy="1097280"/>
          </a:xfrm>
          <a:prstGeom prst="rect">
            <a:avLst/>
          </a:prstGeom>
          <a:noFill/>
          <a:ln/>
        </p:spPr>
        <p:txBody>
          <a:bodyPr wrap="square" lIns="0" tIns="0" rIns="0" bIns="0" rtlCol="0" anchor="t"/>
          <a:lstStyle/>
          <a:p>
            <a:pPr indent="0" marL="0">
              <a:buNone/>
            </a:pPr>
            <a:r>
              <a:rPr lang="en-US" sz="1300" dirty="0">
                <a:solidFill>
                  <a:srgbClr val="5B6B70"/>
                </a:solidFill>
                <a:latin typeface="Calibri" pitchFamily="34" charset="0"/>
                <a:ea typeface="Calibri" pitchFamily="34" charset="-122"/>
                <a:cs typeface="Calibri" pitchFamily="34" charset="-120"/>
              </a:rPr>
              <a:t>WAPE tập kiểm tra cao hơn CV ở mọi mô hình. LightGBM có RMSE thấp hơn XGBoost một chút (225,479 so với 225,602) nhưng WAPE cao hơn.</a:t>
            </a:r>
            <a:endParaRPr lang="en-US" sz="1300" dirty="0"/>
          </a:p>
        </p:txBody>
      </p:sp>
      <p:sp>
        <p:nvSpPr>
          <p:cNvPr id="9" name="Text 5"/>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outputs/04_model_comparison/final_holdout_metrics.csv, model_comparison_summary.csv.</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DIỄN GIẢI MÔ HÌNH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Độ trễ dài và trung bình trượt chi phối XGBoost</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21</a:t>
            </a:r>
            <a:endParaRPr lang="en-US" sz="900" dirty="0"/>
          </a:p>
        </p:txBody>
      </p:sp>
      <p:graphicFrame>
        <p:nvGraphicFramePr>
          <p:cNvPr id="6" name="Chart 0" descr=""/>
          <p:cNvGraphicFramePr/>
          <p:nvPr/>
        </p:nvGraphicFramePr>
        <p:xfrm>
          <a:off x="548640" y="146304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600200"/>
            <a:ext cx="3776472" cy="4389120"/>
          </a:xfrm>
          <a:prstGeom prst="roundRect">
            <a:avLst>
              <a:gd name="adj" fmla="val 2906"/>
            </a:avLst>
          </a:prstGeom>
          <a:solidFill>
            <a:srgbClr val="EEF5F5"/>
          </a:solidFill>
          <a:ln w="12700">
            <a:solidFill>
              <a:srgbClr val="EEF5F5"/>
            </a:solidFill>
            <a:prstDash val="solid"/>
          </a:ln>
        </p:spPr>
      </p:sp>
      <p:sp>
        <p:nvSpPr>
          <p:cNvPr id="8" name="Text 5"/>
          <p:cNvSpPr txBox="1"/>
          <p:nvPr/>
        </p:nvSpPr>
        <p:spPr>
          <a:xfrm>
            <a:off x="8092440" y="1783080"/>
            <a:ext cx="329184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Đọc biểu đồ</a:t>
            </a:r>
            <a:endParaRPr lang="en-US" sz="1800" dirty="0"/>
          </a:p>
        </p:txBody>
      </p:sp>
      <p:sp>
        <p:nvSpPr>
          <p:cNvPr id="9" name="Text 6"/>
          <p:cNvSpPr txBox="1"/>
          <p:nvPr/>
        </p:nvSpPr>
        <p:spPr>
          <a:xfrm>
            <a:off x="8092440" y="2286000"/>
            <a:ext cx="3383280" cy="36576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lag_21 và roll_mean_7 dẫn đầu: nhu cầu gần nhất đã biết tại gốc dự báo</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lag_28, lag_56 giữ nhịp mùa vụ tuần</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Gain là mức giảm hàm mất mát trung bình mỗi lần tách – không phải tác động nhân quả</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onpromotion có mặt nhưng không nằm trong nhóm đầu</a:t>
            </a:r>
            <a:endParaRPr lang="en-US" sz="135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outputs/04_model_comparison/selected_model_feature_importance.csv (XGBoost, get_score gain).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CHẨN ĐOÁN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Tổng thực tế, P50 và dải P10–P90 theo ngày trên tập kiểm tra cuối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22</a:t>
            </a:r>
            <a:endParaRPr lang="en-US" sz="900" dirty="0"/>
          </a:p>
        </p:txBody>
      </p:sp>
      <p:graphicFrame>
        <p:nvGraphicFramePr>
          <p:cNvPr id="6" name="Chart 0" descr=""/>
          <p:cNvGraphicFramePr/>
          <p:nvPr/>
        </p:nvGraphicFramePr>
        <p:xfrm>
          <a:off x="548640" y="1463040"/>
          <a:ext cx="768096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03920" y="1600200"/>
            <a:ext cx="3136392" cy="4389120"/>
          </a:xfrm>
          <a:prstGeom prst="roundRect">
            <a:avLst>
              <a:gd name="adj" fmla="val 3499"/>
            </a:avLst>
          </a:prstGeom>
          <a:solidFill>
            <a:srgbClr val="EEF5F5"/>
          </a:solidFill>
          <a:ln w="12700">
            <a:solidFill>
              <a:srgbClr val="EEF5F5"/>
            </a:solidFill>
            <a:prstDash val="solid"/>
          </a:ln>
        </p:spPr>
      </p:sp>
      <p:sp>
        <p:nvSpPr>
          <p:cNvPr id="8" name="Text 5"/>
          <p:cNvSpPr txBox="1"/>
          <p:nvPr/>
        </p:nvSpPr>
        <p:spPr>
          <a:xfrm>
            <a:off x="8732520" y="1783080"/>
            <a:ext cx="274320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Quan sát</a:t>
            </a:r>
            <a:endParaRPr lang="en-US" sz="1800" dirty="0"/>
          </a:p>
        </p:txBody>
      </p:sp>
      <p:sp>
        <p:nvSpPr>
          <p:cNvPr id="9" name="Text 6"/>
          <p:cNvSpPr txBox="1"/>
          <p:nvPr/>
        </p:nvSpPr>
        <p:spPr>
          <a:xfrm>
            <a:off x="8732520" y="2286000"/>
            <a:ext cx="2743200" cy="36576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P50 bám nhịp tuần của tổng thực tế</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Dự báo có xu hướng cao hơn thực tế (bias âm ở mọi mức nhu cầu)</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Tổng P10/P90 là tổng các phân vị theo ngày – mô tả, không phải phân vị chính xác của tổng</a:t>
            </a:r>
            <a:endParaRPr lang="en-US" sz="135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outputs/11_forecast_diagnostics/actual_vs_predicted_by_day.csv.</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05</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Dự báo xác suất P10/P50/P90</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Khoảng dự báo phải đúng ở cả nhóm chuỗi lớn</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PHƯƠNG PHÁP</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Split-conformal theo nhóm quy mô dự báo điểm (Mondrian)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554480"/>
            <a:ext cx="457200" cy="457200"/>
          </a:xfrm>
          <a:prstGeom prst="ellipse">
            <a:avLst/>
          </a:prstGeom>
          <a:solidFill>
            <a:srgbClr val="1B8A8F"/>
          </a:solidFill>
          <a:ln w="12700">
            <a:solidFill>
              <a:srgbClr val="1B8A8F"/>
            </a:solidFill>
            <a:prstDash val="solid"/>
          </a:ln>
        </p:spPr>
      </p:sp>
      <p:sp>
        <p:nvSpPr>
          <p:cNvPr id="7" name="Text 5"/>
          <p:cNvSpPr txBox="1"/>
          <p:nvPr/>
        </p:nvSpPr>
        <p:spPr>
          <a:xfrm>
            <a:off x="54864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88720" y="1600200"/>
            <a:ext cx="5120640" cy="411480"/>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Huấn luyện XGBoost trên dữ liệu trước 15/07/2017</a:t>
            </a:r>
            <a:endParaRPr lang="en-US" sz="1500" dirty="0"/>
          </a:p>
        </p:txBody>
      </p:sp>
      <p:sp>
        <p:nvSpPr>
          <p:cNvPr id="9" name="Shape 7"/>
          <p:cNvSpPr/>
          <p:nvPr/>
        </p:nvSpPr>
        <p:spPr>
          <a:xfrm>
            <a:off x="548640" y="2377440"/>
            <a:ext cx="457200" cy="457200"/>
          </a:xfrm>
          <a:prstGeom prst="ellipse">
            <a:avLst/>
          </a:prstGeom>
          <a:solidFill>
            <a:srgbClr val="1B8A8F"/>
          </a:solidFill>
          <a:ln w="12700">
            <a:solidFill>
              <a:srgbClr val="1B8A8F"/>
            </a:solidFill>
            <a:prstDash val="solid"/>
          </a:ln>
        </p:spPr>
      </p:sp>
      <p:sp>
        <p:nvSpPr>
          <p:cNvPr id="10" name="Text 8"/>
          <p:cNvSpPr txBox="1"/>
          <p:nvPr/>
        </p:nvSpPr>
        <p:spPr>
          <a:xfrm>
            <a:off x="548640" y="2377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88720" y="2423160"/>
            <a:ext cx="5120640" cy="411480"/>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Dự báo cửa sổ hiệu chỉnh 15/07–30/07/2017</a:t>
            </a:r>
            <a:endParaRPr lang="en-US" sz="1500" dirty="0"/>
          </a:p>
        </p:txBody>
      </p:sp>
      <p:sp>
        <p:nvSpPr>
          <p:cNvPr id="12" name="Shape 10"/>
          <p:cNvSpPr/>
          <p:nvPr/>
        </p:nvSpPr>
        <p:spPr>
          <a:xfrm>
            <a:off x="548640" y="3200400"/>
            <a:ext cx="457200" cy="457200"/>
          </a:xfrm>
          <a:prstGeom prst="ellipse">
            <a:avLst/>
          </a:prstGeom>
          <a:solidFill>
            <a:srgbClr val="1B8A8F"/>
          </a:solidFill>
          <a:ln w="12700">
            <a:solidFill>
              <a:srgbClr val="1B8A8F"/>
            </a:solidFill>
            <a:prstDash val="solid"/>
          </a:ln>
        </p:spPr>
      </p:sp>
      <p:sp>
        <p:nvSpPr>
          <p:cNvPr id="13" name="Text 11"/>
          <p:cNvSpPr txBox="1"/>
          <p:nvPr/>
        </p:nvSpPr>
        <p:spPr>
          <a:xfrm>
            <a:off x="548640" y="3200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88720" y="3246120"/>
            <a:ext cx="5120640" cy="411480"/>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Chia 9 nhóm theo dự báo điểm (10 phân vị, gộp biên trùng)</a:t>
            </a:r>
            <a:endParaRPr lang="en-US" sz="1500" dirty="0"/>
          </a:p>
        </p:txBody>
      </p:sp>
      <p:sp>
        <p:nvSpPr>
          <p:cNvPr id="15" name="Shape 13"/>
          <p:cNvSpPr/>
          <p:nvPr/>
        </p:nvSpPr>
        <p:spPr>
          <a:xfrm>
            <a:off x="548640" y="4023360"/>
            <a:ext cx="457200" cy="457200"/>
          </a:xfrm>
          <a:prstGeom prst="ellipse">
            <a:avLst/>
          </a:prstGeom>
          <a:solidFill>
            <a:srgbClr val="1B8A8F"/>
          </a:solidFill>
          <a:ln w="12700">
            <a:solidFill>
              <a:srgbClr val="1B8A8F"/>
            </a:solidFill>
            <a:prstDash val="solid"/>
          </a:ln>
        </p:spPr>
      </p:sp>
      <p:sp>
        <p:nvSpPr>
          <p:cNvPr id="16" name="Text 14"/>
          <p:cNvSpPr txBox="1"/>
          <p:nvPr/>
        </p:nvSpPr>
        <p:spPr>
          <a:xfrm>
            <a:off x="54864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88720" y="4069080"/>
            <a:ext cx="5120640" cy="411480"/>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Lấy phân vị 10/50/90 của phần dư trong từng nhóm</a:t>
            </a:r>
            <a:endParaRPr lang="en-US" sz="1500" dirty="0"/>
          </a:p>
        </p:txBody>
      </p:sp>
      <p:sp>
        <p:nvSpPr>
          <p:cNvPr id="18" name="Shape 16"/>
          <p:cNvSpPr/>
          <p:nvPr/>
        </p:nvSpPr>
        <p:spPr>
          <a:xfrm>
            <a:off x="548640" y="4846320"/>
            <a:ext cx="457200" cy="457200"/>
          </a:xfrm>
          <a:prstGeom prst="ellipse">
            <a:avLst/>
          </a:prstGeom>
          <a:solidFill>
            <a:srgbClr val="1B8A8F"/>
          </a:solidFill>
          <a:ln w="12700">
            <a:solidFill>
              <a:srgbClr val="1B8A8F"/>
            </a:solidFill>
            <a:prstDash val="solid"/>
          </a:ln>
        </p:spPr>
      </p:sp>
      <p:sp>
        <p:nvSpPr>
          <p:cNvPr id="19" name="Text 17"/>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88720" y="4892040"/>
            <a:ext cx="5120640" cy="411480"/>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P10/P90 = dự báo điểm + phân vị phần dư của nhóm, cắt tại 0</a:t>
            </a:r>
            <a:endParaRPr lang="en-US" sz="1500" dirty="0"/>
          </a:p>
        </p:txBody>
      </p:sp>
      <p:sp>
        <p:nvSpPr>
          <p:cNvPr id="21" name="Shape 19"/>
          <p:cNvSpPr/>
          <p:nvPr/>
        </p:nvSpPr>
        <p:spPr>
          <a:xfrm>
            <a:off x="6492240" y="1554480"/>
            <a:ext cx="2468880" cy="1417320"/>
          </a:xfrm>
          <a:prstGeom prst="roundRect">
            <a:avLst>
              <a:gd name="adj" fmla="val 7742"/>
            </a:avLst>
          </a:prstGeom>
          <a:solidFill>
            <a:srgbClr val="EEF5F5"/>
          </a:solidFill>
          <a:ln w="12700">
            <a:solidFill>
              <a:srgbClr val="EEF5F5"/>
            </a:solidFill>
            <a:prstDash val="solid"/>
          </a:ln>
        </p:spPr>
      </p:sp>
      <p:sp>
        <p:nvSpPr>
          <p:cNvPr id="22" name="Text 20"/>
          <p:cNvSpPr txBox="1"/>
          <p:nvPr/>
        </p:nvSpPr>
        <p:spPr>
          <a:xfrm>
            <a:off x="6720840" y="1737360"/>
            <a:ext cx="201168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17,850</a:t>
            </a:r>
            <a:endParaRPr lang="en-US" sz="3200" dirty="0"/>
          </a:p>
        </p:txBody>
      </p:sp>
      <p:sp>
        <p:nvSpPr>
          <p:cNvPr id="23" name="Text 21"/>
          <p:cNvSpPr txBox="1"/>
          <p:nvPr/>
        </p:nvSpPr>
        <p:spPr>
          <a:xfrm>
            <a:off x="6720840" y="2423160"/>
            <a:ext cx="20116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Pinball loss P10</a:t>
            </a:r>
            <a:endParaRPr lang="en-US" sz="1200" dirty="0"/>
          </a:p>
        </p:txBody>
      </p:sp>
      <p:sp>
        <p:nvSpPr>
          <p:cNvPr id="24" name="Shape 22"/>
          <p:cNvSpPr/>
          <p:nvPr/>
        </p:nvSpPr>
        <p:spPr>
          <a:xfrm>
            <a:off x="9171432" y="1554480"/>
            <a:ext cx="2468880" cy="1417320"/>
          </a:xfrm>
          <a:prstGeom prst="roundRect">
            <a:avLst>
              <a:gd name="adj" fmla="val 7742"/>
            </a:avLst>
          </a:prstGeom>
          <a:solidFill>
            <a:srgbClr val="EEF5F5"/>
          </a:solidFill>
          <a:ln w="12700">
            <a:solidFill>
              <a:srgbClr val="EEF5F5"/>
            </a:solidFill>
            <a:prstDash val="solid"/>
          </a:ln>
        </p:spPr>
      </p:sp>
      <p:sp>
        <p:nvSpPr>
          <p:cNvPr id="25" name="Text 23"/>
          <p:cNvSpPr txBox="1"/>
          <p:nvPr/>
        </p:nvSpPr>
        <p:spPr>
          <a:xfrm>
            <a:off x="9400032" y="1737360"/>
            <a:ext cx="201168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20,960</a:t>
            </a:r>
            <a:endParaRPr lang="en-US" sz="3200" dirty="0"/>
          </a:p>
        </p:txBody>
      </p:sp>
      <p:sp>
        <p:nvSpPr>
          <p:cNvPr id="26" name="Text 24"/>
          <p:cNvSpPr txBox="1"/>
          <p:nvPr/>
        </p:nvSpPr>
        <p:spPr>
          <a:xfrm>
            <a:off x="9400032" y="2423160"/>
            <a:ext cx="20116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Pinball loss P90</a:t>
            </a:r>
            <a:endParaRPr lang="en-US" sz="1200" dirty="0"/>
          </a:p>
        </p:txBody>
      </p:sp>
      <p:sp>
        <p:nvSpPr>
          <p:cNvPr id="27" name="Shape 25"/>
          <p:cNvSpPr/>
          <p:nvPr/>
        </p:nvSpPr>
        <p:spPr>
          <a:xfrm>
            <a:off x="6492240" y="3154680"/>
            <a:ext cx="2468880" cy="1417320"/>
          </a:xfrm>
          <a:prstGeom prst="roundRect">
            <a:avLst>
              <a:gd name="adj" fmla="val 7742"/>
            </a:avLst>
          </a:prstGeom>
          <a:solidFill>
            <a:srgbClr val="EEF5F5"/>
          </a:solidFill>
          <a:ln w="12700">
            <a:solidFill>
              <a:srgbClr val="EEF5F5"/>
            </a:solidFill>
            <a:prstDash val="solid"/>
          </a:ln>
        </p:spPr>
      </p:sp>
      <p:sp>
        <p:nvSpPr>
          <p:cNvPr id="28" name="Text 26"/>
          <p:cNvSpPr txBox="1"/>
          <p:nvPr/>
        </p:nvSpPr>
        <p:spPr>
          <a:xfrm>
            <a:off x="6720840" y="3337560"/>
            <a:ext cx="2011680" cy="685800"/>
          </a:xfrm>
          <a:prstGeom prst="rect">
            <a:avLst/>
          </a:prstGeom>
          <a:noFill/>
          <a:ln/>
        </p:spPr>
        <p:txBody>
          <a:bodyPr wrap="square" lIns="0" tIns="0" rIns="0" bIns="0" rtlCol="0" anchor="t"/>
          <a:lstStyle/>
          <a:p>
            <a:pPr indent="0" marL="0">
              <a:buNone/>
            </a:pPr>
            <a:r>
              <a:rPr lang="en-US" sz="3200" b="1" dirty="0">
                <a:solidFill>
                  <a:srgbClr val="E8A33D"/>
                </a:solidFill>
                <a:latin typeface="Cambria" pitchFamily="34" charset="0"/>
                <a:ea typeface="Cambria" pitchFamily="34" charset="-122"/>
                <a:cs typeface="Cambria" pitchFamily="34" charset="-120"/>
              </a:rPr>
              <a:t>75,40%</a:t>
            </a:r>
            <a:endParaRPr lang="en-US" sz="3200" dirty="0"/>
          </a:p>
        </p:txBody>
      </p:sp>
      <p:sp>
        <p:nvSpPr>
          <p:cNvPr id="29" name="Text 27"/>
          <p:cNvSpPr txBox="1"/>
          <p:nvPr/>
        </p:nvSpPr>
        <p:spPr>
          <a:xfrm>
            <a:off x="6720840" y="4023360"/>
            <a:ext cx="20116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Bao phủ P10–P90 (danh nghĩa 80%)</a:t>
            </a:r>
            <a:endParaRPr lang="en-US" sz="1200" dirty="0"/>
          </a:p>
        </p:txBody>
      </p:sp>
      <p:sp>
        <p:nvSpPr>
          <p:cNvPr id="30" name="Shape 28"/>
          <p:cNvSpPr/>
          <p:nvPr/>
        </p:nvSpPr>
        <p:spPr>
          <a:xfrm>
            <a:off x="9171432" y="3154680"/>
            <a:ext cx="2468880" cy="1417320"/>
          </a:xfrm>
          <a:prstGeom prst="roundRect">
            <a:avLst>
              <a:gd name="adj" fmla="val 7742"/>
            </a:avLst>
          </a:prstGeom>
          <a:solidFill>
            <a:srgbClr val="EEF5F5"/>
          </a:solidFill>
          <a:ln w="12700">
            <a:solidFill>
              <a:srgbClr val="EEF5F5"/>
            </a:solidFill>
            <a:prstDash val="solid"/>
          </a:ln>
        </p:spPr>
      </p:sp>
      <p:sp>
        <p:nvSpPr>
          <p:cNvPr id="31" name="Text 29"/>
          <p:cNvSpPr txBox="1"/>
          <p:nvPr/>
        </p:nvSpPr>
        <p:spPr>
          <a:xfrm>
            <a:off x="9400032" y="3337560"/>
            <a:ext cx="2011680" cy="685800"/>
          </a:xfrm>
          <a:prstGeom prst="rect">
            <a:avLst/>
          </a:prstGeom>
          <a:noFill/>
          <a:ln/>
        </p:spPr>
        <p:txBody>
          <a:bodyPr wrap="square" lIns="0" tIns="0" rIns="0" bIns="0" rtlCol="0" anchor="t"/>
          <a:lstStyle/>
          <a:p>
            <a:pPr indent="0" marL="0">
              <a:buNone/>
            </a:pPr>
            <a:r>
              <a:rPr lang="en-US" sz="3200" b="1" dirty="0">
                <a:solidFill>
                  <a:srgbClr val="12505F"/>
                </a:solidFill>
                <a:latin typeface="Cambria" pitchFamily="34" charset="0"/>
                <a:ea typeface="Cambria" pitchFamily="34" charset="-122"/>
                <a:cs typeface="Cambria" pitchFamily="34" charset="-120"/>
              </a:rPr>
              <a:t>181,307</a:t>
            </a:r>
            <a:endParaRPr lang="en-US" sz="3200" dirty="0"/>
          </a:p>
        </p:txBody>
      </p:sp>
      <p:sp>
        <p:nvSpPr>
          <p:cNvPr id="32" name="Text 30"/>
          <p:cNvSpPr txBox="1"/>
          <p:nvPr/>
        </p:nvSpPr>
        <p:spPr>
          <a:xfrm>
            <a:off x="9400032" y="4023360"/>
            <a:ext cx="20116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Độ rộng khoảng trung bình</a:t>
            </a:r>
            <a:endParaRPr lang="en-US" sz="1200" dirty="0"/>
          </a:p>
        </p:txBody>
      </p:sp>
      <p:sp>
        <p:nvSpPr>
          <p:cNvPr id="33" name="Shape 31"/>
          <p:cNvSpPr/>
          <p:nvPr/>
        </p:nvSpPr>
        <p:spPr>
          <a:xfrm>
            <a:off x="6492240" y="4754880"/>
            <a:ext cx="5148072" cy="1188720"/>
          </a:xfrm>
          <a:prstGeom prst="roundRect">
            <a:avLst>
              <a:gd name="adj" fmla="val 9231"/>
            </a:avLst>
          </a:prstGeom>
          <a:solidFill>
            <a:srgbClr val="EEF5F5"/>
          </a:solidFill>
          <a:ln w="12700">
            <a:solidFill>
              <a:srgbClr val="EEF5F5"/>
            </a:solidFill>
            <a:prstDash val="solid"/>
          </a:ln>
        </p:spPr>
      </p:sp>
      <p:sp>
        <p:nvSpPr>
          <p:cNvPr id="34" name="Text 32"/>
          <p:cNvSpPr txBox="1"/>
          <p:nvPr/>
        </p:nvSpPr>
        <p:spPr>
          <a:xfrm>
            <a:off x="6675120" y="4846320"/>
            <a:ext cx="4846320" cy="1005840"/>
          </a:xfrm>
          <a:prstGeom prst="rect">
            <a:avLst/>
          </a:prstGeom>
          <a:noFill/>
          <a:ln/>
        </p:spPr>
        <p:txBody>
          <a:bodyPr wrap="square" lIns="0" tIns="0" rIns="0" bIns="0" rtlCol="0" anchor="t"/>
          <a:lstStyle/>
          <a:p>
            <a:pPr indent="0" marL="0">
              <a:buNone/>
            </a:pPr>
            <a:r>
              <a:rPr lang="en-US" sz="1300" dirty="0">
                <a:solidFill>
                  <a:srgbClr val="0E2A33"/>
                </a:solidFill>
                <a:latin typeface="Calibri" pitchFamily="34" charset="0"/>
                <a:ea typeface="Calibri" pitchFamily="34" charset="-122"/>
                <a:cs typeface="Calibri" pitchFamily="34" charset="-120"/>
              </a:rPr>
              <a:t>Pinball P50 = 33,428. Khoảng rộng dần theo quy mô: phân vị 90 phần dư từ 4,0 (nhóm nhỏ nhất) đến 767,4 (nhóm lớn nhất).</a:t>
            </a:r>
            <a:endParaRPr lang="en-US" sz="1300" dirty="0"/>
          </a:p>
        </p:txBody>
      </p:sp>
      <p:sp>
        <p:nvSpPr>
          <p:cNvPr id="35" name="Text 33"/>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outputs/05_probabilistic_forecast/probabilistic_metrics.csv, conformal_bins.csv.</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BAO PHỦ THEO MỨC NHU CẦU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Độ bao phủ và độ rộng khoảng theo bốn mức nhu cầu</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25</a:t>
            </a:r>
            <a:endParaRPr lang="en-US" sz="900" dirty="0"/>
          </a:p>
        </p:txBody>
      </p:sp>
      <p:graphicFrame>
        <p:nvGraphicFramePr>
          <p:cNvPr id="6" name="Chart 0" descr=""/>
          <p:cNvGraphicFramePr/>
          <p:nvPr/>
        </p:nvGraphicFramePr>
        <p:xfrm>
          <a:off x="548640" y="146304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55280" y="1600200"/>
            <a:ext cx="3685032" cy="4389120"/>
          </a:xfrm>
          <a:prstGeom prst="roundRect">
            <a:avLst>
              <a:gd name="adj" fmla="val 2978"/>
            </a:avLst>
          </a:prstGeom>
          <a:solidFill>
            <a:srgbClr val="EEF5F5"/>
          </a:solidFill>
          <a:ln w="12700">
            <a:solidFill>
              <a:srgbClr val="EEF5F5"/>
            </a:solidFill>
            <a:prstDash val="solid"/>
          </a:ln>
        </p:spPr>
      </p:sp>
      <p:sp>
        <p:nvSpPr>
          <p:cNvPr id="8" name="Text 5"/>
          <p:cNvSpPr txBox="1"/>
          <p:nvPr/>
        </p:nvSpPr>
        <p:spPr>
          <a:xfrm>
            <a:off x="8183880" y="1783080"/>
            <a:ext cx="329184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Đọc kết quả</a:t>
            </a:r>
            <a:endParaRPr lang="en-US" sz="1800" dirty="0"/>
          </a:p>
        </p:txBody>
      </p:sp>
      <p:sp>
        <p:nvSpPr>
          <p:cNvPr id="9" name="Text 6"/>
          <p:cNvSpPr txBox="1"/>
          <p:nvPr/>
        </p:nvSpPr>
        <p:spPr>
          <a:xfrm>
            <a:off x="8183880" y="2286000"/>
            <a:ext cx="3291840" cy="36576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Q4 chiếm phần lớn doanh số – nơi quyết định tồn kho có giá trị nhất</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Độ rộng TB tăng theo quy mô: Q1 = 7,597; Q4 = 618,842</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Bao phủ các mức dao động quanh 71–82%, không có nhóm bị bỏ sót nghiêm trọng</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Q1 thấp nhất (70,86%) do nhiều quan sát bằng 0 nằm dưới P10</a:t>
            </a:r>
            <a:endParaRPr lang="en-US" sz="135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outputs/11_forecast_diagnostics/error_by_demand_level.csv.</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06</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Khuyến mãi, tồn kho và hỗ trợ quyết định</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Chuyển bất định thành phương án để con người lựa chọn</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KỊCH BẢN KHUYẾN MÃI</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Phản ứng có điều kiện của dự báo theo mức onpromotion</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27</a:t>
            </a:r>
            <a:endParaRPr lang="en-US" sz="900" dirty="0"/>
          </a:p>
        </p:txBody>
      </p:sp>
      <p:graphicFrame>
        <p:nvGraphicFramePr>
          <p:cNvPr id="6" name="Chart 0" descr=""/>
          <p:cNvGraphicFramePr/>
          <p:nvPr/>
        </p:nvGraphicFramePr>
        <p:xfrm>
          <a:off x="548640" y="146304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600200"/>
            <a:ext cx="4050792" cy="4389120"/>
          </a:xfrm>
          <a:prstGeom prst="roundRect">
            <a:avLst>
              <a:gd name="adj" fmla="val 2709"/>
            </a:avLst>
          </a:prstGeom>
          <a:solidFill>
            <a:srgbClr val="EEF5F5"/>
          </a:solidFill>
          <a:ln w="12700">
            <a:solidFill>
              <a:srgbClr val="EEF5F5"/>
            </a:solidFill>
            <a:prstDash val="solid"/>
          </a:ln>
        </p:spPr>
      </p:sp>
      <p:sp>
        <p:nvSpPr>
          <p:cNvPr id="8" name="Text 5"/>
          <p:cNvSpPr txBox="1"/>
          <p:nvPr/>
        </p:nvSpPr>
        <p:spPr>
          <a:xfrm>
            <a:off x="7818120" y="1783080"/>
            <a:ext cx="365760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Cách dùng đúng</a:t>
            </a:r>
            <a:endParaRPr lang="en-US" sz="1800" dirty="0"/>
          </a:p>
        </p:txBody>
      </p:sp>
      <p:sp>
        <p:nvSpPr>
          <p:cNvPr id="9" name="Text 6"/>
          <p:cNvSpPr txBox="1"/>
          <p:nvPr/>
        </p:nvSpPr>
        <p:spPr>
          <a:xfrm>
            <a:off x="7818120" y="2286000"/>
            <a:ext cx="3657600" cy="365760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Kịch bản thay đổi đầu vào onpromotion và dự báo lại – không phải ước lượng nhân quả</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onpromotion là số mặt hàng khuyến mãi, không phải % giảm giá (POL-PROMO-002)</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Cờ ngoại suy bật ở 809 phiếu khi kịch bản vượt miền dữ liệu đã thấy</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Dùng để khoanh vùng chuỗi đáng thử nghiệm A/B</a:t>
            </a:r>
            <a:endParaRPr lang="en-US" sz="135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outputs/06_promotion_scenarios/promotion_scenario_summary.csv.</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TỒN KHO</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Logic Newsvendor với giả định chi phí minh bạch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48640" y="1554480"/>
            <a:ext cx="5120640" cy="2103120"/>
          </a:xfrm>
          <a:prstGeom prst="roundRect">
            <a:avLst>
              <a:gd name="adj" fmla="val 5217"/>
            </a:avLst>
          </a:prstGeom>
          <a:solidFill>
            <a:srgbClr val="0E2A33"/>
          </a:solidFill>
          <a:ln w="12700">
            <a:solidFill>
              <a:srgbClr val="0E2A33"/>
            </a:solidFill>
            <a:prstDash val="solid"/>
          </a:ln>
        </p:spPr>
      </p:sp>
      <p:sp>
        <p:nvSpPr>
          <p:cNvPr id="7" name="Text 5"/>
          <p:cNvSpPr txBox="1"/>
          <p:nvPr/>
        </p:nvSpPr>
        <p:spPr>
          <a:xfrm>
            <a:off x="822960" y="1783080"/>
            <a:ext cx="4663440" cy="54864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q* = Cu / (Cu + Co) = 3 / (3 + 1) = 0,75</a:t>
            </a:r>
            <a:endParaRPr lang="en-US" sz="2200" dirty="0"/>
          </a:p>
        </p:txBody>
      </p:sp>
      <p:sp>
        <p:nvSpPr>
          <p:cNvPr id="8" name="Text 6"/>
          <p:cNvSpPr txBox="1"/>
          <p:nvPr/>
        </p:nvSpPr>
        <p:spPr>
          <a:xfrm>
            <a:off x="822960" y="2423160"/>
            <a:ext cx="4663440" cy="1143000"/>
          </a:xfrm>
          <a:prstGeom prst="rect">
            <a:avLst/>
          </a:prstGeom>
          <a:noFill/>
          <a:ln/>
        </p:spPr>
        <p:txBody>
          <a:bodyPr wrap="square" lIns="0" tIns="0" rIns="0" bIns="0" rtlCol="0" anchor="t"/>
          <a:lstStyle/>
          <a:p>
            <a:pPr indent="0" marL="0">
              <a:buNone/>
            </a:pPr>
            <a:r>
              <a:rPr lang="en-US" sz="1300" dirty="0">
                <a:solidFill>
                  <a:srgbClr val="C9D6D8"/>
                </a:solidFill>
                <a:latin typeface="Calibri" pitchFamily="34" charset="0"/>
                <a:ea typeface="Calibri" pitchFamily="34" charset="-122"/>
                <a:cs typeface="Calibri" pitchFamily="34" charset="-120"/>
              </a:rPr>
              <a:t>Cu = chi phí thiếu hàng, Co = chi phí tồn dư (giả định kịch bản). Mức mục tiêu tham chiếu = P90; vị thế tồn kho giả định = 0,8 × P50; lượng bổ sung = max(mục tiêu − vị thế, 0).</a:t>
            </a:r>
            <a:endParaRPr lang="en-US" sz="1300" dirty="0"/>
          </a:p>
        </p:txBody>
      </p:sp>
      <p:graphicFrame>
        <p:nvGraphicFramePr>
          <p:cNvPr id="9" name="Chart 0" descr=""/>
          <p:cNvGraphicFramePr/>
          <p:nvPr/>
        </p:nvGraphicFramePr>
        <p:xfrm>
          <a:off x="6035040" y="1417320"/>
          <a:ext cx="3017520" cy="301752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9235440" y="1554480"/>
            <a:ext cx="2404872" cy="2834640"/>
          </a:xfrm>
          <a:prstGeom prst="roundRect">
            <a:avLst>
              <a:gd name="adj" fmla="val 4563"/>
            </a:avLst>
          </a:prstGeom>
          <a:solidFill>
            <a:srgbClr val="EEF5F5"/>
          </a:solidFill>
          <a:ln w="12700">
            <a:solidFill>
              <a:srgbClr val="EEF5F5"/>
            </a:solidFill>
            <a:prstDash val="solid"/>
          </a:ln>
        </p:spPr>
      </p:sp>
      <p:sp>
        <p:nvSpPr>
          <p:cNvPr id="11" name="Text 8"/>
          <p:cNvSpPr txBox="1"/>
          <p:nvPr/>
        </p:nvSpPr>
        <p:spPr>
          <a:xfrm>
            <a:off x="9372600" y="1737360"/>
            <a:ext cx="2148840" cy="640080"/>
          </a:xfrm>
          <a:prstGeom prst="rect">
            <a:avLst/>
          </a:prstGeom>
          <a:noFill/>
          <a:ln/>
        </p:spPr>
        <p:txBody>
          <a:bodyPr wrap="square" lIns="0" tIns="0" rIns="0" bIns="0" rtlCol="0" anchor="t"/>
          <a:lstStyle/>
          <a:p>
            <a:pPr indent="0" marL="0">
              <a:buNone/>
            </a:pPr>
            <a:r>
              <a:rPr lang="en-US" sz="1300" b="1" dirty="0">
                <a:solidFill>
                  <a:srgbClr val="12505F"/>
                </a:solidFill>
                <a:latin typeface="Calibri" pitchFamily="34" charset="0"/>
                <a:ea typeface="Calibri" pitchFamily="34" charset="-122"/>
                <a:cs typeface="Calibri" pitchFamily="34" charset="-120"/>
              </a:rPr>
              <a:t>r = (P90 − P10) / (P50 + 1)</a:t>
            </a:r>
            <a:endParaRPr lang="en-US" sz="1300" dirty="0"/>
          </a:p>
        </p:txBody>
      </p:sp>
      <p:sp>
        <p:nvSpPr>
          <p:cNvPr id="12" name="Text 9"/>
          <p:cNvSpPr txBox="1"/>
          <p:nvPr/>
        </p:nvSpPr>
        <p:spPr>
          <a:xfrm>
            <a:off x="9372600" y="2423160"/>
            <a:ext cx="2148840" cy="1874520"/>
          </a:xfrm>
          <a:prstGeom prst="rect">
            <a:avLst/>
          </a:prstGeom>
          <a:noFill/>
          <a:ln/>
        </p:spPr>
        <p:txBody>
          <a:bodyPr wrap="square" lIns="0" tIns="0" rIns="0" bIns="0" rtlCol="0" anchor="t"/>
          <a:lstStyle/>
          <a:p>
            <a:pPr indent="0" marL="0">
              <a:buNone/>
            </a:pPr>
            <a:r>
              <a:rPr lang="en-US" sz="1250" dirty="0">
                <a:solidFill>
                  <a:srgbClr val="0E2A33"/>
                </a:solidFill>
                <a:latin typeface="Calibri" pitchFamily="34" charset="0"/>
                <a:ea typeface="Calibri" pitchFamily="34" charset="-122"/>
                <a:cs typeface="Calibri" pitchFamily="34" charset="-120"/>
              </a:rPr>
              <a:t>HIGH khi r &gt; 0,75; MEDIUM khi r &gt; 0,35. Spearman(P50, r) = −0,970 → nhãn vẫn gắn với quy mô chuỗi.</a:t>
            </a:r>
            <a:endParaRPr lang="en-US" sz="1250" dirty="0"/>
          </a:p>
        </p:txBody>
      </p:sp>
      <p:sp>
        <p:nvSpPr>
          <p:cNvPr id="13" name="Shape 10"/>
          <p:cNvSpPr/>
          <p:nvPr/>
        </p:nvSpPr>
        <p:spPr>
          <a:xfrm>
            <a:off x="548640" y="3931920"/>
            <a:ext cx="5120640" cy="2057400"/>
          </a:xfrm>
          <a:prstGeom prst="roundRect">
            <a:avLst>
              <a:gd name="adj" fmla="val 5333"/>
            </a:avLst>
          </a:prstGeom>
          <a:solidFill>
            <a:srgbClr val="EEF5F5"/>
          </a:solidFill>
          <a:ln w="12700">
            <a:solidFill>
              <a:srgbClr val="EEF5F5"/>
            </a:solidFill>
            <a:prstDash val="solid"/>
          </a:ln>
        </p:spPr>
      </p:sp>
      <p:sp>
        <p:nvSpPr>
          <p:cNvPr id="14" name="Text 11"/>
          <p:cNvSpPr txBox="1"/>
          <p:nvPr/>
        </p:nvSpPr>
        <p:spPr>
          <a:xfrm>
            <a:off x="822960" y="4114800"/>
            <a:ext cx="4663440" cy="1737360"/>
          </a:xfrm>
          <a:prstGeom prst="rect">
            <a:avLst/>
          </a:prstGeom>
          <a:noFill/>
          <a:ln/>
        </p:spPr>
        <p:txBody>
          <a:bodyPr wrap="square" lIns="0" tIns="0" rIns="0" bIns="0" rtlCol="0" anchor="t"/>
          <a:lstStyle/>
          <a:p>
            <a:pPr indent="0" marL="0">
              <a:buNone/>
            </a:pPr>
            <a:r>
              <a:rPr lang="en-US" sz="1400" dirty="0">
                <a:solidFill>
                  <a:srgbClr val="0E2A33"/>
                </a:solidFill>
                <a:latin typeface="Calibri" pitchFamily="34" charset="0"/>
                <a:ea typeface="Calibri" pitchFamily="34" charset="-122"/>
                <a:cs typeface="Calibri" pitchFamily="34" charset="-120"/>
              </a:rPr>
              <a:t>Không có giá bán, biên lợi nhuận, tồn kho thực và thời gian cung ứng → các đại lượng là mô phỏng hỗ trợ ưu tiên, không phải chính sách tối ưu (POL-INV-001).</a:t>
            </a:r>
            <a:endParaRPr lang="en-US" sz="1400" dirty="0"/>
          </a:p>
        </p:txBody>
      </p:sp>
      <p:sp>
        <p:nvSpPr>
          <p:cNvPr id="15" name="Shape 12"/>
          <p:cNvSpPr/>
          <p:nvPr/>
        </p:nvSpPr>
        <p:spPr>
          <a:xfrm>
            <a:off x="6035040" y="4572000"/>
            <a:ext cx="2697480" cy="1417320"/>
          </a:xfrm>
          <a:prstGeom prst="roundRect">
            <a:avLst>
              <a:gd name="adj" fmla="val 7742"/>
            </a:avLst>
          </a:prstGeom>
          <a:solidFill>
            <a:srgbClr val="EEF5F5"/>
          </a:solidFill>
          <a:ln w="12700">
            <a:solidFill>
              <a:srgbClr val="EEF5F5"/>
            </a:solidFill>
            <a:prstDash val="solid"/>
          </a:ln>
        </p:spPr>
      </p:sp>
      <p:sp>
        <p:nvSpPr>
          <p:cNvPr id="16" name="Text 13"/>
          <p:cNvSpPr txBox="1"/>
          <p:nvPr/>
        </p:nvSpPr>
        <p:spPr>
          <a:xfrm>
            <a:off x="6263640" y="4754880"/>
            <a:ext cx="2240280" cy="685800"/>
          </a:xfrm>
          <a:prstGeom prst="rect">
            <a:avLst/>
          </a:prstGeom>
          <a:noFill/>
          <a:ln/>
        </p:spPr>
        <p:txBody>
          <a:bodyPr wrap="square" lIns="0" tIns="0" rIns="0" bIns="0" rtlCol="0" anchor="t"/>
          <a:lstStyle/>
          <a:p>
            <a:pPr indent="0" marL="0">
              <a:buNone/>
            </a:pPr>
            <a:r>
              <a:rPr lang="en-US" sz="3200" b="1" dirty="0">
                <a:solidFill>
                  <a:srgbClr val="12505F"/>
                </a:solidFill>
                <a:latin typeface="Cambria" pitchFamily="34" charset="0"/>
                <a:ea typeface="Cambria" pitchFamily="34" charset="-122"/>
                <a:cs typeface="Cambria" pitchFamily="34" charset="-120"/>
              </a:rPr>
              <a:t>5.950.610</a:t>
            </a:r>
            <a:endParaRPr lang="en-US" sz="3200" dirty="0"/>
          </a:p>
        </p:txBody>
      </p:sp>
      <p:sp>
        <p:nvSpPr>
          <p:cNvPr id="17" name="Text 14"/>
          <p:cNvSpPr txBox="1"/>
          <p:nvPr/>
        </p:nvSpPr>
        <p:spPr>
          <a:xfrm>
            <a:off x="6263640" y="5440680"/>
            <a:ext cx="22402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tổng lượng bổ sung gợi ý (1.782 chuỗi, 16 ngày)</a:t>
            </a:r>
            <a:endParaRPr lang="en-US" sz="1200" dirty="0"/>
          </a:p>
        </p:txBody>
      </p:sp>
      <p:sp>
        <p:nvSpPr>
          <p:cNvPr id="18" name="Shape 15"/>
          <p:cNvSpPr/>
          <p:nvPr/>
        </p:nvSpPr>
        <p:spPr>
          <a:xfrm>
            <a:off x="8942832" y="4572000"/>
            <a:ext cx="2697480" cy="1417320"/>
          </a:xfrm>
          <a:prstGeom prst="roundRect">
            <a:avLst>
              <a:gd name="adj" fmla="val 7742"/>
            </a:avLst>
          </a:prstGeom>
          <a:solidFill>
            <a:srgbClr val="EEF5F5"/>
          </a:solidFill>
          <a:ln w="12700">
            <a:solidFill>
              <a:srgbClr val="EEF5F5"/>
            </a:solidFill>
            <a:prstDash val="solid"/>
          </a:ln>
        </p:spPr>
      </p:sp>
      <p:sp>
        <p:nvSpPr>
          <p:cNvPr id="19" name="Text 16"/>
          <p:cNvSpPr txBox="1"/>
          <p:nvPr/>
        </p:nvSpPr>
        <p:spPr>
          <a:xfrm>
            <a:off x="9171432" y="4754880"/>
            <a:ext cx="2240280" cy="685800"/>
          </a:xfrm>
          <a:prstGeom prst="rect">
            <a:avLst/>
          </a:prstGeom>
          <a:noFill/>
          <a:ln/>
        </p:spPr>
        <p:txBody>
          <a:bodyPr wrap="square" lIns="0" tIns="0" rIns="0" bIns="0" rtlCol="0" anchor="t"/>
          <a:lstStyle/>
          <a:p>
            <a:pPr indent="0" marL="0">
              <a:buNone/>
            </a:pPr>
            <a:r>
              <a:rPr lang="en-US" sz="3200" b="1" dirty="0">
                <a:solidFill>
                  <a:srgbClr val="1B8A8F"/>
                </a:solidFill>
                <a:latin typeface="Cambria" pitchFamily="34" charset="0"/>
                <a:ea typeface="Cambria" pitchFamily="34" charset="-122"/>
                <a:cs typeface="Cambria" pitchFamily="34" charset="-120"/>
              </a:rPr>
              <a:t>64 – 12.136</a:t>
            </a:r>
            <a:endParaRPr lang="en-US" sz="3200" dirty="0"/>
          </a:p>
        </p:txBody>
      </p:sp>
      <p:sp>
        <p:nvSpPr>
          <p:cNvPr id="20" name="Text 17"/>
          <p:cNvSpPr txBox="1"/>
          <p:nvPr/>
        </p:nvSpPr>
        <p:spPr>
          <a:xfrm>
            <a:off x="9171432" y="5440680"/>
            <a:ext cx="2240280" cy="457200"/>
          </a:xfrm>
          <a:prstGeom prst="rect">
            <a:avLst/>
          </a:prstGeom>
          <a:noFill/>
          <a:ln/>
        </p:spPr>
        <p:txBody>
          <a:bodyPr wrap="square" lIns="0" tIns="0" rIns="0" bIns="0" rtlCol="0" anchor="t"/>
          <a:lstStyle/>
          <a:p>
            <a:pPr indent="0" marL="0">
              <a:buNone/>
            </a:pPr>
            <a:r>
              <a:rPr lang="en-US" sz="1200" dirty="0">
                <a:solidFill>
                  <a:srgbClr val="5B6B70"/>
                </a:solidFill>
                <a:latin typeface="Calibri" pitchFamily="34" charset="0"/>
                <a:ea typeface="Calibri" pitchFamily="34" charset="-122"/>
                <a:cs typeface="Calibri" pitchFamily="34" charset="-120"/>
              </a:rPr>
              <a:t>tồn kho an toàn theo chuỗi (P90 − P50)</a:t>
            </a:r>
            <a:endParaRPr lang="en-US" sz="1200" dirty="0"/>
          </a:p>
        </p:txBody>
      </p:sp>
      <p:sp>
        <p:nvSpPr>
          <p:cNvPr id="21" name="Text 18"/>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outputs/07_inventory_decision/inventory_assumptions.csv, inventory_recommendations.csv.</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HỖ TRỢ QUYẾT ĐỊNH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Số từ mô hình · giải thích có căn cứ · con người quyết định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48640" y="1737360"/>
            <a:ext cx="2057400" cy="2926080"/>
          </a:xfrm>
          <a:prstGeom prst="roundRect">
            <a:avLst>
              <a:gd name="adj" fmla="val 5333"/>
            </a:avLst>
          </a:prstGeom>
          <a:solidFill>
            <a:srgbClr val="EEF5F5"/>
          </a:solidFill>
          <a:ln w="12700">
            <a:solidFill>
              <a:srgbClr val="EEF5F5"/>
            </a:solidFill>
            <a:prstDash val="solid"/>
          </a:ln>
        </p:spPr>
      </p:sp>
      <p:sp>
        <p:nvSpPr>
          <p:cNvPr id="7" name="Shape 5"/>
          <p:cNvSpPr/>
          <p:nvPr/>
        </p:nvSpPr>
        <p:spPr>
          <a:xfrm>
            <a:off x="731520" y="1920240"/>
            <a:ext cx="502920" cy="502920"/>
          </a:xfrm>
          <a:prstGeom prst="ellipse">
            <a:avLst/>
          </a:prstGeom>
          <a:solidFill>
            <a:srgbClr val="1B8A8F"/>
          </a:solidFill>
          <a:ln w="12700">
            <a:solidFill>
              <a:srgbClr val="1B8A8F"/>
            </a:solidFill>
            <a:prstDash val="solid"/>
          </a:ln>
        </p:spPr>
      </p:sp>
      <p:sp>
        <p:nvSpPr>
          <p:cNvPr id="8" name="Text 6"/>
          <p:cNvSpPr txBox="1"/>
          <p:nvPr/>
        </p:nvSpPr>
        <p:spPr>
          <a:xfrm>
            <a:off x="731520" y="1920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31520" y="2560320"/>
            <a:ext cx="1737360" cy="594360"/>
          </a:xfrm>
          <a:prstGeom prst="rect">
            <a:avLst/>
          </a:prstGeom>
          <a:noFill/>
          <a:ln/>
        </p:spPr>
        <p:txBody>
          <a:bodyPr wrap="square" lIns="0" tIns="0" rIns="0" bIns="0" rtlCol="0" anchor="t"/>
          <a:lstStyle/>
          <a:p>
            <a:pPr indent="0" marL="0">
              <a:buNone/>
            </a:pPr>
            <a:r>
              <a:rPr lang="en-US" sz="1500" b="1" dirty="0">
                <a:solidFill>
                  <a:srgbClr val="1B8A8F"/>
                </a:solidFill>
                <a:latin typeface="Calibri" pitchFamily="34" charset="0"/>
                <a:ea typeface="Calibri" pitchFamily="34" charset="-122"/>
                <a:cs typeface="Calibri" pitchFamily="34" charset="-120"/>
              </a:rPr>
              <a:t>Hàng đợi ưu tiên</a:t>
            </a:r>
            <a:endParaRPr lang="en-US" sz="1500" dirty="0"/>
          </a:p>
        </p:txBody>
      </p:sp>
      <p:sp>
        <p:nvSpPr>
          <p:cNvPr id="10" name="Text 8"/>
          <p:cNvSpPr txBox="1"/>
          <p:nvPr/>
        </p:nvSpPr>
        <p:spPr>
          <a:xfrm>
            <a:off x="731520" y="3154680"/>
            <a:ext cx="1737360" cy="141732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Điểm = LARGE_SERIES +3, RISK_HIGH +2, RISK_MEDIUM +1, PROMO_EXTRAPOLATION +1</a:t>
            </a:r>
            <a:endParaRPr lang="en-US" sz="1150" dirty="0"/>
          </a:p>
        </p:txBody>
      </p:sp>
      <p:sp>
        <p:nvSpPr>
          <p:cNvPr id="11" name="Text 9"/>
          <p:cNvSpPr txBox="1"/>
          <p:nvPr/>
        </p:nvSpPr>
        <p:spPr>
          <a:xfrm>
            <a:off x="2587752" y="2834640"/>
            <a:ext cx="228600" cy="457200"/>
          </a:xfrm>
          <a:prstGeom prst="rect">
            <a:avLst/>
          </a:prstGeom>
          <a:noFill/>
          <a:ln/>
        </p:spPr>
        <p:txBody>
          <a:bodyPr wrap="square" lIns="0" tIns="0" rIns="0" bIns="0" rtlCol="0" anchor="t"/>
          <a:lstStyle/>
          <a:p>
            <a:pPr algn="ctr" indent="0" marL="0">
              <a:buNone/>
            </a:pPr>
            <a:r>
              <a:rPr lang="en-US" sz="2600" b="1" dirty="0">
                <a:solidFill>
                  <a:srgbClr val="C9D6D8"/>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2798064" y="1737360"/>
            <a:ext cx="2057400" cy="2926080"/>
          </a:xfrm>
          <a:prstGeom prst="roundRect">
            <a:avLst>
              <a:gd name="adj" fmla="val 5333"/>
            </a:avLst>
          </a:prstGeom>
          <a:solidFill>
            <a:srgbClr val="EEF5F5"/>
          </a:solidFill>
          <a:ln w="12700">
            <a:solidFill>
              <a:srgbClr val="EEF5F5"/>
            </a:solidFill>
            <a:prstDash val="solid"/>
          </a:ln>
        </p:spPr>
      </p:sp>
      <p:sp>
        <p:nvSpPr>
          <p:cNvPr id="13" name="Shape 11"/>
          <p:cNvSpPr/>
          <p:nvPr/>
        </p:nvSpPr>
        <p:spPr>
          <a:xfrm>
            <a:off x="2980944" y="1920240"/>
            <a:ext cx="502920" cy="502920"/>
          </a:xfrm>
          <a:prstGeom prst="ellipse">
            <a:avLst/>
          </a:prstGeom>
          <a:solidFill>
            <a:srgbClr val="1B8A8F"/>
          </a:solidFill>
          <a:ln w="12700">
            <a:solidFill>
              <a:srgbClr val="1B8A8F"/>
            </a:solidFill>
            <a:prstDash val="solid"/>
          </a:ln>
        </p:spPr>
      </p:sp>
      <p:sp>
        <p:nvSpPr>
          <p:cNvPr id="14" name="Text 12"/>
          <p:cNvSpPr txBox="1"/>
          <p:nvPr/>
        </p:nvSpPr>
        <p:spPr>
          <a:xfrm>
            <a:off x="2980944" y="1920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2980944" y="2560320"/>
            <a:ext cx="1737360" cy="594360"/>
          </a:xfrm>
          <a:prstGeom prst="rect">
            <a:avLst/>
          </a:prstGeom>
          <a:noFill/>
          <a:ln/>
        </p:spPr>
        <p:txBody>
          <a:bodyPr wrap="square" lIns="0" tIns="0" rIns="0" bIns="0" rtlCol="0" anchor="t"/>
          <a:lstStyle/>
          <a:p>
            <a:pPr indent="0" marL="0">
              <a:buNone/>
            </a:pPr>
            <a:r>
              <a:rPr lang="en-US" sz="1500" b="1" dirty="0">
                <a:solidFill>
                  <a:srgbClr val="1B8A8F"/>
                </a:solidFill>
                <a:latin typeface="Calibri" pitchFamily="34" charset="0"/>
                <a:ea typeface="Calibri" pitchFamily="34" charset="-122"/>
                <a:cs typeface="Calibri" pitchFamily="34" charset="-120"/>
              </a:rPr>
              <a:t>Phiếu khuyến nghị</a:t>
            </a:r>
            <a:endParaRPr lang="en-US" sz="1500" dirty="0"/>
          </a:p>
        </p:txBody>
      </p:sp>
      <p:sp>
        <p:nvSpPr>
          <p:cNvPr id="16" name="Text 14"/>
          <p:cNvSpPr txBox="1"/>
          <p:nvPr/>
        </p:nvSpPr>
        <p:spPr>
          <a:xfrm>
            <a:off x="2980944" y="3154680"/>
            <a:ext cx="1737360" cy="141732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Phương án A (P50), B (q*), C (P90); khuyến mãi; giả định; checklist</a:t>
            </a:r>
            <a:endParaRPr lang="en-US" sz="1150" dirty="0"/>
          </a:p>
        </p:txBody>
      </p:sp>
      <p:sp>
        <p:nvSpPr>
          <p:cNvPr id="17" name="Text 15"/>
          <p:cNvSpPr txBox="1"/>
          <p:nvPr/>
        </p:nvSpPr>
        <p:spPr>
          <a:xfrm>
            <a:off x="4837176" y="2834640"/>
            <a:ext cx="228600" cy="457200"/>
          </a:xfrm>
          <a:prstGeom prst="rect">
            <a:avLst/>
          </a:prstGeom>
          <a:noFill/>
          <a:ln/>
        </p:spPr>
        <p:txBody>
          <a:bodyPr wrap="square" lIns="0" tIns="0" rIns="0" bIns="0" rtlCol="0" anchor="t"/>
          <a:lstStyle/>
          <a:p>
            <a:pPr algn="ctr" indent="0" marL="0">
              <a:buNone/>
            </a:pPr>
            <a:r>
              <a:rPr lang="en-US" sz="2600" b="1" dirty="0">
                <a:solidFill>
                  <a:srgbClr val="C9D6D8"/>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5047488" y="1737360"/>
            <a:ext cx="2057400" cy="2926080"/>
          </a:xfrm>
          <a:prstGeom prst="roundRect">
            <a:avLst>
              <a:gd name="adj" fmla="val 5333"/>
            </a:avLst>
          </a:prstGeom>
          <a:solidFill>
            <a:srgbClr val="EEF5F5"/>
          </a:solidFill>
          <a:ln w="12700">
            <a:solidFill>
              <a:srgbClr val="EEF5F5"/>
            </a:solidFill>
            <a:prstDash val="solid"/>
          </a:ln>
        </p:spPr>
      </p:sp>
      <p:sp>
        <p:nvSpPr>
          <p:cNvPr id="19" name="Shape 17"/>
          <p:cNvSpPr/>
          <p:nvPr/>
        </p:nvSpPr>
        <p:spPr>
          <a:xfrm>
            <a:off x="5230368" y="1920240"/>
            <a:ext cx="502920" cy="502920"/>
          </a:xfrm>
          <a:prstGeom prst="ellipse">
            <a:avLst/>
          </a:prstGeom>
          <a:solidFill>
            <a:srgbClr val="12505F"/>
          </a:solidFill>
          <a:ln w="12700">
            <a:solidFill>
              <a:srgbClr val="12505F"/>
            </a:solidFill>
            <a:prstDash val="solid"/>
          </a:ln>
        </p:spPr>
      </p:sp>
      <p:sp>
        <p:nvSpPr>
          <p:cNvPr id="20" name="Text 18"/>
          <p:cNvSpPr txBox="1"/>
          <p:nvPr/>
        </p:nvSpPr>
        <p:spPr>
          <a:xfrm>
            <a:off x="5230368" y="1920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5230368" y="2560320"/>
            <a:ext cx="1737360" cy="59436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RAG chính sách</a:t>
            </a:r>
            <a:endParaRPr lang="en-US" sz="1500" dirty="0"/>
          </a:p>
        </p:txBody>
      </p:sp>
      <p:sp>
        <p:nvSpPr>
          <p:cNvPr id="22" name="Text 20"/>
          <p:cNvSpPr txBox="1"/>
          <p:nvPr/>
        </p:nvSpPr>
        <p:spPr>
          <a:xfrm>
            <a:off x="5230368" y="3154680"/>
            <a:ext cx="1737360" cy="141732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BM25 + thưởng tag; trích dẫn quy định mà quy tắc đã áp dụng + 1 kết quả bổ sung</a:t>
            </a:r>
            <a:endParaRPr lang="en-US" sz="1150" dirty="0"/>
          </a:p>
        </p:txBody>
      </p:sp>
      <p:sp>
        <p:nvSpPr>
          <p:cNvPr id="23" name="Text 21"/>
          <p:cNvSpPr txBox="1"/>
          <p:nvPr/>
        </p:nvSpPr>
        <p:spPr>
          <a:xfrm>
            <a:off x="7086600" y="2834640"/>
            <a:ext cx="228600" cy="457200"/>
          </a:xfrm>
          <a:prstGeom prst="rect">
            <a:avLst/>
          </a:prstGeom>
          <a:noFill/>
          <a:ln/>
        </p:spPr>
        <p:txBody>
          <a:bodyPr wrap="square" lIns="0" tIns="0" rIns="0" bIns="0" rtlCol="0" anchor="t"/>
          <a:lstStyle/>
          <a:p>
            <a:pPr algn="ctr" indent="0" marL="0">
              <a:buNone/>
            </a:pPr>
            <a:r>
              <a:rPr lang="en-US" sz="2600" b="1" dirty="0">
                <a:solidFill>
                  <a:srgbClr val="C9D6D8"/>
                </a:solidFill>
                <a:latin typeface="Calibri" pitchFamily="34" charset="0"/>
                <a:ea typeface="Calibri" pitchFamily="34" charset="-122"/>
                <a:cs typeface="Calibri" pitchFamily="34" charset="-120"/>
              </a:rPr>
              <a:t>›</a:t>
            </a:r>
            <a:endParaRPr lang="en-US" sz="2600" dirty="0"/>
          </a:p>
        </p:txBody>
      </p:sp>
      <p:sp>
        <p:nvSpPr>
          <p:cNvPr id="24" name="Shape 22"/>
          <p:cNvSpPr/>
          <p:nvPr/>
        </p:nvSpPr>
        <p:spPr>
          <a:xfrm>
            <a:off x="7296912" y="1737360"/>
            <a:ext cx="2057400" cy="2926080"/>
          </a:xfrm>
          <a:prstGeom prst="roundRect">
            <a:avLst>
              <a:gd name="adj" fmla="val 5333"/>
            </a:avLst>
          </a:prstGeom>
          <a:solidFill>
            <a:srgbClr val="EEF5F5"/>
          </a:solidFill>
          <a:ln w="12700">
            <a:solidFill>
              <a:srgbClr val="EEF5F5"/>
            </a:solidFill>
            <a:prstDash val="solid"/>
          </a:ln>
        </p:spPr>
      </p:sp>
      <p:sp>
        <p:nvSpPr>
          <p:cNvPr id="25" name="Shape 23"/>
          <p:cNvSpPr/>
          <p:nvPr/>
        </p:nvSpPr>
        <p:spPr>
          <a:xfrm>
            <a:off x="7479792" y="1920240"/>
            <a:ext cx="502920" cy="502920"/>
          </a:xfrm>
          <a:prstGeom prst="ellipse">
            <a:avLst/>
          </a:prstGeom>
          <a:solidFill>
            <a:srgbClr val="12505F"/>
          </a:solidFill>
          <a:ln w="12700">
            <a:solidFill>
              <a:srgbClr val="12505F"/>
            </a:solidFill>
            <a:prstDash val="solid"/>
          </a:ln>
        </p:spPr>
      </p:sp>
      <p:sp>
        <p:nvSpPr>
          <p:cNvPr id="26" name="Text 24"/>
          <p:cNvSpPr txBox="1"/>
          <p:nvPr/>
        </p:nvSpPr>
        <p:spPr>
          <a:xfrm>
            <a:off x="7479792" y="1920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7479792" y="2560320"/>
            <a:ext cx="1737360" cy="59436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LLM tùy chọn</a:t>
            </a:r>
            <a:endParaRPr lang="en-US" sz="1500" dirty="0"/>
          </a:p>
        </p:txBody>
      </p:sp>
      <p:sp>
        <p:nvSpPr>
          <p:cNvPr id="28" name="Text 26"/>
          <p:cNvSpPr txBox="1"/>
          <p:nvPr/>
        </p:nvSpPr>
        <p:spPr>
          <a:xfrm>
            <a:off x="7479792" y="3154680"/>
            <a:ext cx="1737360" cy="141732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Chỉ viết lại lời văn; mọi số &gt; 31 phải khớp bằng chứng trong 0,5%, nếu không bị loại</a:t>
            </a:r>
            <a:endParaRPr lang="en-US" sz="1150" dirty="0"/>
          </a:p>
        </p:txBody>
      </p:sp>
      <p:sp>
        <p:nvSpPr>
          <p:cNvPr id="29" name="Text 27"/>
          <p:cNvSpPr txBox="1"/>
          <p:nvPr/>
        </p:nvSpPr>
        <p:spPr>
          <a:xfrm>
            <a:off x="9336024" y="2834640"/>
            <a:ext cx="228600" cy="457200"/>
          </a:xfrm>
          <a:prstGeom prst="rect">
            <a:avLst/>
          </a:prstGeom>
          <a:noFill/>
          <a:ln/>
        </p:spPr>
        <p:txBody>
          <a:bodyPr wrap="square" lIns="0" tIns="0" rIns="0" bIns="0" rtlCol="0" anchor="t"/>
          <a:lstStyle/>
          <a:p>
            <a:pPr algn="ctr" indent="0" marL="0">
              <a:buNone/>
            </a:pPr>
            <a:r>
              <a:rPr lang="en-US" sz="2600" b="1" dirty="0">
                <a:solidFill>
                  <a:srgbClr val="C9D6D8"/>
                </a:solidFill>
                <a:latin typeface="Calibri" pitchFamily="34" charset="0"/>
                <a:ea typeface="Calibri" pitchFamily="34" charset="-122"/>
                <a:cs typeface="Calibri" pitchFamily="34" charset="-120"/>
              </a:rPr>
              <a:t>›</a:t>
            </a:r>
            <a:endParaRPr lang="en-US" sz="2600" dirty="0"/>
          </a:p>
        </p:txBody>
      </p:sp>
      <p:sp>
        <p:nvSpPr>
          <p:cNvPr id="30" name="Shape 28"/>
          <p:cNvSpPr/>
          <p:nvPr/>
        </p:nvSpPr>
        <p:spPr>
          <a:xfrm>
            <a:off x="9546336" y="1737360"/>
            <a:ext cx="2057400" cy="2926080"/>
          </a:xfrm>
          <a:prstGeom prst="roundRect">
            <a:avLst>
              <a:gd name="adj" fmla="val 5333"/>
            </a:avLst>
          </a:prstGeom>
          <a:solidFill>
            <a:srgbClr val="EEF5F5"/>
          </a:solidFill>
          <a:ln w="12700">
            <a:solidFill>
              <a:srgbClr val="EEF5F5"/>
            </a:solidFill>
            <a:prstDash val="solid"/>
          </a:ln>
        </p:spPr>
      </p:sp>
      <p:sp>
        <p:nvSpPr>
          <p:cNvPr id="31" name="Shape 29"/>
          <p:cNvSpPr/>
          <p:nvPr/>
        </p:nvSpPr>
        <p:spPr>
          <a:xfrm>
            <a:off x="9729216" y="1920240"/>
            <a:ext cx="502920" cy="502920"/>
          </a:xfrm>
          <a:prstGeom prst="ellipse">
            <a:avLst/>
          </a:prstGeom>
          <a:solidFill>
            <a:srgbClr val="E8A33D"/>
          </a:solidFill>
          <a:ln w="12700">
            <a:solidFill>
              <a:srgbClr val="E8A33D"/>
            </a:solidFill>
            <a:prstDash val="solid"/>
          </a:ln>
        </p:spPr>
      </p:sp>
      <p:sp>
        <p:nvSpPr>
          <p:cNvPr id="32" name="Text 30"/>
          <p:cNvSpPr txBox="1"/>
          <p:nvPr/>
        </p:nvSpPr>
        <p:spPr>
          <a:xfrm>
            <a:off x="9729216" y="19202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1"/>
          <p:cNvSpPr txBox="1"/>
          <p:nvPr/>
        </p:nvSpPr>
        <p:spPr>
          <a:xfrm>
            <a:off x="9729216" y="2560320"/>
            <a:ext cx="1737360" cy="5943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Phê duyệt HITL</a:t>
            </a:r>
            <a:endParaRPr lang="en-US" sz="1500" dirty="0"/>
          </a:p>
        </p:txBody>
      </p:sp>
      <p:sp>
        <p:nvSpPr>
          <p:cNvPr id="34" name="Text 32"/>
          <p:cNvSpPr txBox="1"/>
          <p:nvPr/>
        </p:nvSpPr>
        <p:spPr>
          <a:xfrm>
            <a:off x="9729216" y="3154680"/>
            <a:ext cx="1737360" cy="141732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Người duyệt, quyết định, số lượng cuối, lý do → nhật ký 14 cột</a:t>
            </a:r>
            <a:endParaRPr lang="en-US" sz="1150" dirty="0"/>
          </a:p>
        </p:txBody>
      </p:sp>
      <p:sp>
        <p:nvSpPr>
          <p:cNvPr id="35" name="Text 33"/>
          <p:cNvSpPr txBox="1"/>
          <p:nvPr/>
        </p:nvSpPr>
        <p:spPr>
          <a:xfrm>
            <a:off x="548640" y="4983480"/>
            <a:ext cx="1554480" cy="548640"/>
          </a:xfrm>
          <a:prstGeom prst="rect">
            <a:avLst/>
          </a:prstGeom>
          <a:noFill/>
          <a:ln/>
        </p:spPr>
        <p:txBody>
          <a:bodyPr wrap="square" lIns="0" tIns="0" rIns="0" bIns="0" rtlCol="0" anchor="t"/>
          <a:lstStyle/>
          <a:p>
            <a:pPr indent="0" marL="0">
              <a:buNone/>
            </a:pPr>
            <a:r>
              <a:rPr lang="en-US" sz="2800" b="1" dirty="0">
                <a:solidFill>
                  <a:srgbClr val="1B8A8F"/>
                </a:solidFill>
                <a:latin typeface="Cambria" pitchFamily="34" charset="0"/>
                <a:ea typeface="Cambria" pitchFamily="34" charset="-122"/>
                <a:cs typeface="Cambria" pitchFamily="34" charset="-120"/>
              </a:rPr>
              <a:t>1.782</a:t>
            </a:r>
            <a:endParaRPr lang="en-US" sz="2800" dirty="0"/>
          </a:p>
        </p:txBody>
      </p:sp>
      <p:sp>
        <p:nvSpPr>
          <p:cNvPr id="36" name="Text 34"/>
          <p:cNvSpPr txBox="1"/>
          <p:nvPr/>
        </p:nvSpPr>
        <p:spPr>
          <a:xfrm>
            <a:off x="2103120" y="5029200"/>
            <a:ext cx="2103120" cy="548640"/>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phiếu khuyến nghị</a:t>
            </a:r>
            <a:endParaRPr lang="en-US" sz="1250" dirty="0"/>
          </a:p>
        </p:txBody>
      </p:sp>
      <p:sp>
        <p:nvSpPr>
          <p:cNvPr id="37" name="Text 35"/>
          <p:cNvSpPr txBox="1"/>
          <p:nvPr/>
        </p:nvSpPr>
        <p:spPr>
          <a:xfrm>
            <a:off x="4297680" y="4983480"/>
            <a:ext cx="1554480" cy="548640"/>
          </a:xfrm>
          <a:prstGeom prst="rect">
            <a:avLst/>
          </a:prstGeom>
          <a:noFill/>
          <a:ln/>
        </p:spPr>
        <p:txBody>
          <a:bodyPr wrap="square" lIns="0" tIns="0" rIns="0" bIns="0" rtlCol="0" anchor="t"/>
          <a:lstStyle/>
          <a:p>
            <a:pPr indent="0" marL="0">
              <a:buNone/>
            </a:pPr>
            <a:r>
              <a:rPr lang="en-US" sz="2800" b="1" dirty="0">
                <a:solidFill>
                  <a:srgbClr val="1B8A8F"/>
                </a:solidFill>
                <a:latin typeface="Cambria" pitchFamily="34" charset="0"/>
                <a:ea typeface="Cambria" pitchFamily="34" charset="-122"/>
                <a:cs typeface="Cambria" pitchFamily="34" charset="-120"/>
              </a:rPr>
              <a:t>1.782</a:t>
            </a:r>
            <a:endParaRPr lang="en-US" sz="2800" dirty="0"/>
          </a:p>
        </p:txBody>
      </p:sp>
      <p:sp>
        <p:nvSpPr>
          <p:cNvPr id="38" name="Text 36"/>
          <p:cNvSpPr txBox="1"/>
          <p:nvPr/>
        </p:nvSpPr>
        <p:spPr>
          <a:xfrm>
            <a:off x="5852160" y="5029200"/>
            <a:ext cx="2103120" cy="548640"/>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phiếu ở chế độ quy tắc (chưa có khóa API)</a:t>
            </a:r>
            <a:endParaRPr lang="en-US" sz="1250" dirty="0"/>
          </a:p>
        </p:txBody>
      </p:sp>
      <p:sp>
        <p:nvSpPr>
          <p:cNvPr id="39" name="Text 37"/>
          <p:cNvSpPr txBox="1"/>
          <p:nvPr/>
        </p:nvSpPr>
        <p:spPr>
          <a:xfrm>
            <a:off x="8046720" y="4983480"/>
            <a:ext cx="1554480" cy="548640"/>
          </a:xfrm>
          <a:prstGeom prst="rect">
            <a:avLst/>
          </a:prstGeom>
          <a:noFill/>
          <a:ln/>
        </p:spPr>
        <p:txBody>
          <a:bodyPr wrap="square" lIns="0" tIns="0" rIns="0" bIns="0" rtlCol="0" anchor="t"/>
          <a:lstStyle/>
          <a:p>
            <a:pPr indent="0" marL="0">
              <a:buNone/>
            </a:pPr>
            <a:r>
              <a:rPr lang="en-US" sz="2800" b="1" dirty="0">
                <a:solidFill>
                  <a:srgbClr val="1B8A8F"/>
                </a:solidFill>
                <a:latin typeface="Cambria" pitchFamily="34" charset="0"/>
                <a:ea typeface="Cambria" pitchFamily="34" charset="-122"/>
                <a:cs typeface="Cambria" pitchFamily="34" charset="-120"/>
              </a:rPr>
              <a:t>0</a:t>
            </a:r>
            <a:endParaRPr lang="en-US" sz="2800" dirty="0"/>
          </a:p>
        </p:txBody>
      </p:sp>
      <p:sp>
        <p:nvSpPr>
          <p:cNvPr id="40" name="Text 38"/>
          <p:cNvSpPr txBox="1"/>
          <p:nvPr/>
        </p:nvSpPr>
        <p:spPr>
          <a:xfrm>
            <a:off x="9601200" y="5029200"/>
            <a:ext cx="2103120" cy="548640"/>
          </a:xfrm>
          <a:prstGeom prst="rect">
            <a:avLst/>
          </a:prstGeom>
          <a:noFill/>
          <a:ln/>
        </p:spPr>
        <p:txBody>
          <a:bodyPr wrap="square" lIns="0" tIns="0" rIns="0" bIns="0" rtlCol="0" anchor="ctr"/>
          <a:lstStyle/>
          <a:p>
            <a:pPr indent="0" marL="0">
              <a:buNone/>
            </a:pPr>
            <a:r>
              <a:rPr lang="en-US" sz="1250" dirty="0">
                <a:solidFill>
                  <a:srgbClr val="5B6B70"/>
                </a:solidFill>
                <a:latin typeface="Calibri" pitchFamily="34" charset="0"/>
                <a:ea typeface="Calibri" pitchFamily="34" charset="-122"/>
                <a:cs typeface="Calibri" pitchFamily="34" charset="-120"/>
              </a:rPr>
              <a:t>bản LLM bị loại (chưa gọi LLM thật)</a:t>
            </a:r>
            <a:endParaRPr lang="en-US" sz="1250" dirty="0"/>
          </a:p>
        </p:txBody>
      </p:sp>
      <p:sp>
        <p:nvSpPr>
          <p:cNvPr id="41" name="Text 39"/>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outputs/08_genai_decision_support/genai_run_status.csv, decision_queue.csv; src/genai/decision.py, rag.py.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MẪU PHIẾU KHUYẾN NGHỊ</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Phiếu #1 DEC-S10-BEVERAGES – ưu tiên 5 điểm, nhãn HIGH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548640" y="1417320"/>
            <a:ext cx="10972800" cy="36576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P50 22.173  ·  P10–P90: 16.083 – 33.099  ·  vị thế giả định 17.738  ·  tin cậy THẤP</a:t>
            </a:r>
            <a:endParaRPr lang="en-US" sz="1500" dirty="0"/>
          </a:p>
        </p:txBody>
      </p:sp>
      <p:sp>
        <p:nvSpPr>
          <p:cNvPr id="7" name="Shape 5"/>
          <p:cNvSpPr/>
          <p:nvPr/>
        </p:nvSpPr>
        <p:spPr>
          <a:xfrm>
            <a:off x="548640" y="1965960"/>
            <a:ext cx="3520440" cy="2697480"/>
          </a:xfrm>
          <a:prstGeom prst="roundRect">
            <a:avLst>
              <a:gd name="adj" fmla="val 4068"/>
            </a:avLst>
          </a:prstGeom>
          <a:solidFill>
            <a:srgbClr val="C9D6D8"/>
          </a:solidFill>
          <a:ln w="12700">
            <a:solidFill>
              <a:srgbClr val="C9D6D8"/>
            </a:solidFill>
            <a:prstDash val="solid"/>
          </a:ln>
        </p:spPr>
      </p:sp>
      <p:sp>
        <p:nvSpPr>
          <p:cNvPr id="8" name="Text 6"/>
          <p:cNvSpPr txBox="1"/>
          <p:nvPr/>
        </p:nvSpPr>
        <p:spPr>
          <a:xfrm>
            <a:off x="822960" y="2103120"/>
            <a:ext cx="3017520" cy="320040"/>
          </a:xfrm>
          <a:prstGeom prst="rect">
            <a:avLst/>
          </a:prstGeom>
          <a:noFill/>
          <a:ln/>
        </p:spPr>
        <p:txBody>
          <a:bodyPr wrap="square" lIns="0" tIns="0" rIns="0" bIns="0" rtlCol="0" anchor="t"/>
          <a:lstStyle/>
          <a:p>
            <a:pPr indent="0" marL="0">
              <a:buNone/>
            </a:pPr>
            <a:r>
              <a:rPr lang="en-US" sz="1300" b="1" dirty="0">
                <a:solidFill>
                  <a:srgbClr val="0E2A33"/>
                </a:solidFill>
                <a:latin typeface="Calibri" pitchFamily="34" charset="0"/>
                <a:ea typeface="Calibri" pitchFamily="34" charset="-122"/>
                <a:cs typeface="Calibri" pitchFamily="34" charset="-120"/>
              </a:rPr>
              <a:t>Phương án A</a:t>
            </a:r>
            <a:endParaRPr lang="en-US" sz="1300" dirty="0"/>
          </a:p>
        </p:txBody>
      </p:sp>
      <p:sp>
        <p:nvSpPr>
          <p:cNvPr id="9" name="Text 7"/>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700" b="1" dirty="0">
                <a:solidFill>
                  <a:srgbClr val="0E2A33"/>
                </a:solidFill>
                <a:latin typeface="Calibri" pitchFamily="34" charset="0"/>
                <a:ea typeface="Calibri" pitchFamily="34" charset="-122"/>
                <a:cs typeface="Calibri" pitchFamily="34" charset="-120"/>
              </a:rPr>
              <a:t>Theo P50</a:t>
            </a:r>
            <a:endParaRPr lang="en-US" sz="1700" dirty="0"/>
          </a:p>
        </p:txBody>
      </p:sp>
      <p:sp>
        <p:nvSpPr>
          <p:cNvPr id="10" name="Text 8"/>
          <p:cNvSpPr txBox="1"/>
          <p:nvPr/>
        </p:nvSpPr>
        <p:spPr>
          <a:xfrm>
            <a:off x="822960" y="2834640"/>
            <a:ext cx="3017520" cy="640080"/>
          </a:xfrm>
          <a:prstGeom prst="rect">
            <a:avLst/>
          </a:prstGeom>
          <a:noFill/>
          <a:ln/>
        </p:spPr>
        <p:txBody>
          <a:bodyPr wrap="square" lIns="0" tIns="0" rIns="0" bIns="0" rtlCol="0" anchor="t"/>
          <a:lstStyle/>
          <a:p>
            <a:pPr indent="0" marL="0">
              <a:buNone/>
            </a:pPr>
            <a:r>
              <a:rPr lang="en-US" sz="3200" b="1" dirty="0">
                <a:solidFill>
                  <a:srgbClr val="0E2A33"/>
                </a:solidFill>
                <a:latin typeface="Cambria" pitchFamily="34" charset="0"/>
                <a:ea typeface="Cambria" pitchFamily="34" charset="-122"/>
                <a:cs typeface="Cambria" pitchFamily="34" charset="-120"/>
              </a:rPr>
              <a:t>4.435</a:t>
            </a:r>
            <a:endParaRPr lang="en-US" sz="3200" dirty="0"/>
          </a:p>
        </p:txBody>
      </p:sp>
      <p:sp>
        <p:nvSpPr>
          <p:cNvPr id="11" name="Text 9"/>
          <p:cNvSpPr txBox="1"/>
          <p:nvPr/>
        </p:nvSpPr>
        <p:spPr>
          <a:xfrm>
            <a:off x="822960" y="3474720"/>
            <a:ext cx="3017520" cy="274320"/>
          </a:xfrm>
          <a:prstGeom prst="rect">
            <a:avLst/>
          </a:prstGeom>
          <a:noFill/>
          <a:ln/>
        </p:spPr>
        <p:txBody>
          <a:bodyPr wrap="square" lIns="0" tIns="0" rIns="0" bIns="0" rtlCol="0" anchor="t"/>
          <a:lstStyle/>
          <a:p>
            <a:pPr indent="0" marL="0">
              <a:buNone/>
            </a:pPr>
            <a:r>
              <a:rPr lang="en-US" sz="1200" dirty="0">
                <a:solidFill>
                  <a:srgbClr val="0E2A33"/>
                </a:solidFill>
                <a:latin typeface="Calibri" pitchFamily="34" charset="0"/>
                <a:ea typeface="Calibri" pitchFamily="34" charset="-122"/>
                <a:cs typeface="Calibri" pitchFamily="34" charset="-120"/>
              </a:rPr>
              <a:t>bổ sung · mục tiêu 22.173</a:t>
            </a:r>
            <a:endParaRPr lang="en-US" sz="1200" dirty="0"/>
          </a:p>
        </p:txBody>
      </p:sp>
      <p:sp>
        <p:nvSpPr>
          <p:cNvPr id="12" name="Text 10"/>
          <p:cNvSpPr txBox="1"/>
          <p:nvPr/>
        </p:nvSpPr>
        <p:spPr>
          <a:xfrm>
            <a:off x="822960" y="3840480"/>
            <a:ext cx="3017520" cy="731520"/>
          </a:xfrm>
          <a:prstGeom prst="rect">
            <a:avLst/>
          </a:prstGeom>
          <a:noFill/>
          <a:ln/>
        </p:spPr>
        <p:txBody>
          <a:bodyPr wrap="square" lIns="0" tIns="0" rIns="0" bIns="0" rtlCol="0" anchor="t"/>
          <a:lstStyle/>
          <a:p>
            <a:pPr indent="0" marL="0">
              <a:buNone/>
            </a:pPr>
            <a:r>
              <a:rPr lang="en-US" sz="1200" dirty="0">
                <a:solidFill>
                  <a:srgbClr val="0E2A33"/>
                </a:solidFill>
                <a:latin typeface="Calibri" pitchFamily="34" charset="0"/>
                <a:ea typeface="Calibri" pitchFamily="34" charset="-122"/>
                <a:cs typeface="Calibri" pitchFamily="34" charset="-120"/>
              </a:rPr>
              <a:t>Tồn dư thấp nhất; ~50% nguy cơ thiếu hàng theo mô hình</a:t>
            </a:r>
            <a:endParaRPr lang="en-US" sz="1200" dirty="0"/>
          </a:p>
        </p:txBody>
      </p:sp>
      <p:sp>
        <p:nvSpPr>
          <p:cNvPr id="13" name="Shape 11"/>
          <p:cNvSpPr/>
          <p:nvPr/>
        </p:nvSpPr>
        <p:spPr>
          <a:xfrm>
            <a:off x="4297680" y="1965960"/>
            <a:ext cx="3520440" cy="2697480"/>
          </a:xfrm>
          <a:prstGeom prst="roundRect">
            <a:avLst>
              <a:gd name="adj" fmla="val 4068"/>
            </a:avLst>
          </a:prstGeom>
          <a:solidFill>
            <a:srgbClr val="7FC4C4"/>
          </a:solidFill>
          <a:ln w="12700">
            <a:solidFill>
              <a:srgbClr val="7FC4C4"/>
            </a:solidFill>
            <a:prstDash val="solid"/>
          </a:ln>
        </p:spPr>
      </p:sp>
      <p:sp>
        <p:nvSpPr>
          <p:cNvPr id="14" name="Text 12"/>
          <p:cNvSpPr txBox="1"/>
          <p:nvPr/>
        </p:nvSpPr>
        <p:spPr>
          <a:xfrm>
            <a:off x="4572000" y="2103120"/>
            <a:ext cx="3017520" cy="320040"/>
          </a:xfrm>
          <a:prstGeom prst="rect">
            <a:avLst/>
          </a:prstGeom>
          <a:noFill/>
          <a:ln/>
        </p:spPr>
        <p:txBody>
          <a:bodyPr wrap="square" lIns="0" tIns="0" rIns="0" bIns="0" rtlCol="0" anchor="t"/>
          <a:lstStyle/>
          <a:p>
            <a:pPr indent="0" marL="0">
              <a:buNone/>
            </a:pPr>
            <a:r>
              <a:rPr lang="en-US" sz="1300" b="1" dirty="0">
                <a:solidFill>
                  <a:srgbClr val="0E2A33"/>
                </a:solidFill>
                <a:latin typeface="Calibri" pitchFamily="34" charset="0"/>
                <a:ea typeface="Calibri" pitchFamily="34" charset="-122"/>
                <a:cs typeface="Calibri" pitchFamily="34" charset="-120"/>
              </a:rPr>
              <a:t>Phương án B</a:t>
            </a:r>
            <a:endParaRPr lang="en-US" sz="1300" dirty="0"/>
          </a:p>
        </p:txBody>
      </p:sp>
      <p:sp>
        <p:nvSpPr>
          <p:cNvPr id="15" name="Text 13"/>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700" b="1" dirty="0">
                <a:solidFill>
                  <a:srgbClr val="0E2A33"/>
                </a:solidFill>
                <a:latin typeface="Calibri" pitchFamily="34" charset="0"/>
                <a:ea typeface="Calibri" pitchFamily="34" charset="-122"/>
                <a:cs typeface="Calibri" pitchFamily="34" charset="-120"/>
              </a:rPr>
              <a:t>Theo q* = 0,75</a:t>
            </a:r>
            <a:endParaRPr lang="en-US" sz="1700" dirty="0"/>
          </a:p>
        </p:txBody>
      </p:sp>
      <p:sp>
        <p:nvSpPr>
          <p:cNvPr id="16" name="Text 14"/>
          <p:cNvSpPr txBox="1"/>
          <p:nvPr/>
        </p:nvSpPr>
        <p:spPr>
          <a:xfrm>
            <a:off x="4572000" y="2834640"/>
            <a:ext cx="3017520" cy="640080"/>
          </a:xfrm>
          <a:prstGeom prst="rect">
            <a:avLst/>
          </a:prstGeom>
          <a:noFill/>
          <a:ln/>
        </p:spPr>
        <p:txBody>
          <a:bodyPr wrap="square" lIns="0" tIns="0" rIns="0" bIns="0" rtlCol="0" anchor="t"/>
          <a:lstStyle/>
          <a:p>
            <a:pPr indent="0" marL="0">
              <a:buNone/>
            </a:pPr>
            <a:r>
              <a:rPr lang="en-US" sz="3200" b="1" dirty="0">
                <a:solidFill>
                  <a:srgbClr val="0E2A33"/>
                </a:solidFill>
                <a:latin typeface="Cambria" pitchFamily="34" charset="0"/>
                <a:ea typeface="Cambria" pitchFamily="34" charset="-122"/>
                <a:cs typeface="Cambria" pitchFamily="34" charset="-120"/>
              </a:rPr>
              <a:t>11.264</a:t>
            </a:r>
            <a:endParaRPr lang="en-US" sz="3200" dirty="0"/>
          </a:p>
        </p:txBody>
      </p:sp>
      <p:sp>
        <p:nvSpPr>
          <p:cNvPr id="17" name="Text 15"/>
          <p:cNvSpPr txBox="1"/>
          <p:nvPr/>
        </p:nvSpPr>
        <p:spPr>
          <a:xfrm>
            <a:off x="4572000" y="3474720"/>
            <a:ext cx="3017520" cy="274320"/>
          </a:xfrm>
          <a:prstGeom prst="rect">
            <a:avLst/>
          </a:prstGeom>
          <a:noFill/>
          <a:ln/>
        </p:spPr>
        <p:txBody>
          <a:bodyPr wrap="square" lIns="0" tIns="0" rIns="0" bIns="0" rtlCol="0" anchor="t"/>
          <a:lstStyle/>
          <a:p>
            <a:pPr indent="0" marL="0">
              <a:buNone/>
            </a:pPr>
            <a:r>
              <a:rPr lang="en-US" sz="1200" dirty="0">
                <a:solidFill>
                  <a:srgbClr val="0E2A33"/>
                </a:solidFill>
                <a:latin typeface="Calibri" pitchFamily="34" charset="0"/>
                <a:ea typeface="Calibri" pitchFamily="34" charset="-122"/>
                <a:cs typeface="Calibri" pitchFamily="34" charset="-120"/>
              </a:rPr>
              <a:t>bổ sung · mục tiêu 29.002</a:t>
            </a:r>
            <a:endParaRPr lang="en-US" sz="1200" dirty="0"/>
          </a:p>
        </p:txBody>
      </p:sp>
      <p:sp>
        <p:nvSpPr>
          <p:cNvPr id="18" name="Text 16"/>
          <p:cNvSpPr txBox="1"/>
          <p:nvPr/>
        </p:nvSpPr>
        <p:spPr>
          <a:xfrm>
            <a:off x="4572000" y="3840480"/>
            <a:ext cx="3017520" cy="731520"/>
          </a:xfrm>
          <a:prstGeom prst="rect">
            <a:avLst/>
          </a:prstGeom>
          <a:noFill/>
          <a:ln/>
        </p:spPr>
        <p:txBody>
          <a:bodyPr wrap="square" lIns="0" tIns="0" rIns="0" bIns="0" rtlCol="0" anchor="t"/>
          <a:lstStyle/>
          <a:p>
            <a:pPr indent="0" marL="0">
              <a:buNone/>
            </a:pPr>
            <a:r>
              <a:rPr lang="en-US" sz="1200" dirty="0">
                <a:solidFill>
                  <a:srgbClr val="0E2A33"/>
                </a:solidFill>
                <a:latin typeface="Calibri" pitchFamily="34" charset="0"/>
                <a:ea typeface="Calibri" pitchFamily="34" charset="-122"/>
                <a:cs typeface="Calibri" pitchFamily="34" charset="-120"/>
              </a:rPr>
              <a:t>Cân bằng theo Cu/Co; phân vị nội suy P50–P90</a:t>
            </a:r>
            <a:endParaRPr lang="en-US" sz="1200" dirty="0"/>
          </a:p>
        </p:txBody>
      </p:sp>
      <p:sp>
        <p:nvSpPr>
          <p:cNvPr id="19" name="Shape 17"/>
          <p:cNvSpPr/>
          <p:nvPr/>
        </p:nvSpPr>
        <p:spPr>
          <a:xfrm>
            <a:off x="8046720" y="1965960"/>
            <a:ext cx="3520440" cy="2697480"/>
          </a:xfrm>
          <a:prstGeom prst="roundRect">
            <a:avLst>
              <a:gd name="adj" fmla="val 4068"/>
            </a:avLst>
          </a:prstGeom>
          <a:solidFill>
            <a:srgbClr val="1B8A8F"/>
          </a:solidFill>
          <a:ln w="12700">
            <a:solidFill>
              <a:srgbClr val="1B8A8F"/>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321040" y="2103120"/>
            <a:ext cx="301752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Phương án C</a:t>
            </a:r>
            <a:endParaRPr lang="en-US" sz="1300" dirty="0"/>
          </a:p>
        </p:txBody>
      </p:sp>
      <p:sp>
        <p:nvSpPr>
          <p:cNvPr id="21" name="Text 19"/>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Theo P90 (đề xuất)</a:t>
            </a:r>
            <a:endParaRPr lang="en-US" sz="1700" dirty="0"/>
          </a:p>
        </p:txBody>
      </p:sp>
      <p:sp>
        <p:nvSpPr>
          <p:cNvPr id="22" name="Text 20"/>
          <p:cNvSpPr txBox="1"/>
          <p:nvPr/>
        </p:nvSpPr>
        <p:spPr>
          <a:xfrm>
            <a:off x="8321040" y="2834640"/>
            <a:ext cx="301752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15.361</a:t>
            </a:r>
            <a:endParaRPr lang="en-US" sz="3200" dirty="0"/>
          </a:p>
        </p:txBody>
      </p:sp>
      <p:sp>
        <p:nvSpPr>
          <p:cNvPr id="23" name="Text 21"/>
          <p:cNvSpPr txBox="1"/>
          <p:nvPr/>
        </p:nvSpPr>
        <p:spPr>
          <a:xfrm>
            <a:off x="8321040" y="3474720"/>
            <a:ext cx="301752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bổ sung · mục tiêu 33.099</a:t>
            </a:r>
            <a:endParaRPr lang="en-US" sz="1200" dirty="0"/>
          </a:p>
        </p:txBody>
      </p:sp>
      <p:sp>
        <p:nvSpPr>
          <p:cNvPr id="24" name="Text 22"/>
          <p:cNvSpPr txBox="1"/>
          <p:nvPr/>
        </p:nvSpPr>
        <p:spPr>
          <a:xfrm>
            <a:off x="8321040" y="3840480"/>
            <a:ext cx="301752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Giảm nguy cơ thiếu hàng; chấp nhận tồn dư cao hơn</a:t>
            </a:r>
            <a:endParaRPr lang="en-US" sz="1200" dirty="0"/>
          </a:p>
        </p:txBody>
      </p:sp>
      <p:sp>
        <p:nvSpPr>
          <p:cNvPr id="25" name="Shape 23"/>
          <p:cNvSpPr/>
          <p:nvPr/>
        </p:nvSpPr>
        <p:spPr>
          <a:xfrm>
            <a:off x="548640" y="4846320"/>
            <a:ext cx="5486400" cy="1188720"/>
          </a:xfrm>
          <a:prstGeom prst="roundRect">
            <a:avLst>
              <a:gd name="adj" fmla="val 9231"/>
            </a:avLst>
          </a:prstGeom>
          <a:solidFill>
            <a:srgbClr val="EEF5F5"/>
          </a:solidFill>
          <a:ln w="12700">
            <a:solidFill>
              <a:srgbClr val="EEF5F5"/>
            </a:solidFill>
            <a:prstDash val="solid"/>
          </a:ln>
        </p:spPr>
      </p:sp>
      <p:sp>
        <p:nvSpPr>
          <p:cNvPr id="26" name="Text 24"/>
          <p:cNvSpPr txBox="1"/>
          <p:nvPr/>
        </p:nvSpPr>
        <p:spPr>
          <a:xfrm>
            <a:off x="777240" y="4956048"/>
            <a:ext cx="5120640" cy="1005840"/>
          </a:xfrm>
          <a:prstGeom prst="rect">
            <a:avLst/>
          </a:prstGeom>
          <a:noFill/>
          <a:ln/>
        </p:spPr>
        <p:txBody>
          <a:bodyPr wrap="square" lIns="0" tIns="0" rIns="0" bIns="0" rtlCol="0" anchor="t"/>
          <a:lstStyle/>
          <a:p>
            <a:pPr indent="0" marL="0">
              <a:buNone/>
            </a:pPr>
            <a:r>
              <a:rPr lang="en-US" sz="1300" b="1" dirty="0">
                <a:solidFill>
                  <a:srgbClr val="D05A4E"/>
                </a:solidFill>
                <a:latin typeface="Calibri" pitchFamily="34" charset="0"/>
                <a:ea typeface="Calibri" pitchFamily="34" charset="-122"/>
                <a:cs typeface="Calibri" pitchFamily="34" charset="-120"/>
              </a:rPr>
              <a:t>Khuyến mãi: KHÔNG ĐỀ XUẤT TĂNG</a:t>
            </a:r>
            <a:endParaRPr lang="en-US" sz="1300" dirty="0"/>
          </a:p>
          <a:p>
            <a:pPr indent="0" marL="0">
              <a:buNone/>
            </a:pPr>
            <a:r>
              <a:rPr lang="en-US" sz="1300" dirty="0">
                <a:solidFill>
                  <a:srgbClr val="0E2A33"/>
                </a:solidFill>
                <a:latin typeface="Calibri" pitchFamily="34" charset="0"/>
                <a:ea typeface="Calibri" pitchFamily="34" charset="-122"/>
                <a:cs typeface="Calibri" pitchFamily="34" charset="-120"/>
              </a:rPr>
              <a:t>Mức High cho P50 20.553 so với 22.066 hiện tại (−6,9%).</a:t>
            </a:r>
            <a:endParaRPr lang="en-US" sz="1300" dirty="0"/>
          </a:p>
        </p:txBody>
      </p:sp>
      <p:sp>
        <p:nvSpPr>
          <p:cNvPr id="27" name="Shape 25"/>
          <p:cNvSpPr/>
          <p:nvPr/>
        </p:nvSpPr>
        <p:spPr>
          <a:xfrm>
            <a:off x="6245352" y="4846320"/>
            <a:ext cx="5394960" cy="1188720"/>
          </a:xfrm>
          <a:prstGeom prst="roundRect">
            <a:avLst>
              <a:gd name="adj" fmla="val 9231"/>
            </a:avLst>
          </a:prstGeom>
          <a:solidFill>
            <a:srgbClr val="EEF5F5"/>
          </a:solidFill>
          <a:ln w="12700">
            <a:solidFill>
              <a:srgbClr val="EEF5F5"/>
            </a:solidFill>
            <a:prstDash val="solid"/>
          </a:ln>
        </p:spPr>
      </p:sp>
      <p:sp>
        <p:nvSpPr>
          <p:cNvPr id="28" name="Text 26"/>
          <p:cNvSpPr txBox="1"/>
          <p:nvPr/>
        </p:nvSpPr>
        <p:spPr>
          <a:xfrm>
            <a:off x="6446520" y="4956048"/>
            <a:ext cx="5029200" cy="1005840"/>
          </a:xfrm>
          <a:prstGeom prst="rect">
            <a:avLst/>
          </a:prstGeom>
          <a:noFill/>
          <a:ln/>
        </p:spPr>
        <p:txBody>
          <a:bodyPr wrap="square" lIns="0" tIns="0" rIns="0" bIns="0" rtlCol="0" anchor="t"/>
          <a:lstStyle/>
          <a:p>
            <a:pPr indent="0" marL="0">
              <a:buNone/>
            </a:pPr>
            <a:r>
              <a:rPr lang="en-US" sz="1250" b="1" dirty="0">
                <a:solidFill>
                  <a:srgbClr val="12505F"/>
                </a:solidFill>
                <a:latin typeface="Calibri" pitchFamily="34" charset="0"/>
                <a:ea typeface="Calibri" pitchFamily="34" charset="-122"/>
                <a:cs typeface="Calibri" pitchFamily="34" charset="-120"/>
              </a:rPr>
              <a:t>Căn cứ: </a:t>
            </a:r>
            <a:pPr indent="0" marL="0">
              <a:buNone/>
            </a:pPr>
            <a:r>
              <a:rPr lang="en-US" sz="1250" dirty="0">
                <a:solidFill>
                  <a:srgbClr val="0E2A33"/>
                </a:solidFill>
                <a:latin typeface="Calibri" pitchFamily="34" charset="0"/>
                <a:ea typeface="Calibri" pitchFamily="34" charset="-122"/>
                <a:cs typeface="Calibri" pitchFamily="34" charset="-120"/>
              </a:rPr>
              <a:t>POL-INV-004, POL-INV-002, POL-INV-003, POL-INV-001, POL-PROMO-002, POL-HITL-001 + POL-PROMO-001 (truy xuất bổ sung). Trạng thái: PENDING_HUMAN_REVIEW.</a:t>
            </a:r>
            <a:endParaRPr lang="en-US" sz="1250" dirty="0"/>
          </a:p>
        </p:txBody>
      </p:sp>
      <p:sp>
        <p:nvSpPr>
          <p:cNvPr id="29" name="Text 2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outputs/08_genai_decision_support/decision_briefs/001_*.md.</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07</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Dashboard và mẫu ra quyết định</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Streamlit: 11 không gian phân tích, xuất Excel và báo cáo 1 trang</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DASHBOARD</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Tổng quan điều hành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48640" y="1463040"/>
            <a:ext cx="78638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home/claude/deck/shots/overview.png">    </p:cNvPr>
          <p:cNvPicPr>
            <a:picLocks noChangeAspect="1"/>
          </p:cNvPicPr>
          <p:nvPr/>
        </p:nvPicPr>
        <p:blipFill>
          <a:blip r:embed="rId1"/>
          <a:stretch>
            <a:fillRect/>
          </a:stretch>
        </p:blipFill>
        <p:spPr>
          <a:xfrm>
            <a:off x="969264" y="1554480"/>
            <a:ext cx="7022592" cy="4389120"/>
          </a:xfrm>
          <a:prstGeom prst="rect">
            <a:avLst/>
          </a:prstGeom>
        </p:spPr>
      </p:pic>
      <p:sp>
        <p:nvSpPr>
          <p:cNvPr id="8" name="Shape 5"/>
          <p:cNvSpPr/>
          <p:nvPr/>
        </p:nvSpPr>
        <p:spPr>
          <a:xfrm>
            <a:off x="8595360" y="1463040"/>
            <a:ext cx="3044952" cy="4572000"/>
          </a:xfrm>
          <a:prstGeom prst="roundRect">
            <a:avLst>
              <a:gd name="adj" fmla="val 3604"/>
            </a:avLst>
          </a:prstGeom>
          <a:solidFill>
            <a:srgbClr val="EEF5F5"/>
          </a:solidFill>
          <a:ln w="12700">
            <a:solidFill>
              <a:srgbClr val="EEF5F5"/>
            </a:solidFill>
            <a:prstDash val="solid"/>
          </a:ln>
        </p:spPr>
      </p:sp>
      <p:sp>
        <p:nvSpPr>
          <p:cNvPr id="9" name="Text 6"/>
          <p:cNvSpPr txBox="1"/>
          <p:nvPr/>
        </p:nvSpPr>
        <p:spPr>
          <a:xfrm>
            <a:off x="8778240" y="1691640"/>
            <a:ext cx="2743200" cy="42062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KPI của lần chạy: WAPE, bao phủ, số phiếu chờ duyệt</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Mô hình được chọn và lý do chọn</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Trạng thái lớp GenAI: quy tắc hay LLM</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Mọi số liệu đọc trực tiếp từ outputs/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DASHBOARD</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Trung tâm quyết định AI và phê duyệt HITL</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548640" y="1463040"/>
            <a:ext cx="78638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home/claude/deck/shots/decision.png">    </p:cNvPr>
          <p:cNvPicPr>
            <a:picLocks noChangeAspect="1"/>
          </p:cNvPicPr>
          <p:nvPr/>
        </p:nvPicPr>
        <p:blipFill>
          <a:blip r:embed="rId1"/>
          <a:stretch>
            <a:fillRect/>
          </a:stretch>
        </p:blipFill>
        <p:spPr>
          <a:xfrm>
            <a:off x="969264" y="1554480"/>
            <a:ext cx="7022592" cy="4389120"/>
          </a:xfrm>
          <a:prstGeom prst="rect">
            <a:avLst/>
          </a:prstGeom>
        </p:spPr>
      </p:pic>
      <p:sp>
        <p:nvSpPr>
          <p:cNvPr id="8" name="Shape 5"/>
          <p:cNvSpPr/>
          <p:nvPr/>
        </p:nvSpPr>
        <p:spPr>
          <a:xfrm>
            <a:off x="8595360" y="1463040"/>
            <a:ext cx="3044952" cy="4572000"/>
          </a:xfrm>
          <a:prstGeom prst="roundRect">
            <a:avLst>
              <a:gd name="adj" fmla="val 3604"/>
            </a:avLst>
          </a:prstGeom>
          <a:solidFill>
            <a:srgbClr val="EEF5F5"/>
          </a:solidFill>
          <a:ln w="12700">
            <a:solidFill>
              <a:srgbClr val="EEF5F5"/>
            </a:solidFill>
            <a:prstDash val="solid"/>
          </a:ln>
        </p:spPr>
      </p:sp>
      <p:sp>
        <p:nvSpPr>
          <p:cNvPr id="9" name="Text 6"/>
          <p:cNvSpPr txBox="1"/>
          <p:nvPr/>
        </p:nvSpPr>
        <p:spPr>
          <a:xfrm>
            <a:off x="8778240" y="1691640"/>
            <a:ext cx="2743200" cy="42062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Lọc hàng đợi theo nhãn, cửa hàng, nhóm hàng</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Xem phiếu, phương án A/B/C, căn cứ RAG</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Form phê duyệt: người duyệt, quyết định, số lượng cuối, lý do</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Ghi hitl_audit_log.csv (14 cột)</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XUẤT DỮ LIỆU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Trung tâm xuất báo cáo: Excel nhiều sheet và báo cáo 1 trang</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463040"/>
            <a:ext cx="78638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home/claude/deck/shots/export.png">    </p:cNvPr>
          <p:cNvPicPr>
            <a:picLocks noChangeAspect="1"/>
          </p:cNvPicPr>
          <p:nvPr/>
        </p:nvPicPr>
        <p:blipFill>
          <a:blip r:embed="rId1"/>
          <a:stretch>
            <a:fillRect/>
          </a:stretch>
        </p:blipFill>
        <p:spPr>
          <a:xfrm>
            <a:off x="969264" y="1554480"/>
            <a:ext cx="7022592" cy="4389120"/>
          </a:xfrm>
          <a:prstGeom prst="rect">
            <a:avLst/>
          </a:prstGeom>
        </p:spPr>
      </p:pic>
      <p:sp>
        <p:nvSpPr>
          <p:cNvPr id="8" name="Shape 5"/>
          <p:cNvSpPr/>
          <p:nvPr/>
        </p:nvSpPr>
        <p:spPr>
          <a:xfrm>
            <a:off x="8595360" y="1463040"/>
            <a:ext cx="3044952" cy="4572000"/>
          </a:xfrm>
          <a:prstGeom prst="roundRect">
            <a:avLst>
              <a:gd name="adj" fmla="val 3604"/>
            </a:avLst>
          </a:prstGeom>
          <a:solidFill>
            <a:srgbClr val="EEF5F5"/>
          </a:solidFill>
          <a:ln w="12700">
            <a:solidFill>
              <a:srgbClr val="EEF5F5"/>
            </a:solidFill>
            <a:prstDash val="solid"/>
          </a:ln>
        </p:spPr>
      </p:sp>
      <p:sp>
        <p:nvSpPr>
          <p:cNvPr id="9" name="Text 6"/>
          <p:cNvSpPr txBox="1"/>
          <p:nvPr/>
        </p:nvSpPr>
        <p:spPr>
          <a:xfrm>
            <a:off x="8778240" y="1691640"/>
            <a:ext cx="2743200" cy="42062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Chọn phạm vi: cửa hàng, nhóm hàng, nhãn rủi ro</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Excel: Bìa, KPI, Mô hình, Dự báo, Tồn kho, Khuyến mãi, Hàng đợi</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Báo cáo HTML/PDF 1 trang có biểu đồ</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Mẫu ra quyết định dự báo có dropdown và công thức</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MẪU RA QUYẾT ĐỊNH</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Mẫu dự báo để người lập kế hoạch ra quyết định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48640" y="1600200"/>
            <a:ext cx="3520440" cy="3840480"/>
          </a:xfrm>
          <a:prstGeom prst="roundRect">
            <a:avLst>
              <a:gd name="adj" fmla="val 3117"/>
            </a:avLst>
          </a:prstGeom>
          <a:solidFill>
            <a:srgbClr val="EEF5F5"/>
          </a:solidFill>
          <a:ln w="12700">
            <a:solidFill>
              <a:srgbClr val="EEF5F5"/>
            </a:solidFill>
            <a:prstDash val="solid"/>
          </a:ln>
        </p:spPr>
      </p:sp>
      <p:sp>
        <p:nvSpPr>
          <p:cNvPr id="7" name="Shape 5"/>
          <p:cNvSpPr/>
          <p:nvPr/>
        </p:nvSpPr>
        <p:spPr>
          <a:xfrm>
            <a:off x="822960" y="1801368"/>
            <a:ext cx="457200" cy="457200"/>
          </a:xfrm>
          <a:prstGeom prst="ellipse">
            <a:avLst/>
          </a:prstGeom>
          <a:solidFill>
            <a:srgbClr val="1B8A8F"/>
          </a:solidFill>
          <a:ln w="12700">
            <a:solidFill>
              <a:srgbClr val="1B8A8F"/>
            </a:solidFill>
            <a:prstDash val="solid"/>
          </a:ln>
        </p:spPr>
      </p:sp>
      <p:sp>
        <p:nvSpPr>
          <p:cNvPr id="8" name="Text 6"/>
          <p:cNvSpPr txBox="1"/>
          <p:nvPr/>
        </p:nvSpPr>
        <p:spPr>
          <a:xfrm>
            <a:off x="822960"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17320" y="1828800"/>
            <a:ext cx="2560320" cy="457200"/>
          </a:xfrm>
          <a:prstGeom prst="rect">
            <a:avLst/>
          </a:prstGeom>
          <a:noFill/>
          <a:ln/>
        </p:spPr>
        <p:txBody>
          <a:bodyPr wrap="square" lIns="0" tIns="0" rIns="0" bIns="0" rtlCol="0" anchor="t"/>
          <a:lstStyle/>
          <a:p>
            <a:pPr indent="0" marL="0">
              <a:buNone/>
            </a:pPr>
            <a:r>
              <a:rPr lang="en-US" sz="1600" b="1" dirty="0">
                <a:solidFill>
                  <a:srgbClr val="1B8A8F"/>
                </a:solidFill>
                <a:latin typeface="Calibri" pitchFamily="34" charset="0"/>
                <a:ea typeface="Calibri" pitchFamily="34" charset="-122"/>
                <a:cs typeface="Calibri" pitchFamily="34" charset="-120"/>
              </a:rPr>
              <a:t>Thông tin dự báo (khóa)</a:t>
            </a:r>
            <a:endParaRPr lang="en-US" sz="1600" dirty="0"/>
          </a:p>
        </p:txBody>
      </p:sp>
      <p:sp>
        <p:nvSpPr>
          <p:cNvPr id="10" name="Text 8"/>
          <p:cNvSpPr txBox="1"/>
          <p:nvPr/>
        </p:nvSpPr>
        <p:spPr>
          <a:xfrm>
            <a:off x="822960" y="2514600"/>
            <a:ext cx="3017520" cy="28346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Cửa hàng, nhóm hàng, kỳ 16 ngày</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P10 · P50 · P90, r, nhãn rủi ro</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Mức tin cậy, cờ ngoại suy khuyến mãi</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Phương án A/B/C và đề xuất của quy tắc</a:t>
            </a:r>
            <a:endParaRPr lang="en-US" sz="1350" dirty="0"/>
          </a:p>
        </p:txBody>
      </p:sp>
      <p:sp>
        <p:nvSpPr>
          <p:cNvPr id="11" name="Shape 9"/>
          <p:cNvSpPr/>
          <p:nvPr/>
        </p:nvSpPr>
        <p:spPr>
          <a:xfrm>
            <a:off x="4297680" y="1600200"/>
            <a:ext cx="3520440" cy="3840480"/>
          </a:xfrm>
          <a:prstGeom prst="roundRect">
            <a:avLst>
              <a:gd name="adj" fmla="val 3117"/>
            </a:avLst>
          </a:prstGeom>
          <a:solidFill>
            <a:srgbClr val="EEF5F5"/>
          </a:solidFill>
          <a:ln w="12700">
            <a:solidFill>
              <a:srgbClr val="EEF5F5"/>
            </a:solidFill>
            <a:prstDash val="solid"/>
          </a:ln>
        </p:spPr>
      </p:sp>
      <p:sp>
        <p:nvSpPr>
          <p:cNvPr id="12" name="Shape 10"/>
          <p:cNvSpPr/>
          <p:nvPr/>
        </p:nvSpPr>
        <p:spPr>
          <a:xfrm>
            <a:off x="4572000" y="1801368"/>
            <a:ext cx="457200" cy="457200"/>
          </a:xfrm>
          <a:prstGeom prst="ellipse">
            <a:avLst/>
          </a:prstGeom>
          <a:solidFill>
            <a:srgbClr val="E8A33D"/>
          </a:solidFill>
          <a:ln w="12700">
            <a:solidFill>
              <a:srgbClr val="E8A33D"/>
            </a:solidFill>
            <a:prstDash val="solid"/>
          </a:ln>
        </p:spPr>
      </p:sp>
      <p:sp>
        <p:nvSpPr>
          <p:cNvPr id="13" name="Text 11"/>
          <p:cNvSpPr txBox="1"/>
          <p:nvPr/>
        </p:nvSpPr>
        <p:spPr>
          <a:xfrm>
            <a:off x="4572000"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166360" y="1828800"/>
            <a:ext cx="2560320" cy="45720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Người lập kế hoạch điền</a:t>
            </a:r>
            <a:endParaRPr lang="en-US" sz="1600" dirty="0"/>
          </a:p>
        </p:txBody>
      </p:sp>
      <p:sp>
        <p:nvSpPr>
          <p:cNvPr id="15" name="Text 13"/>
          <p:cNvSpPr txBox="1"/>
          <p:nvPr/>
        </p:nvSpPr>
        <p:spPr>
          <a:xfrm>
            <a:off x="4572000" y="2514600"/>
            <a:ext cx="3017520" cy="28346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Tồn kho thực tế và hàng đang về</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Quyết định: Duyệt / Điều chỉnh / Từ chối (dropdown)</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Phương án chọn, số lượng cuối</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Lý do, người duyệt, ngày duyệt</a:t>
            </a:r>
            <a:endParaRPr lang="en-US" sz="1350" dirty="0"/>
          </a:p>
        </p:txBody>
      </p:sp>
      <p:sp>
        <p:nvSpPr>
          <p:cNvPr id="16" name="Shape 14"/>
          <p:cNvSpPr/>
          <p:nvPr/>
        </p:nvSpPr>
        <p:spPr>
          <a:xfrm>
            <a:off x="8046720" y="1600200"/>
            <a:ext cx="3520440" cy="3840480"/>
          </a:xfrm>
          <a:prstGeom prst="roundRect">
            <a:avLst>
              <a:gd name="adj" fmla="val 3117"/>
            </a:avLst>
          </a:prstGeom>
          <a:solidFill>
            <a:srgbClr val="EEF5F5"/>
          </a:solidFill>
          <a:ln w="12700">
            <a:solidFill>
              <a:srgbClr val="EEF5F5"/>
            </a:solidFill>
            <a:prstDash val="solid"/>
          </a:ln>
        </p:spPr>
      </p:sp>
      <p:sp>
        <p:nvSpPr>
          <p:cNvPr id="17" name="Shape 15"/>
          <p:cNvSpPr/>
          <p:nvPr/>
        </p:nvSpPr>
        <p:spPr>
          <a:xfrm>
            <a:off x="8321040" y="1801368"/>
            <a:ext cx="457200" cy="457200"/>
          </a:xfrm>
          <a:prstGeom prst="ellipse">
            <a:avLst/>
          </a:prstGeom>
          <a:solidFill>
            <a:srgbClr val="12505F"/>
          </a:solidFill>
          <a:ln w="12700">
            <a:solidFill>
              <a:srgbClr val="12505F"/>
            </a:solidFill>
            <a:prstDash val="solid"/>
          </a:ln>
        </p:spPr>
      </p:sp>
      <p:sp>
        <p:nvSpPr>
          <p:cNvPr id="18" name="Text 16"/>
          <p:cNvSpPr txBox="1"/>
          <p:nvPr/>
        </p:nvSpPr>
        <p:spPr>
          <a:xfrm>
            <a:off x="8321040"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915400" y="1828800"/>
            <a:ext cx="2560320" cy="457200"/>
          </a:xfrm>
          <a:prstGeom prst="rect">
            <a:avLst/>
          </a:prstGeom>
          <a:noFill/>
          <a:ln/>
        </p:spPr>
        <p:txBody>
          <a:bodyPr wrap="square" lIns="0" tIns="0" rIns="0" bIns="0" rtlCol="0" anchor="t"/>
          <a:lstStyle/>
          <a:p>
            <a:pPr indent="0" marL="0">
              <a:buNone/>
            </a:pPr>
            <a:r>
              <a:rPr lang="en-US" sz="1600" b="1" dirty="0">
                <a:solidFill>
                  <a:srgbClr val="12505F"/>
                </a:solidFill>
                <a:latin typeface="Calibri" pitchFamily="34" charset="0"/>
                <a:ea typeface="Calibri" pitchFamily="34" charset="-122"/>
                <a:cs typeface="Calibri" pitchFamily="34" charset="-120"/>
              </a:rPr>
              <a:t>Tự tính và kiểm soát</a:t>
            </a:r>
            <a:endParaRPr lang="en-US" sz="1600" dirty="0"/>
          </a:p>
        </p:txBody>
      </p:sp>
      <p:sp>
        <p:nvSpPr>
          <p:cNvPr id="20" name="Text 18"/>
          <p:cNvSpPr txBox="1"/>
          <p:nvPr/>
        </p:nvSpPr>
        <p:spPr>
          <a:xfrm>
            <a:off x="8321040" y="2514600"/>
            <a:ext cx="3017520" cy="283464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Lượng bổ sung theo tồn kho thực = max(mục tiêu − tồn thực, 0)</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Chênh lệch so với đề xuất (%)</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Cảnh báo khi vượt P90 hoặc thiếu lý do</a:t>
            </a:r>
            <a:endParaRPr lang="en-US" sz="1350" dirty="0"/>
          </a:p>
          <a:p>
            <a:pPr marL="203200" indent="-203200">
              <a:spcAft>
                <a:spcPts val="800"/>
              </a:spcAft>
              <a:buSzPct val="100000"/>
              <a:buChar char="•"/>
            </a:pPr>
            <a:r>
              <a:rPr lang="en-US" sz="1350" dirty="0">
                <a:solidFill>
                  <a:srgbClr val="0E2A33"/>
                </a:solidFill>
                <a:latin typeface="Calibri" pitchFamily="34" charset="0"/>
                <a:ea typeface="Calibri" pitchFamily="34" charset="-122"/>
                <a:cs typeface="Calibri" pitchFamily="34" charset="-120"/>
              </a:rPr>
              <a:t>Sheet tổng hợp theo trạng thái</a:t>
            </a:r>
            <a:endParaRPr lang="en-US" sz="1350" dirty="0"/>
          </a:p>
        </p:txBody>
      </p:sp>
      <p:sp>
        <p:nvSpPr>
          <p:cNvPr id="21" name="Text 19"/>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300" dirty="0">
                <a:solidFill>
                  <a:srgbClr val="5B6B70"/>
                </a:solidFill>
                <a:latin typeface="Calibri" pitchFamily="34" charset="0"/>
                <a:ea typeface="Calibri" pitchFamily="34" charset="-122"/>
                <a:cs typeface="Calibri" pitchFamily="34" charset="-120"/>
              </a:rPr>
              <a:t>Tệp: MAU_RA_QUYET_DINH_DU_BAO.xlsx (tải trong app hoặc reports/). Số liệu dự báo khóa, chỉ ô vàng được nhập – tuân thủ POL-HITL-001.</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08</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Trả lời câu hỏi, hạn chế và kết luận</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Những gì bằng chứng cho phép và không cho phép kết luận</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THÍ NGHIỆM ĐỘ NHẠY</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Hai lựa chọn thiết kế ảnh hưởng thế nào đến WAPE CV?</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498080" cy="914400"/>
        </p:xfrm>
        <a:graphic>
          <a:graphicData uri="http://schemas.openxmlformats.org/drawingml/2006/table">
            <a:tbl>
              <a:tblPr/>
              <a:tblGrid>
                <a:gridCol w="3474720"/>
                <a:gridCol w="1005840"/>
                <a:gridCol w="1005840"/>
                <a:gridCol w="1005840"/>
                <a:gridCol w="1005840"/>
              </a:tblGrid>
              <a:tr h="50292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Cấu hình</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Lần 1</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Lần 2</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Lần 3</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Trung bình</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r>
              <a:tr h="5029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XGBoost · cấu hình chính thức</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12,393%</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11,348%</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12,527%</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b="1" dirty="0">
                          <a:solidFill>
                            <a:srgbClr val="000000"/>
                          </a:solidFill>
                          <a:latin typeface="Calibri" pitchFamily="34" charset="0"/>
                          <a:ea typeface="Calibri" pitchFamily="34" charset="-122"/>
                          <a:cs typeface="Calibri" pitchFamily="34" charset="-120"/>
                        </a:rPr>
                        <a:t>12,089%</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029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XGBoost · mẫu 600.000 dòng</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12,655%</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11,295%</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12,825%</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000000"/>
                          </a:solidFill>
                          <a:latin typeface="Calibri" pitchFamily="34" charset="0"/>
                          <a:ea typeface="Calibri" pitchFamily="34" charset="-122"/>
                          <a:cs typeface="Calibri" pitchFamily="34" charset="-120"/>
                        </a:rPr>
                        <a:t>12,258%</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LightGBM · cấu hình chính thức</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12,863%</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11,991%</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12,849%</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50" b="1" dirty="0">
                          <a:solidFill>
                            <a:srgbClr val="000000"/>
                          </a:solidFill>
                          <a:latin typeface="Calibri" pitchFamily="34" charset="0"/>
                          <a:ea typeface="Calibri" pitchFamily="34" charset="-122"/>
                          <a:cs typeface="Calibri" pitchFamily="34" charset="-120"/>
                        </a:rPr>
                        <a:t>12,568%</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02920">
                <a:tc>
                  <a:txBody>
                    <a:bodyPr/>
                    <a:lstStyle/>
                    <a:p>
                      <a:pPr algn="l" indent="0" marL="0">
                        <a:buNone/>
                      </a:pPr>
                      <a:r>
                        <a:rPr lang="en-US" sz="1350" dirty="0">
                          <a:solidFill>
                            <a:srgbClr val="000000"/>
                          </a:solidFill>
                          <a:latin typeface="Calibri" pitchFamily="34" charset="0"/>
                          <a:ea typeface="Calibri" pitchFamily="34" charset="-122"/>
                          <a:cs typeface="Calibri" pitchFamily="34" charset="-120"/>
                        </a:rPr>
                        <a:t>LightGBM · không đặt subsample_freq</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12,999%</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11,976%</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dirty="0">
                          <a:solidFill>
                            <a:srgbClr val="000000"/>
                          </a:solidFill>
                          <a:latin typeface="Calibri" pitchFamily="34" charset="0"/>
                          <a:ea typeface="Calibri" pitchFamily="34" charset="-122"/>
                          <a:cs typeface="Calibri" pitchFamily="34" charset="-120"/>
                        </a:rPr>
                        <a:t>12,808%</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50" b="1" dirty="0">
                          <a:solidFill>
                            <a:srgbClr val="000000"/>
                          </a:solidFill>
                          <a:latin typeface="Calibri" pitchFamily="34" charset="0"/>
                          <a:ea typeface="Calibri" pitchFamily="34" charset="-122"/>
                          <a:cs typeface="Calibri" pitchFamily="34" charset="-120"/>
                        </a:rPr>
                        <a:t>12,594%</a:t>
                      </a:r>
                      <a:endParaRPr lang="en-US" sz="135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8321040" y="1600200"/>
            <a:ext cx="3319272" cy="4206240"/>
          </a:xfrm>
          <a:prstGeom prst="roundRect">
            <a:avLst>
              <a:gd name="adj" fmla="val 3306"/>
            </a:avLst>
          </a:prstGeom>
          <a:solidFill>
            <a:srgbClr val="EEF5F5"/>
          </a:solidFill>
          <a:ln w="12700">
            <a:solidFill>
              <a:srgbClr val="EEF5F5"/>
            </a:solidFill>
            <a:prstDash val="solid"/>
          </a:ln>
        </p:spPr>
      </p:sp>
      <p:sp>
        <p:nvSpPr>
          <p:cNvPr id="8" name="Text 5"/>
          <p:cNvSpPr txBox="1"/>
          <p:nvPr/>
        </p:nvSpPr>
        <p:spPr>
          <a:xfrm>
            <a:off x="8549640" y="1783080"/>
            <a:ext cx="2926080" cy="365760"/>
          </a:xfrm>
          <a:prstGeom prst="rect">
            <a:avLst/>
          </a:prstGeom>
          <a:noFill/>
          <a:ln/>
        </p:spPr>
        <p:txBody>
          <a:bodyPr wrap="square" lIns="0" tIns="0" rIns="0" bIns="0" rtlCol="0" anchor="t"/>
          <a:lstStyle/>
          <a:p>
            <a:pPr indent="0" marL="0">
              <a:buNone/>
            </a:pPr>
            <a:r>
              <a:rPr lang="en-US" sz="1800" b="1" dirty="0">
                <a:solidFill>
                  <a:srgbClr val="12505F"/>
                </a:solidFill>
                <a:latin typeface="Calibri" pitchFamily="34" charset="0"/>
                <a:ea typeface="Calibri" pitchFamily="34" charset="-122"/>
                <a:cs typeface="Calibri" pitchFamily="34" charset="-120"/>
              </a:rPr>
              <a:t>Đọc kết quả</a:t>
            </a:r>
            <a:endParaRPr lang="en-US" sz="1800" dirty="0"/>
          </a:p>
        </p:txBody>
      </p:sp>
      <p:sp>
        <p:nvSpPr>
          <p:cNvPr id="9" name="Text 6"/>
          <p:cNvSpPr txBox="1"/>
          <p:nvPr/>
        </p:nvSpPr>
        <p:spPr>
          <a:xfrm>
            <a:off x="8549640" y="2286000"/>
            <a:ext cx="2926080" cy="347472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0E2A33"/>
                </a:solidFill>
                <a:latin typeface="Calibri" pitchFamily="34" charset="0"/>
                <a:ea typeface="Calibri" pitchFamily="34" charset="-122"/>
                <a:cs typeface="Calibri" pitchFamily="34" charset="-120"/>
              </a:rPr>
              <a:t>XGBoost trên mẫu 600.000 dòng: WAPE TB cao hơn 0,169 điểm %, thời gian huấn luyện TB 15,3 so với 65,3 giây</a:t>
            </a:r>
            <a:endParaRPr lang="en-US" sz="1300" dirty="0"/>
          </a:p>
          <a:p>
            <a:pPr marL="203200" indent="-203200">
              <a:spcAft>
                <a:spcPts val="800"/>
              </a:spcAft>
              <a:buSzPct val="100000"/>
              <a:buChar char="•"/>
            </a:pPr>
            <a:r>
              <a:rPr lang="en-US" sz="1300" dirty="0">
                <a:solidFill>
                  <a:srgbClr val="0E2A33"/>
                </a:solidFill>
                <a:latin typeface="Calibri" pitchFamily="34" charset="0"/>
                <a:ea typeface="Calibri" pitchFamily="34" charset="-122"/>
                <a:cs typeface="Calibri" pitchFamily="34" charset="-120"/>
              </a:rPr>
              <a:t>LightGBM không đặt subsample_freq: WAPE TB chênh 0,027 điểm %</a:t>
            </a:r>
            <a:endParaRPr lang="en-US" sz="1300" dirty="0"/>
          </a:p>
          <a:p>
            <a:pPr marL="203200" indent="-203200">
              <a:spcAft>
                <a:spcPts val="800"/>
              </a:spcAft>
              <a:buSzPct val="100000"/>
              <a:buChar char="•"/>
            </a:pPr>
            <a:r>
              <a:rPr lang="en-US" sz="1300" dirty="0">
                <a:solidFill>
                  <a:srgbClr val="0E2A33"/>
                </a:solidFill>
                <a:latin typeface="Calibri" pitchFamily="34" charset="0"/>
                <a:ea typeface="Calibri" pitchFamily="34" charset="-122"/>
                <a:cs typeface="Calibri" pitchFamily="34" charset="-120"/>
              </a:rPr>
              <a:t>Thứ hạng mô hình không đổi ở mọi cấu hình</a:t>
            </a:r>
            <a:endParaRPr lang="en-US" sz="1300" dirty="0"/>
          </a:p>
          <a:p>
            <a:pPr marL="203200" indent="-203200">
              <a:spcAft>
                <a:spcPts val="800"/>
              </a:spcAft>
              <a:buSzPct val="100000"/>
              <a:buChar char="•"/>
            </a:pPr>
            <a:r>
              <a:rPr lang="en-US" sz="1300" dirty="0">
                <a:solidFill>
                  <a:srgbClr val="0E2A33"/>
                </a:solidFill>
                <a:latin typeface="Calibri" pitchFamily="34" charset="0"/>
                <a:ea typeface="Calibri" pitchFamily="34" charset="-122"/>
                <a:cs typeface="Calibri" pitchFamily="34" charset="-120"/>
              </a:rPr>
              <a:t>Chỉ 3 cửa sổ → không kiểm định ý nghĩa thống kê</a:t>
            </a:r>
            <a:endParaRPr lang="en-US" sz="1300" dirty="0"/>
          </a:p>
        </p:txBody>
      </p:sp>
      <p:sp>
        <p:nvSpPr>
          <p:cNvPr id="10" name="Text 7"/>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outputs/14_sensitivity/sensitivity_cv.csv (14_sensitivity_experiments.py; cùng 3 lần kiểm định của Stage 04).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TRƯỜNG HỢP ĐẠI DIỆN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Bốn chuỗi được chọn tự động theo quy tắc định trước</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48640" y="1463040"/>
            <a:ext cx="5440680" cy="2194560"/>
          </a:xfrm>
          <a:prstGeom prst="roundRect">
            <a:avLst>
              <a:gd name="adj" fmla="val 5000"/>
            </a:avLst>
          </a:prstGeom>
          <a:solidFill>
            <a:srgbClr val="EEF5F5"/>
          </a:solidFill>
          <a:ln w="12700">
            <a:solidFill>
              <a:srgbClr val="EEF5F5"/>
            </a:solidFill>
            <a:prstDash val="solid"/>
          </a:ln>
        </p:spPr>
      </p:sp>
      <p:pic>
        <p:nvPicPr>
          <p:cNvPr id="7" name="Image 0" descr="/home/claude/proj_full/REPORT_READY/figures/F25_case_du_bao_tot.png">    </p:cNvPr>
          <p:cNvPicPr>
            <a:picLocks noChangeAspect="1"/>
          </p:cNvPicPr>
          <p:nvPr/>
        </p:nvPicPr>
        <p:blipFill>
          <a:blip r:embed="rId1"/>
          <a:stretch>
            <a:fillRect/>
          </a:stretch>
        </p:blipFill>
        <p:spPr>
          <a:xfrm>
            <a:off x="640080" y="1595335"/>
            <a:ext cx="3108960" cy="1929971"/>
          </a:xfrm>
          <a:prstGeom prst="rect">
            <a:avLst/>
          </a:prstGeom>
        </p:spPr>
      </p:pic>
      <p:sp>
        <p:nvSpPr>
          <p:cNvPr id="8" name="Text 5"/>
          <p:cNvSpPr txBox="1"/>
          <p:nvPr/>
        </p:nvSpPr>
        <p:spPr>
          <a:xfrm>
            <a:off x="3886200" y="1600200"/>
            <a:ext cx="2011680" cy="32004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Dự báo tốt</a:t>
            </a:r>
            <a:endParaRPr lang="en-US" sz="1500" dirty="0"/>
          </a:p>
        </p:txBody>
      </p:sp>
      <p:sp>
        <p:nvSpPr>
          <p:cNvPr id="9" name="Text 6"/>
          <p:cNvSpPr txBox="1"/>
          <p:nvPr/>
        </p:nvSpPr>
        <p:spPr>
          <a:xfrm>
            <a:off x="3886200" y="1920240"/>
            <a:ext cx="2011680" cy="54864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CH 3 – PRODUCE</a:t>
            </a:r>
            <a:endParaRPr lang="en-US" sz="1150" dirty="0"/>
          </a:p>
        </p:txBody>
      </p:sp>
      <p:sp>
        <p:nvSpPr>
          <p:cNvPr id="10" name="Text 7"/>
          <p:cNvSpPr txBox="1"/>
          <p:nvPr/>
        </p:nvSpPr>
        <p:spPr>
          <a:xfrm>
            <a:off x="3886200" y="2560320"/>
            <a:ext cx="2011680" cy="822960"/>
          </a:xfrm>
          <a:prstGeom prst="rect">
            <a:avLst/>
          </a:prstGeom>
          <a:noFill/>
          <a:ln/>
        </p:spPr>
        <p:txBody>
          <a:bodyPr wrap="square" lIns="0" tIns="0" rIns="0" bIns="0" rtlCol="0" anchor="t"/>
          <a:lstStyle/>
          <a:p>
            <a:pPr indent="0" marL="0">
              <a:buNone/>
            </a:pPr>
            <a:r>
              <a:rPr lang="en-US" sz="1400" b="1" dirty="0">
                <a:solidFill>
                  <a:srgbClr val="0E2A33"/>
                </a:solidFill>
                <a:latin typeface="Calibri" pitchFamily="34" charset="0"/>
                <a:ea typeface="Calibri" pitchFamily="34" charset="-122"/>
                <a:cs typeface="Calibri" pitchFamily="34" charset="-120"/>
              </a:rPr>
              <a:t>WAPE 4,10%</a:t>
            </a:r>
            <a:endParaRPr lang="en-US" sz="1400" dirty="0"/>
          </a:p>
          <a:p>
            <a:pPr indent="0" marL="0">
              <a:buNone/>
            </a:pPr>
            <a:r>
              <a:rPr lang="en-US" sz="1400" b="1" dirty="0">
                <a:solidFill>
                  <a:srgbClr val="0E2A33"/>
                </a:solidFill>
                <a:latin typeface="Calibri" pitchFamily="34" charset="0"/>
                <a:ea typeface="Calibri" pitchFamily="34" charset="-122"/>
                <a:cs typeface="Calibri" pitchFamily="34" charset="-120"/>
              </a:rPr>
              <a:t>Bao phủ 68,75%</a:t>
            </a:r>
            <a:endParaRPr lang="en-US" sz="1400" dirty="0"/>
          </a:p>
        </p:txBody>
      </p:sp>
      <p:sp>
        <p:nvSpPr>
          <p:cNvPr id="11" name="Shape 8"/>
          <p:cNvSpPr/>
          <p:nvPr/>
        </p:nvSpPr>
        <p:spPr>
          <a:xfrm>
            <a:off x="6126480" y="1463040"/>
            <a:ext cx="5440680" cy="2194560"/>
          </a:xfrm>
          <a:prstGeom prst="roundRect">
            <a:avLst>
              <a:gd name="adj" fmla="val 5000"/>
            </a:avLst>
          </a:prstGeom>
          <a:solidFill>
            <a:srgbClr val="EEF5F5"/>
          </a:solidFill>
          <a:ln w="12700">
            <a:solidFill>
              <a:srgbClr val="EEF5F5"/>
            </a:solidFill>
            <a:prstDash val="solid"/>
          </a:ln>
        </p:spPr>
      </p:sp>
      <p:pic>
        <p:nvPicPr>
          <p:cNvPr id="12" name="Image 1" descr="/home/claude/proj_full/REPORT_READY/figures/F25_case_du_bao_kho.png">    </p:cNvPr>
          <p:cNvPicPr>
            <a:picLocks noChangeAspect="1"/>
          </p:cNvPicPr>
          <p:nvPr/>
        </p:nvPicPr>
        <p:blipFill>
          <a:blip r:embed="rId2"/>
          <a:stretch>
            <a:fillRect/>
          </a:stretch>
        </p:blipFill>
        <p:spPr>
          <a:xfrm>
            <a:off x="6217920" y="1595335"/>
            <a:ext cx="3108960" cy="1929971"/>
          </a:xfrm>
          <a:prstGeom prst="rect">
            <a:avLst/>
          </a:prstGeom>
        </p:spPr>
      </p:pic>
      <p:sp>
        <p:nvSpPr>
          <p:cNvPr id="13" name="Text 9"/>
          <p:cNvSpPr txBox="1"/>
          <p:nvPr/>
        </p:nvSpPr>
        <p:spPr>
          <a:xfrm>
            <a:off x="9464040" y="1600200"/>
            <a:ext cx="2011680" cy="32004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Dự báo khó</a:t>
            </a:r>
            <a:endParaRPr lang="en-US" sz="1500" dirty="0"/>
          </a:p>
        </p:txBody>
      </p:sp>
      <p:sp>
        <p:nvSpPr>
          <p:cNvPr id="14" name="Text 10"/>
          <p:cNvSpPr txBox="1"/>
          <p:nvPr/>
        </p:nvSpPr>
        <p:spPr>
          <a:xfrm>
            <a:off x="9464040" y="1920240"/>
            <a:ext cx="2011680" cy="54864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CH 12 – SCHOOL AND OFFICE SUPPLIES</a:t>
            </a:r>
            <a:endParaRPr lang="en-US" sz="1150" dirty="0"/>
          </a:p>
        </p:txBody>
      </p:sp>
      <p:sp>
        <p:nvSpPr>
          <p:cNvPr id="15" name="Text 11"/>
          <p:cNvSpPr txBox="1"/>
          <p:nvPr/>
        </p:nvSpPr>
        <p:spPr>
          <a:xfrm>
            <a:off x="9464040" y="2560320"/>
            <a:ext cx="2011680" cy="822960"/>
          </a:xfrm>
          <a:prstGeom prst="rect">
            <a:avLst/>
          </a:prstGeom>
          <a:noFill/>
          <a:ln/>
        </p:spPr>
        <p:txBody>
          <a:bodyPr wrap="square" lIns="0" tIns="0" rIns="0" bIns="0" rtlCol="0" anchor="t"/>
          <a:lstStyle/>
          <a:p>
            <a:pPr indent="0" marL="0">
              <a:buNone/>
            </a:pPr>
            <a:r>
              <a:rPr lang="en-US" sz="1400" b="1" dirty="0">
                <a:solidFill>
                  <a:srgbClr val="0E2A33"/>
                </a:solidFill>
                <a:latin typeface="Calibri" pitchFamily="34" charset="0"/>
                <a:ea typeface="Calibri" pitchFamily="34" charset="-122"/>
                <a:cs typeface="Calibri" pitchFamily="34" charset="-120"/>
              </a:rPr>
              <a:t>WAPE 468,92%</a:t>
            </a:r>
            <a:endParaRPr lang="en-US" sz="1400" dirty="0"/>
          </a:p>
          <a:p>
            <a:pPr indent="0" marL="0">
              <a:buNone/>
            </a:pPr>
            <a:r>
              <a:rPr lang="en-US" sz="1400" b="1" dirty="0">
                <a:solidFill>
                  <a:srgbClr val="0E2A33"/>
                </a:solidFill>
                <a:latin typeface="Calibri" pitchFamily="34" charset="0"/>
                <a:ea typeface="Calibri" pitchFamily="34" charset="-122"/>
                <a:cs typeface="Calibri" pitchFamily="34" charset="-120"/>
              </a:rPr>
              <a:t>Bao phủ 43,75%</a:t>
            </a:r>
            <a:endParaRPr lang="en-US" sz="1400" dirty="0"/>
          </a:p>
        </p:txBody>
      </p:sp>
      <p:sp>
        <p:nvSpPr>
          <p:cNvPr id="16" name="Shape 12"/>
          <p:cNvSpPr/>
          <p:nvPr/>
        </p:nvSpPr>
        <p:spPr>
          <a:xfrm>
            <a:off x="548640" y="3840480"/>
            <a:ext cx="5440680" cy="2194560"/>
          </a:xfrm>
          <a:prstGeom prst="roundRect">
            <a:avLst>
              <a:gd name="adj" fmla="val 5000"/>
            </a:avLst>
          </a:prstGeom>
          <a:solidFill>
            <a:srgbClr val="EEF5F5"/>
          </a:solidFill>
          <a:ln w="12700">
            <a:solidFill>
              <a:srgbClr val="EEF5F5"/>
            </a:solidFill>
            <a:prstDash val="solid"/>
          </a:ln>
        </p:spPr>
      </p:sp>
      <p:pic>
        <p:nvPicPr>
          <p:cNvPr id="17" name="Image 2" descr="/home/claude/proj_full/REPORT_READY/figures/F25_case_bat_dinh_cao.png">    </p:cNvPr>
          <p:cNvPicPr>
            <a:picLocks noChangeAspect="1"/>
          </p:cNvPicPr>
          <p:nvPr/>
        </p:nvPicPr>
        <p:blipFill>
          <a:blip r:embed="rId3"/>
          <a:stretch>
            <a:fillRect/>
          </a:stretch>
        </p:blipFill>
        <p:spPr>
          <a:xfrm>
            <a:off x="640080" y="3972775"/>
            <a:ext cx="3108960" cy="1929971"/>
          </a:xfrm>
          <a:prstGeom prst="rect">
            <a:avLst/>
          </a:prstGeom>
        </p:spPr>
      </p:pic>
      <p:sp>
        <p:nvSpPr>
          <p:cNvPr id="18" name="Text 13"/>
          <p:cNvSpPr txBox="1"/>
          <p:nvPr/>
        </p:nvSpPr>
        <p:spPr>
          <a:xfrm>
            <a:off x="3886200" y="3977640"/>
            <a:ext cx="2011680" cy="32004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Bất định cao</a:t>
            </a:r>
            <a:endParaRPr lang="en-US" sz="1500" dirty="0"/>
          </a:p>
        </p:txBody>
      </p:sp>
      <p:sp>
        <p:nvSpPr>
          <p:cNvPr id="19" name="Text 14"/>
          <p:cNvSpPr txBox="1"/>
          <p:nvPr/>
        </p:nvSpPr>
        <p:spPr>
          <a:xfrm>
            <a:off x="3886200" y="4297680"/>
            <a:ext cx="2011680" cy="54864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CH 2 – BEVERAGES</a:t>
            </a:r>
            <a:endParaRPr lang="en-US" sz="1150" dirty="0"/>
          </a:p>
        </p:txBody>
      </p:sp>
      <p:sp>
        <p:nvSpPr>
          <p:cNvPr id="20" name="Text 15"/>
          <p:cNvSpPr txBox="1"/>
          <p:nvPr/>
        </p:nvSpPr>
        <p:spPr>
          <a:xfrm>
            <a:off x="3886200" y="4937760"/>
            <a:ext cx="2011680" cy="822960"/>
          </a:xfrm>
          <a:prstGeom prst="rect">
            <a:avLst/>
          </a:prstGeom>
          <a:noFill/>
          <a:ln/>
        </p:spPr>
        <p:txBody>
          <a:bodyPr wrap="square" lIns="0" tIns="0" rIns="0" bIns="0" rtlCol="0" anchor="t"/>
          <a:lstStyle/>
          <a:p>
            <a:pPr indent="0" marL="0">
              <a:buNone/>
            </a:pPr>
            <a:r>
              <a:rPr lang="en-US" sz="1400" b="1" dirty="0">
                <a:solidFill>
                  <a:srgbClr val="0E2A33"/>
                </a:solidFill>
                <a:latin typeface="Calibri" pitchFamily="34" charset="0"/>
                <a:ea typeface="Calibri" pitchFamily="34" charset="-122"/>
                <a:cs typeface="Calibri" pitchFamily="34" charset="-120"/>
              </a:rPr>
              <a:t>WAPE 19,11%</a:t>
            </a:r>
            <a:endParaRPr lang="en-US" sz="1400" dirty="0"/>
          </a:p>
          <a:p>
            <a:pPr indent="0" marL="0">
              <a:buNone/>
            </a:pPr>
            <a:r>
              <a:rPr lang="en-US" sz="1400" b="1" dirty="0">
                <a:solidFill>
                  <a:srgbClr val="0E2A33"/>
                </a:solidFill>
                <a:latin typeface="Calibri" pitchFamily="34" charset="0"/>
                <a:ea typeface="Calibri" pitchFamily="34" charset="-122"/>
                <a:cs typeface="Calibri" pitchFamily="34" charset="-120"/>
              </a:rPr>
              <a:t>Bao phủ 43,75%</a:t>
            </a:r>
            <a:endParaRPr lang="en-US" sz="1400" dirty="0"/>
          </a:p>
        </p:txBody>
      </p:sp>
      <p:sp>
        <p:nvSpPr>
          <p:cNvPr id="21" name="Shape 16"/>
          <p:cNvSpPr/>
          <p:nvPr/>
        </p:nvSpPr>
        <p:spPr>
          <a:xfrm>
            <a:off x="6126480" y="3840480"/>
            <a:ext cx="5440680" cy="2194560"/>
          </a:xfrm>
          <a:prstGeom prst="roundRect">
            <a:avLst>
              <a:gd name="adj" fmla="val 5000"/>
            </a:avLst>
          </a:prstGeom>
          <a:solidFill>
            <a:srgbClr val="EEF5F5"/>
          </a:solidFill>
          <a:ln w="12700">
            <a:solidFill>
              <a:srgbClr val="EEF5F5"/>
            </a:solidFill>
            <a:prstDash val="solid"/>
          </a:ln>
        </p:spPr>
      </p:sp>
      <p:pic>
        <p:nvPicPr>
          <p:cNvPr id="22" name="Image 3" descr="/home/claude/proj_full/REPORT_READY/figures/F25_case_nhay_khuyen_mai.png">    </p:cNvPr>
          <p:cNvPicPr>
            <a:picLocks noChangeAspect="1"/>
          </p:cNvPicPr>
          <p:nvPr/>
        </p:nvPicPr>
        <p:blipFill>
          <a:blip r:embed="rId4"/>
          <a:stretch>
            <a:fillRect/>
          </a:stretch>
        </p:blipFill>
        <p:spPr>
          <a:xfrm>
            <a:off x="6217920" y="3972775"/>
            <a:ext cx="3108960" cy="1929971"/>
          </a:xfrm>
          <a:prstGeom prst="rect">
            <a:avLst/>
          </a:prstGeom>
        </p:spPr>
      </p:pic>
      <p:sp>
        <p:nvSpPr>
          <p:cNvPr id="23" name="Text 17"/>
          <p:cNvSpPr txBox="1"/>
          <p:nvPr/>
        </p:nvSpPr>
        <p:spPr>
          <a:xfrm>
            <a:off x="9464040" y="3977640"/>
            <a:ext cx="2011680" cy="320040"/>
          </a:xfrm>
          <a:prstGeom prst="rect">
            <a:avLst/>
          </a:prstGeom>
          <a:noFill/>
          <a:ln/>
        </p:spPr>
        <p:txBody>
          <a:bodyPr wrap="square" lIns="0" tIns="0" rIns="0" bIns="0" rtlCol="0" anchor="t"/>
          <a:lstStyle/>
          <a:p>
            <a:pPr indent="0" marL="0">
              <a:buNone/>
            </a:pPr>
            <a:r>
              <a:rPr lang="en-US" sz="1500" b="1" dirty="0">
                <a:solidFill>
                  <a:srgbClr val="12505F"/>
                </a:solidFill>
                <a:latin typeface="Calibri" pitchFamily="34" charset="0"/>
                <a:ea typeface="Calibri" pitchFamily="34" charset="-122"/>
                <a:cs typeface="Calibri" pitchFamily="34" charset="-120"/>
              </a:rPr>
              <a:t>Nhạy khuyến mãi</a:t>
            </a:r>
            <a:endParaRPr lang="en-US" sz="1500" dirty="0"/>
          </a:p>
        </p:txBody>
      </p:sp>
      <p:sp>
        <p:nvSpPr>
          <p:cNvPr id="24" name="Text 18"/>
          <p:cNvSpPr txBox="1"/>
          <p:nvPr/>
        </p:nvSpPr>
        <p:spPr>
          <a:xfrm>
            <a:off x="9464040" y="4297680"/>
            <a:ext cx="2011680" cy="548640"/>
          </a:xfrm>
          <a:prstGeom prst="rect">
            <a:avLst/>
          </a:prstGeom>
          <a:noFill/>
          <a:ln/>
        </p:spPr>
        <p:txBody>
          <a:bodyPr wrap="square" lIns="0" tIns="0" rIns="0" bIns="0" rtlCol="0" anchor="t"/>
          <a:lstStyle/>
          <a:p>
            <a:pPr indent="0" marL="0">
              <a:buNone/>
            </a:pPr>
            <a:r>
              <a:rPr lang="en-US" sz="1150" dirty="0">
                <a:solidFill>
                  <a:srgbClr val="5B6B70"/>
                </a:solidFill>
                <a:latin typeface="Calibri" pitchFamily="34" charset="0"/>
                <a:ea typeface="Calibri" pitchFamily="34" charset="-122"/>
                <a:cs typeface="Calibri" pitchFamily="34" charset="-120"/>
              </a:rPr>
              <a:t>CH 45 – GROCERY I</a:t>
            </a:r>
            <a:endParaRPr lang="en-US" sz="1150" dirty="0"/>
          </a:p>
        </p:txBody>
      </p:sp>
      <p:sp>
        <p:nvSpPr>
          <p:cNvPr id="25" name="Text 19"/>
          <p:cNvSpPr txBox="1"/>
          <p:nvPr/>
        </p:nvSpPr>
        <p:spPr>
          <a:xfrm>
            <a:off x="9464040" y="4937760"/>
            <a:ext cx="2011680" cy="822960"/>
          </a:xfrm>
          <a:prstGeom prst="rect">
            <a:avLst/>
          </a:prstGeom>
          <a:noFill/>
          <a:ln/>
        </p:spPr>
        <p:txBody>
          <a:bodyPr wrap="square" lIns="0" tIns="0" rIns="0" bIns="0" rtlCol="0" anchor="t"/>
          <a:lstStyle/>
          <a:p>
            <a:pPr indent="0" marL="0">
              <a:buNone/>
            </a:pPr>
            <a:r>
              <a:rPr lang="en-US" sz="1400" b="1" dirty="0">
                <a:solidFill>
                  <a:srgbClr val="0E2A33"/>
                </a:solidFill>
                <a:latin typeface="Calibri" pitchFamily="34" charset="0"/>
                <a:ea typeface="Calibri" pitchFamily="34" charset="-122"/>
                <a:cs typeface="Calibri" pitchFamily="34" charset="-120"/>
              </a:rPr>
              <a:t>WAPE 6,36%</a:t>
            </a:r>
            <a:endParaRPr lang="en-US" sz="1400" dirty="0"/>
          </a:p>
          <a:p>
            <a:pPr indent="0" marL="0">
              <a:buNone/>
            </a:pPr>
            <a:r>
              <a:rPr lang="en-US" sz="1400" b="1" dirty="0">
                <a:solidFill>
                  <a:srgbClr val="0E2A33"/>
                </a:solidFill>
                <a:latin typeface="Calibri" pitchFamily="34" charset="0"/>
                <a:ea typeface="Calibri" pitchFamily="34" charset="-122"/>
                <a:cs typeface="Calibri" pitchFamily="34" charset="-120"/>
              </a:rPr>
              <a:t>Bao phủ 62,50%</a:t>
            </a:r>
            <a:endParaRPr lang="en-US" sz="1400" dirty="0"/>
          </a:p>
        </p:txBody>
      </p:sp>
      <p:sp>
        <p:nvSpPr>
          <p:cNvPr id="26" name="Text 20"/>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outputs/12_case_studies/case_study_metrics.csv (16 ngày tập kiểm tra cuối).</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TRẢ LỜI CÂU HỎI NGHIÊN CỨU</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Bằng chứng chính cho từng câu hỏi</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48640" y="1508760"/>
            <a:ext cx="11094415" cy="768096"/>
          </a:xfrm>
          <a:prstGeom prst="roundRect">
            <a:avLst>
              <a:gd name="adj" fmla="val 14286"/>
            </a:avLst>
          </a:prstGeom>
          <a:solidFill>
            <a:srgbClr val="EEF5F5"/>
          </a:solidFill>
          <a:ln w="12700">
            <a:solidFill>
              <a:srgbClr val="EEF5F5"/>
            </a:solidFill>
            <a:prstDash val="solid"/>
          </a:ln>
        </p:spPr>
      </p:sp>
      <p:sp>
        <p:nvSpPr>
          <p:cNvPr id="7" name="Shape 5"/>
          <p:cNvSpPr/>
          <p:nvPr/>
        </p:nvSpPr>
        <p:spPr>
          <a:xfrm>
            <a:off x="731520" y="1636776"/>
            <a:ext cx="512064" cy="512064"/>
          </a:xfrm>
          <a:prstGeom prst="ellipse">
            <a:avLst/>
          </a:prstGeom>
          <a:solidFill>
            <a:srgbClr val="1B8A8F"/>
          </a:solidFill>
          <a:ln w="12700">
            <a:solidFill>
              <a:srgbClr val="1B8A8F"/>
            </a:solidFill>
            <a:prstDash val="solid"/>
          </a:ln>
        </p:spPr>
      </p:sp>
      <p:sp>
        <p:nvSpPr>
          <p:cNvPr id="8" name="Text 6"/>
          <p:cNvSpPr txBox="1"/>
          <p:nvPr/>
        </p:nvSpPr>
        <p:spPr>
          <a:xfrm>
            <a:off x="731520" y="163677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RQ1</a:t>
            </a:r>
            <a:endParaRPr lang="en-US" sz="1400" dirty="0"/>
          </a:p>
        </p:txBody>
      </p:sp>
      <p:sp>
        <p:nvSpPr>
          <p:cNvPr id="9" name="Text 7"/>
          <p:cNvSpPr txBox="1"/>
          <p:nvPr/>
        </p:nvSpPr>
        <p:spPr>
          <a:xfrm>
            <a:off x="1463040" y="1600200"/>
            <a:ext cx="9997135" cy="585216"/>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Quy mô lớn, 31,3% doanh số bằng 0, mùa vụ tuần rõ, khuyến mãi gắn quy mô → đặc trưng lịch, độ trễ bội số 7, không suy nhân quả.</a:t>
            </a:r>
            <a:endParaRPr lang="en-US" sz="1500" dirty="0"/>
          </a:p>
        </p:txBody>
      </p:sp>
      <p:sp>
        <p:nvSpPr>
          <p:cNvPr id="10" name="Shape 8"/>
          <p:cNvSpPr/>
          <p:nvPr/>
        </p:nvSpPr>
        <p:spPr>
          <a:xfrm>
            <a:off x="548640" y="2414016"/>
            <a:ext cx="11094415" cy="768096"/>
          </a:xfrm>
          <a:prstGeom prst="roundRect">
            <a:avLst>
              <a:gd name="adj" fmla="val 14286"/>
            </a:avLst>
          </a:prstGeom>
          <a:solidFill>
            <a:srgbClr val="FFFFFF"/>
          </a:solidFill>
          <a:ln w="12700">
            <a:solidFill>
              <a:srgbClr val="FFFFFF"/>
            </a:solidFill>
            <a:prstDash val="solid"/>
          </a:ln>
        </p:spPr>
      </p:sp>
      <p:sp>
        <p:nvSpPr>
          <p:cNvPr id="11" name="Shape 9"/>
          <p:cNvSpPr/>
          <p:nvPr/>
        </p:nvSpPr>
        <p:spPr>
          <a:xfrm>
            <a:off x="731520" y="2542032"/>
            <a:ext cx="512064" cy="512064"/>
          </a:xfrm>
          <a:prstGeom prst="ellipse">
            <a:avLst/>
          </a:prstGeom>
          <a:solidFill>
            <a:srgbClr val="1B8A8F"/>
          </a:solidFill>
          <a:ln w="12700">
            <a:solidFill>
              <a:srgbClr val="1B8A8F"/>
            </a:solidFill>
            <a:prstDash val="solid"/>
          </a:ln>
        </p:spPr>
      </p:sp>
      <p:sp>
        <p:nvSpPr>
          <p:cNvPr id="12" name="Text 10"/>
          <p:cNvSpPr txBox="1"/>
          <p:nvPr/>
        </p:nvSpPr>
        <p:spPr>
          <a:xfrm>
            <a:off x="731520" y="254203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RQ2</a:t>
            </a:r>
            <a:endParaRPr lang="en-US" sz="1400" dirty="0"/>
          </a:p>
        </p:txBody>
      </p:sp>
      <p:sp>
        <p:nvSpPr>
          <p:cNvPr id="13" name="Text 11"/>
          <p:cNvSpPr txBox="1"/>
          <p:nvPr/>
        </p:nvSpPr>
        <p:spPr>
          <a:xfrm>
            <a:off x="1463040" y="2505456"/>
            <a:ext cx="9997135" cy="585216"/>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XGBoost tốt nhất: WAPE CV 12,089%, kiểm tra cuối 14,327%; hơn LightGBM chưa có ý nghĩa thống kê.</a:t>
            </a:r>
            <a:endParaRPr lang="en-US" sz="1500" dirty="0"/>
          </a:p>
        </p:txBody>
      </p:sp>
      <p:sp>
        <p:nvSpPr>
          <p:cNvPr id="14" name="Shape 12"/>
          <p:cNvSpPr/>
          <p:nvPr/>
        </p:nvSpPr>
        <p:spPr>
          <a:xfrm>
            <a:off x="548640" y="3319272"/>
            <a:ext cx="11094415" cy="768096"/>
          </a:xfrm>
          <a:prstGeom prst="roundRect">
            <a:avLst>
              <a:gd name="adj" fmla="val 14286"/>
            </a:avLst>
          </a:prstGeom>
          <a:solidFill>
            <a:srgbClr val="EEF5F5"/>
          </a:solidFill>
          <a:ln w="12700">
            <a:solidFill>
              <a:srgbClr val="EEF5F5"/>
            </a:solidFill>
            <a:prstDash val="solid"/>
          </a:ln>
        </p:spPr>
      </p:sp>
      <p:sp>
        <p:nvSpPr>
          <p:cNvPr id="15" name="Shape 13"/>
          <p:cNvSpPr/>
          <p:nvPr/>
        </p:nvSpPr>
        <p:spPr>
          <a:xfrm>
            <a:off x="731520" y="3447288"/>
            <a:ext cx="512064" cy="512064"/>
          </a:xfrm>
          <a:prstGeom prst="ellipse">
            <a:avLst/>
          </a:prstGeom>
          <a:solidFill>
            <a:srgbClr val="12505F"/>
          </a:solidFill>
          <a:ln w="12700">
            <a:solidFill>
              <a:srgbClr val="12505F"/>
            </a:solidFill>
            <a:prstDash val="solid"/>
          </a:ln>
        </p:spPr>
      </p:sp>
      <p:sp>
        <p:nvSpPr>
          <p:cNvPr id="16" name="Text 14"/>
          <p:cNvSpPr txBox="1"/>
          <p:nvPr/>
        </p:nvSpPr>
        <p:spPr>
          <a:xfrm>
            <a:off x="731520" y="344728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RQ3</a:t>
            </a:r>
            <a:endParaRPr lang="en-US" sz="1400" dirty="0"/>
          </a:p>
        </p:txBody>
      </p:sp>
      <p:sp>
        <p:nvSpPr>
          <p:cNvPr id="17" name="Text 15"/>
          <p:cNvSpPr txBox="1"/>
          <p:nvPr/>
        </p:nvSpPr>
        <p:spPr>
          <a:xfrm>
            <a:off x="1463040" y="3410712"/>
            <a:ext cx="9997135" cy="585216"/>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Pinball P10/P50/P90 = 17,850 / 33,428 / 20,960; bao phủ Q4 72,77%; bao phủ tổng 75,40% &lt; 80%.</a:t>
            </a:r>
            <a:endParaRPr lang="en-US" sz="1500" dirty="0"/>
          </a:p>
        </p:txBody>
      </p:sp>
      <p:sp>
        <p:nvSpPr>
          <p:cNvPr id="18" name="Shape 16"/>
          <p:cNvSpPr/>
          <p:nvPr/>
        </p:nvSpPr>
        <p:spPr>
          <a:xfrm>
            <a:off x="548640" y="4224528"/>
            <a:ext cx="11094415" cy="768096"/>
          </a:xfrm>
          <a:prstGeom prst="roundRect">
            <a:avLst>
              <a:gd name="adj" fmla="val 14286"/>
            </a:avLst>
          </a:prstGeom>
          <a:solidFill>
            <a:srgbClr val="FFFFFF"/>
          </a:solidFill>
          <a:ln w="12700">
            <a:solidFill>
              <a:srgbClr val="FFFFFF"/>
            </a:solidFill>
            <a:prstDash val="solid"/>
          </a:ln>
        </p:spPr>
      </p:sp>
      <p:sp>
        <p:nvSpPr>
          <p:cNvPr id="19" name="Shape 17"/>
          <p:cNvSpPr/>
          <p:nvPr/>
        </p:nvSpPr>
        <p:spPr>
          <a:xfrm>
            <a:off x="731520" y="4352544"/>
            <a:ext cx="512064" cy="512064"/>
          </a:xfrm>
          <a:prstGeom prst="ellipse">
            <a:avLst/>
          </a:prstGeom>
          <a:solidFill>
            <a:srgbClr val="12505F"/>
          </a:solidFill>
          <a:ln w="12700">
            <a:solidFill>
              <a:srgbClr val="12505F"/>
            </a:solidFill>
            <a:prstDash val="solid"/>
          </a:ln>
        </p:spPr>
      </p:sp>
      <p:sp>
        <p:nvSpPr>
          <p:cNvPr id="20" name="Text 18"/>
          <p:cNvSpPr txBox="1"/>
          <p:nvPr/>
        </p:nvSpPr>
        <p:spPr>
          <a:xfrm>
            <a:off x="731520" y="435254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RQ4</a:t>
            </a:r>
            <a:endParaRPr lang="en-US" sz="1400" dirty="0"/>
          </a:p>
        </p:txBody>
      </p:sp>
      <p:sp>
        <p:nvSpPr>
          <p:cNvPr id="21" name="Text 19"/>
          <p:cNvSpPr txBox="1"/>
          <p:nvPr/>
        </p:nvSpPr>
        <p:spPr>
          <a:xfrm>
            <a:off x="1463040" y="4315968"/>
            <a:ext cx="9997135" cy="585216"/>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Kịch bản −5,04% đến +9,06% (có điều kiện); nhãn HIGH/MEDIUM/LOW 1.064/634/84 dưới giả định.</a:t>
            </a:r>
            <a:endParaRPr lang="en-US" sz="1500" dirty="0"/>
          </a:p>
        </p:txBody>
      </p:sp>
      <p:sp>
        <p:nvSpPr>
          <p:cNvPr id="22" name="Shape 20"/>
          <p:cNvSpPr/>
          <p:nvPr/>
        </p:nvSpPr>
        <p:spPr>
          <a:xfrm>
            <a:off x="548640" y="5129784"/>
            <a:ext cx="11094415" cy="768096"/>
          </a:xfrm>
          <a:prstGeom prst="roundRect">
            <a:avLst>
              <a:gd name="adj" fmla="val 14286"/>
            </a:avLst>
          </a:prstGeom>
          <a:solidFill>
            <a:srgbClr val="EEF5F5"/>
          </a:solidFill>
          <a:ln w="12700">
            <a:solidFill>
              <a:srgbClr val="EEF5F5"/>
            </a:solidFill>
            <a:prstDash val="solid"/>
          </a:ln>
        </p:spPr>
      </p:sp>
      <p:sp>
        <p:nvSpPr>
          <p:cNvPr id="23" name="Shape 21"/>
          <p:cNvSpPr/>
          <p:nvPr/>
        </p:nvSpPr>
        <p:spPr>
          <a:xfrm>
            <a:off x="731520" y="5257800"/>
            <a:ext cx="512064" cy="512064"/>
          </a:xfrm>
          <a:prstGeom prst="ellipse">
            <a:avLst/>
          </a:prstGeom>
          <a:solidFill>
            <a:srgbClr val="E8A33D"/>
          </a:solidFill>
          <a:ln w="12700">
            <a:solidFill>
              <a:srgbClr val="E8A33D"/>
            </a:solidFill>
            <a:prstDash val="solid"/>
          </a:ln>
        </p:spPr>
      </p:sp>
      <p:sp>
        <p:nvSpPr>
          <p:cNvPr id="24" name="Text 22"/>
          <p:cNvSpPr txBox="1"/>
          <p:nvPr/>
        </p:nvSpPr>
        <p:spPr>
          <a:xfrm>
            <a:off x="731520" y="525780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RQ5</a:t>
            </a:r>
            <a:endParaRPr lang="en-US" sz="1400" dirty="0"/>
          </a:p>
        </p:txBody>
      </p:sp>
      <p:sp>
        <p:nvSpPr>
          <p:cNvPr id="25" name="Text 23"/>
          <p:cNvSpPr txBox="1"/>
          <p:nvPr/>
        </p:nvSpPr>
        <p:spPr>
          <a:xfrm>
            <a:off x="1463040" y="5221224"/>
            <a:ext cx="9997135" cy="585216"/>
          </a:xfrm>
          <a:prstGeom prst="rect">
            <a:avLst/>
          </a:prstGeom>
          <a:noFill/>
          <a:ln/>
        </p:spPr>
        <p:txBody>
          <a:bodyPr wrap="square" lIns="0" tIns="0" rIns="0" bIns="0" rtlCol="0" anchor="ctr"/>
          <a:lstStyle/>
          <a:p>
            <a:pPr indent="0" marL="0">
              <a:buNone/>
            </a:pPr>
            <a:r>
              <a:rPr lang="en-US" sz="1500" dirty="0">
                <a:solidFill>
                  <a:srgbClr val="0E2A33"/>
                </a:solidFill>
                <a:latin typeface="Calibri" pitchFamily="34" charset="0"/>
                <a:ea typeface="Calibri" pitchFamily="34" charset="-122"/>
                <a:cs typeface="Calibri" pitchFamily="34" charset="-120"/>
              </a:rPr>
              <a:t>1.782 phiếu có căn cứ, RAG, kiểm tra bám bằng chứng, HITL; LLM chưa chạy thật.</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HẠN CHẾ VÀ HƯỚNG PHÁT TRIỂN</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Trung thực về giới hạn – rõ ràng về bước tiếp theo</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48640" y="1508760"/>
            <a:ext cx="5440680" cy="4526280"/>
          </a:xfrm>
          <a:prstGeom prst="roundRect">
            <a:avLst>
              <a:gd name="adj" fmla="val 2424"/>
            </a:avLst>
          </a:prstGeom>
          <a:solidFill>
            <a:srgbClr val="EEF5F5"/>
          </a:solidFill>
          <a:ln w="12700">
            <a:solidFill>
              <a:srgbClr val="EEF5F5"/>
            </a:solidFill>
            <a:prstDash val="solid"/>
          </a:ln>
        </p:spPr>
      </p:sp>
      <p:sp>
        <p:nvSpPr>
          <p:cNvPr id="7" name="Shape 5"/>
          <p:cNvSpPr/>
          <p:nvPr/>
        </p:nvSpPr>
        <p:spPr>
          <a:xfrm>
            <a:off x="6199632" y="1508760"/>
            <a:ext cx="5440680" cy="4526280"/>
          </a:xfrm>
          <a:prstGeom prst="roundRect">
            <a:avLst>
              <a:gd name="adj" fmla="val 2424"/>
            </a:avLst>
          </a:prstGeom>
          <a:solidFill>
            <a:srgbClr val="EEF5F5"/>
          </a:solidFill>
          <a:ln w="12700">
            <a:solidFill>
              <a:srgbClr val="EEF5F5"/>
            </a:solidFill>
            <a:prstDash val="solid"/>
          </a:ln>
        </p:spPr>
      </p:sp>
      <p:sp>
        <p:nvSpPr>
          <p:cNvPr id="8" name="Text 6"/>
          <p:cNvSpPr txBox="1"/>
          <p:nvPr/>
        </p:nvSpPr>
        <p:spPr>
          <a:xfrm>
            <a:off x="822960" y="1691640"/>
            <a:ext cx="4572000" cy="411480"/>
          </a:xfrm>
          <a:prstGeom prst="rect">
            <a:avLst/>
          </a:prstGeom>
          <a:noFill/>
          <a:ln/>
        </p:spPr>
        <p:txBody>
          <a:bodyPr wrap="square" lIns="0" tIns="0" rIns="0" bIns="0" rtlCol="0" anchor="t"/>
          <a:lstStyle/>
          <a:p>
            <a:pPr indent="0" marL="0">
              <a:buNone/>
            </a:pPr>
            <a:r>
              <a:rPr lang="en-US" sz="1900" b="1" dirty="0">
                <a:solidFill>
                  <a:srgbClr val="D05A4E"/>
                </a:solidFill>
                <a:latin typeface="Calibri" pitchFamily="34" charset="0"/>
                <a:ea typeface="Calibri" pitchFamily="34" charset="-122"/>
                <a:cs typeface="Calibri" pitchFamily="34" charset="-120"/>
              </a:rPr>
              <a:t>Hạn chế</a:t>
            </a:r>
            <a:endParaRPr lang="en-US" sz="1900" dirty="0"/>
          </a:p>
        </p:txBody>
      </p:sp>
      <p:sp>
        <p:nvSpPr>
          <p:cNvPr id="9" name="Text 7"/>
          <p:cNvSpPr txBox="1"/>
          <p:nvPr/>
        </p:nvSpPr>
        <p:spPr>
          <a:xfrm>
            <a:off x="6473952" y="1691640"/>
            <a:ext cx="4572000" cy="411480"/>
          </a:xfrm>
          <a:prstGeom prst="rect">
            <a:avLst/>
          </a:prstGeom>
          <a:noFill/>
          <a:ln/>
        </p:spPr>
        <p:txBody>
          <a:bodyPr wrap="square" lIns="0" tIns="0" rIns="0" bIns="0" rtlCol="0" anchor="t"/>
          <a:lstStyle/>
          <a:p>
            <a:pPr indent="0" marL="0">
              <a:buNone/>
            </a:pPr>
            <a:r>
              <a:rPr lang="en-US" sz="1900" b="1" dirty="0">
                <a:solidFill>
                  <a:srgbClr val="3C8D5A"/>
                </a:solidFill>
                <a:latin typeface="Calibri" pitchFamily="34" charset="0"/>
                <a:ea typeface="Calibri" pitchFamily="34" charset="-122"/>
                <a:cs typeface="Calibri" pitchFamily="34" charset="-120"/>
              </a:rPr>
              <a:t>Hướng phát triển</a:t>
            </a:r>
            <a:endParaRPr lang="en-US" sz="1900" dirty="0"/>
          </a:p>
        </p:txBody>
      </p:sp>
      <p:sp>
        <p:nvSpPr>
          <p:cNvPr id="10" name="Text 8"/>
          <p:cNvSpPr txBox="1"/>
          <p:nvPr/>
        </p:nvSpPr>
        <p:spPr>
          <a:xfrm>
            <a:off x="822960" y="2240280"/>
            <a:ext cx="4937760" cy="3657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Bao phủ tổng 75,40% thấp hơn danh nghĩa 80%</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Nhãn rủi ro gắn với quy mô chuỗi (Spearman −0,970)</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Kịch bản khuyến mãi có ngoại suy, không nhân quả</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Tồn kho mô phỏng: thiếu giá, biên lợi nhuận, tồn kho thực, lead time</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Chỉ 3 cửa sổ kiểm định, không tinh chỉnh siêu tham số</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LLM chưa chạy thật; khác biệt nhỏ do phiên bản thư viện</a:t>
            </a:r>
            <a:endParaRPr lang="en-US" sz="1400" dirty="0"/>
          </a:p>
        </p:txBody>
      </p:sp>
      <p:sp>
        <p:nvSpPr>
          <p:cNvPr id="11" name="Text 9"/>
          <p:cNvSpPr txBox="1"/>
          <p:nvPr/>
        </p:nvSpPr>
        <p:spPr>
          <a:xfrm>
            <a:off x="6473952" y="2240280"/>
            <a:ext cx="4937760" cy="3657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Hiệu chỉnh conformal theo nhóm hàng, cửa sổ hiệu chỉnh riêng</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Chuẩn hóa nhãn rủi ro theo quy mô hoặc dựa trên chi phí</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Thiết kế thử nghiệm A/B để ước lượng tác động khuyến mãi</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Kết nối dữ liệu tồn kho, giá và lead time thực</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Mở rộng số cửa sổ, kiểm định ý nghĩa thống kê</a:t>
            </a:r>
            <a:endParaRPr lang="en-US" sz="1400" dirty="0"/>
          </a:p>
          <a:p>
            <a:pPr marL="203200" indent="-203200">
              <a:spcAft>
                <a:spcPts val="800"/>
              </a:spcAft>
              <a:buSzPct val="100000"/>
              <a:buChar char="•"/>
            </a:pPr>
            <a:r>
              <a:rPr lang="en-US" sz="1400" dirty="0">
                <a:solidFill>
                  <a:srgbClr val="0E2A33"/>
                </a:solidFill>
                <a:latin typeface="Calibri" pitchFamily="34" charset="0"/>
                <a:ea typeface="Calibri" pitchFamily="34" charset="-122"/>
                <a:cs typeface="Calibri" pitchFamily="34" charset="-120"/>
              </a:rPr>
              <a:t>Đánh giá LLM thật: tỷ lệ bị loại, chất lượng, năng suất người duyệt</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41</a:t>
            </a:r>
            <a:endParaRPr lang="en-US" sz="900" dirty="0"/>
          </a:p>
        </p:txBody>
      </p:sp>
      <p:sp>
        <p:nvSpPr>
          <p:cNvPr id="4" name="Text 2"/>
          <p:cNvSpPr txBox="1"/>
          <p:nvPr/>
        </p:nvSpPr>
        <p:spPr>
          <a:xfrm>
            <a:off x="548640" y="822960"/>
            <a:ext cx="5486400" cy="320040"/>
          </a:xfrm>
          <a:prstGeom prst="rect">
            <a:avLst/>
          </a:prstGeom>
          <a:noFill/>
          <a:ln/>
        </p:spPr>
        <p:txBody>
          <a:bodyPr wrap="square" lIns="0" tIns="0" rIns="0" bIns="0" rtlCol="0" anchor="t"/>
          <a:lstStyle/>
          <a:p>
            <a:pPr indent="0" marL="0">
              <a:buNone/>
            </a:pPr>
            <a:r>
              <a:rPr lang="en-US" sz="1300" b="1" spc="300" kern="0" dirty="0">
                <a:solidFill>
                  <a:srgbClr val="E8A33D"/>
                </a:solidFill>
                <a:latin typeface="Calibri" pitchFamily="34" charset="0"/>
                <a:ea typeface="Calibri" pitchFamily="34" charset="-122"/>
                <a:cs typeface="Calibri" pitchFamily="34" charset="-120"/>
              </a:rPr>
              <a:t>KẾT LUẬN</a:t>
            </a:r>
            <a:endParaRPr lang="en-US" sz="1300" dirty="0"/>
          </a:p>
        </p:txBody>
      </p:sp>
      <p:sp>
        <p:nvSpPr>
          <p:cNvPr id="5" name="Text 3"/>
          <p:cNvSpPr txBox="1"/>
          <p:nvPr/>
        </p:nvSpPr>
        <p:spPr>
          <a:xfrm>
            <a:off x="548640" y="1234440"/>
            <a:ext cx="1051560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Một pipeline minh bạch gắn dự báo với bất định và kiểm soát của con người</a:t>
            </a:r>
            <a:endParaRPr lang="en-US" sz="3200" dirty="0"/>
          </a:p>
        </p:txBody>
      </p:sp>
      <p:sp>
        <p:nvSpPr>
          <p:cNvPr id="6" name="Shape 4"/>
          <p:cNvSpPr/>
          <p:nvPr/>
        </p:nvSpPr>
        <p:spPr>
          <a:xfrm>
            <a:off x="548640" y="2926080"/>
            <a:ext cx="2606040" cy="1463040"/>
          </a:xfrm>
          <a:prstGeom prst="roundRect">
            <a:avLst>
              <a:gd name="adj" fmla="val 7500"/>
            </a:avLst>
          </a:prstGeom>
          <a:solidFill>
            <a:srgbClr val="12505F"/>
          </a:solidFill>
          <a:ln w="12700">
            <a:solidFill>
              <a:srgbClr val="12505F"/>
            </a:solidFill>
            <a:prstDash val="solid"/>
          </a:ln>
        </p:spPr>
      </p:sp>
      <p:sp>
        <p:nvSpPr>
          <p:cNvPr id="7" name="Text 5"/>
          <p:cNvSpPr txBox="1"/>
          <p:nvPr/>
        </p:nvSpPr>
        <p:spPr>
          <a:xfrm>
            <a:off x="777240" y="306324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12,089%</a:t>
            </a:r>
            <a:endParaRPr lang="en-US" sz="3000" dirty="0"/>
          </a:p>
        </p:txBody>
      </p:sp>
      <p:sp>
        <p:nvSpPr>
          <p:cNvPr id="8" name="Text 6"/>
          <p:cNvSpPr txBox="1"/>
          <p:nvPr/>
        </p:nvSpPr>
        <p:spPr>
          <a:xfrm>
            <a:off x="777240" y="3730752"/>
            <a:ext cx="2194560" cy="548640"/>
          </a:xfrm>
          <a:prstGeom prst="rect">
            <a:avLst/>
          </a:prstGeom>
          <a:noFill/>
          <a:ln/>
        </p:spPr>
        <p:txBody>
          <a:bodyPr wrap="square" lIns="0" tIns="0" rIns="0" bIns="0" rtlCol="0" anchor="t"/>
          <a:lstStyle/>
          <a:p>
            <a:pPr indent="0" marL="0">
              <a:buNone/>
            </a:pPr>
            <a:r>
              <a:rPr lang="en-US" sz="1300" dirty="0">
                <a:solidFill>
                  <a:srgbClr val="7FC4C4"/>
                </a:solidFill>
                <a:latin typeface="Calibri" pitchFamily="34" charset="0"/>
                <a:ea typeface="Calibri" pitchFamily="34" charset="-122"/>
                <a:cs typeface="Calibri" pitchFamily="34" charset="-120"/>
              </a:rPr>
              <a:t>WAPE CV XGBoost</a:t>
            </a:r>
            <a:endParaRPr lang="en-US" sz="1300" dirty="0"/>
          </a:p>
        </p:txBody>
      </p:sp>
      <p:sp>
        <p:nvSpPr>
          <p:cNvPr id="9" name="Shape 7"/>
          <p:cNvSpPr/>
          <p:nvPr/>
        </p:nvSpPr>
        <p:spPr>
          <a:xfrm>
            <a:off x="3355848" y="2926080"/>
            <a:ext cx="2606040" cy="1463040"/>
          </a:xfrm>
          <a:prstGeom prst="roundRect">
            <a:avLst>
              <a:gd name="adj" fmla="val 7500"/>
            </a:avLst>
          </a:prstGeom>
          <a:solidFill>
            <a:srgbClr val="12505F"/>
          </a:solidFill>
          <a:ln w="12700">
            <a:solidFill>
              <a:srgbClr val="12505F"/>
            </a:solidFill>
            <a:prstDash val="solid"/>
          </a:ln>
        </p:spPr>
      </p:sp>
      <p:sp>
        <p:nvSpPr>
          <p:cNvPr id="10" name="Text 8"/>
          <p:cNvSpPr txBox="1"/>
          <p:nvPr/>
        </p:nvSpPr>
        <p:spPr>
          <a:xfrm>
            <a:off x="3584448" y="306324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72,77%</a:t>
            </a:r>
            <a:endParaRPr lang="en-US" sz="3000" dirty="0"/>
          </a:p>
        </p:txBody>
      </p:sp>
      <p:sp>
        <p:nvSpPr>
          <p:cNvPr id="11" name="Text 9"/>
          <p:cNvSpPr txBox="1"/>
          <p:nvPr/>
        </p:nvSpPr>
        <p:spPr>
          <a:xfrm>
            <a:off x="3584448" y="3730752"/>
            <a:ext cx="2194560" cy="548640"/>
          </a:xfrm>
          <a:prstGeom prst="rect">
            <a:avLst/>
          </a:prstGeom>
          <a:noFill/>
          <a:ln/>
        </p:spPr>
        <p:txBody>
          <a:bodyPr wrap="square" lIns="0" tIns="0" rIns="0" bIns="0" rtlCol="0" anchor="t"/>
          <a:lstStyle/>
          <a:p>
            <a:pPr indent="0" marL="0">
              <a:buNone/>
            </a:pPr>
            <a:r>
              <a:rPr lang="en-US" sz="1300" dirty="0">
                <a:solidFill>
                  <a:srgbClr val="7FC4C4"/>
                </a:solidFill>
                <a:latin typeface="Calibri" pitchFamily="34" charset="0"/>
                <a:ea typeface="Calibri" pitchFamily="34" charset="-122"/>
                <a:cs typeface="Calibri" pitchFamily="34" charset="-120"/>
              </a:rPr>
              <a:t>bao phủ nhóm nhu cầu cao</a:t>
            </a:r>
            <a:endParaRPr lang="en-US" sz="1300" dirty="0"/>
          </a:p>
        </p:txBody>
      </p:sp>
      <p:sp>
        <p:nvSpPr>
          <p:cNvPr id="12" name="Shape 10"/>
          <p:cNvSpPr/>
          <p:nvPr/>
        </p:nvSpPr>
        <p:spPr>
          <a:xfrm>
            <a:off x="6163056" y="2926080"/>
            <a:ext cx="2606040" cy="1463040"/>
          </a:xfrm>
          <a:prstGeom prst="roundRect">
            <a:avLst>
              <a:gd name="adj" fmla="val 7500"/>
            </a:avLst>
          </a:prstGeom>
          <a:solidFill>
            <a:srgbClr val="12505F"/>
          </a:solidFill>
          <a:ln w="12700">
            <a:solidFill>
              <a:srgbClr val="12505F"/>
            </a:solidFill>
            <a:prstDash val="solid"/>
          </a:ln>
        </p:spPr>
      </p:sp>
      <p:sp>
        <p:nvSpPr>
          <p:cNvPr id="13" name="Text 11"/>
          <p:cNvSpPr txBox="1"/>
          <p:nvPr/>
        </p:nvSpPr>
        <p:spPr>
          <a:xfrm>
            <a:off x="6391656" y="306324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16 ngày</a:t>
            </a:r>
            <a:endParaRPr lang="en-US" sz="3000" dirty="0"/>
          </a:p>
        </p:txBody>
      </p:sp>
      <p:sp>
        <p:nvSpPr>
          <p:cNvPr id="14" name="Text 12"/>
          <p:cNvSpPr txBox="1"/>
          <p:nvPr/>
        </p:nvSpPr>
        <p:spPr>
          <a:xfrm>
            <a:off x="6391656" y="3730752"/>
            <a:ext cx="2194560" cy="548640"/>
          </a:xfrm>
          <a:prstGeom prst="rect">
            <a:avLst/>
          </a:prstGeom>
          <a:noFill/>
          <a:ln/>
        </p:spPr>
        <p:txBody>
          <a:bodyPr wrap="square" lIns="0" tIns="0" rIns="0" bIns="0" rtlCol="0" anchor="t"/>
          <a:lstStyle/>
          <a:p>
            <a:pPr indent="0" marL="0">
              <a:buNone/>
            </a:pPr>
            <a:r>
              <a:rPr lang="en-US" sz="1300" dirty="0">
                <a:solidFill>
                  <a:srgbClr val="7FC4C4"/>
                </a:solidFill>
                <a:latin typeface="Calibri" pitchFamily="34" charset="0"/>
                <a:ea typeface="Calibri" pitchFamily="34" charset="-122"/>
                <a:cs typeface="Calibri" pitchFamily="34" charset="-120"/>
              </a:rPr>
              <a:t>kỳ dự báo trực tiếp, không rò rỉ</a:t>
            </a:r>
            <a:endParaRPr lang="en-US" sz="1300" dirty="0"/>
          </a:p>
        </p:txBody>
      </p:sp>
      <p:sp>
        <p:nvSpPr>
          <p:cNvPr id="15" name="Shape 13"/>
          <p:cNvSpPr/>
          <p:nvPr/>
        </p:nvSpPr>
        <p:spPr>
          <a:xfrm>
            <a:off x="8970264" y="2926080"/>
            <a:ext cx="2606040" cy="1463040"/>
          </a:xfrm>
          <a:prstGeom prst="roundRect">
            <a:avLst>
              <a:gd name="adj" fmla="val 7500"/>
            </a:avLst>
          </a:prstGeom>
          <a:solidFill>
            <a:srgbClr val="12505F"/>
          </a:solidFill>
          <a:ln w="12700">
            <a:solidFill>
              <a:srgbClr val="12505F"/>
            </a:solidFill>
            <a:prstDash val="solid"/>
          </a:ln>
        </p:spPr>
      </p:sp>
      <p:sp>
        <p:nvSpPr>
          <p:cNvPr id="16" name="Text 14"/>
          <p:cNvSpPr txBox="1"/>
          <p:nvPr/>
        </p:nvSpPr>
        <p:spPr>
          <a:xfrm>
            <a:off x="9198864" y="3063240"/>
            <a:ext cx="219456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1.782</a:t>
            </a:r>
            <a:endParaRPr lang="en-US" sz="3000" dirty="0"/>
          </a:p>
        </p:txBody>
      </p:sp>
      <p:sp>
        <p:nvSpPr>
          <p:cNvPr id="17" name="Text 15"/>
          <p:cNvSpPr txBox="1"/>
          <p:nvPr/>
        </p:nvSpPr>
        <p:spPr>
          <a:xfrm>
            <a:off x="9198864" y="3730752"/>
            <a:ext cx="2194560" cy="548640"/>
          </a:xfrm>
          <a:prstGeom prst="rect">
            <a:avLst/>
          </a:prstGeom>
          <a:noFill/>
          <a:ln/>
        </p:spPr>
        <p:txBody>
          <a:bodyPr wrap="square" lIns="0" tIns="0" rIns="0" bIns="0" rtlCol="0" anchor="t"/>
          <a:lstStyle/>
          <a:p>
            <a:pPr indent="0" marL="0">
              <a:buNone/>
            </a:pPr>
            <a:r>
              <a:rPr lang="en-US" sz="1300" dirty="0">
                <a:solidFill>
                  <a:srgbClr val="7FC4C4"/>
                </a:solidFill>
                <a:latin typeface="Calibri" pitchFamily="34" charset="0"/>
                <a:ea typeface="Calibri" pitchFamily="34" charset="-122"/>
                <a:cs typeface="Calibri" pitchFamily="34" charset="-120"/>
              </a:rPr>
              <a:t>phiếu chờ con người duyệt</a:t>
            </a:r>
            <a:endParaRPr lang="en-US" sz="1300" dirty="0"/>
          </a:p>
        </p:txBody>
      </p:sp>
      <p:sp>
        <p:nvSpPr>
          <p:cNvPr id="18" name="Text 16"/>
          <p:cNvSpPr txBox="1"/>
          <p:nvPr/>
        </p:nvSpPr>
        <p:spPr>
          <a:xfrm>
            <a:off x="548640" y="4937760"/>
            <a:ext cx="10058400" cy="54864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Em xin chân thành cảm ơn Hội đồng và TS. Trần Duy Thanh. Kính mong nhận được câu hỏi và góp ý.</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2A33"/>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C9D6D8"/>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3" name="Text 1"/>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C9D6D8"/>
                </a:solidFill>
                <a:latin typeface="Calibri" pitchFamily="34" charset="0"/>
                <a:ea typeface="Calibri" pitchFamily="34" charset="-122"/>
                <a:cs typeface="Calibri" pitchFamily="34" charset="-120"/>
              </a:rPr>
              <a:t>42</a:t>
            </a:r>
            <a:endParaRPr lang="en-US" sz="900" dirty="0"/>
          </a:p>
        </p:txBody>
      </p:sp>
      <p:sp>
        <p:nvSpPr>
          <p:cNvPr id="4" name="Text 2"/>
          <p:cNvSpPr txBox="1"/>
          <p:nvPr/>
        </p:nvSpPr>
        <p:spPr>
          <a:xfrm>
            <a:off x="548640" y="2148840"/>
            <a:ext cx="5486400" cy="365760"/>
          </a:xfrm>
          <a:prstGeom prst="rect">
            <a:avLst/>
          </a:prstGeom>
          <a:noFill/>
          <a:ln/>
        </p:spPr>
        <p:txBody>
          <a:bodyPr wrap="square" lIns="0" tIns="0" rIns="0" bIns="0" rtlCol="0" anchor="t"/>
          <a:lstStyle/>
          <a:p>
            <a:pPr indent="0" marL="0">
              <a:buNone/>
            </a:pPr>
            <a:r>
              <a:rPr lang="en-US" sz="1400" b="1" spc="300" kern="0" dirty="0">
                <a:solidFill>
                  <a:srgbClr val="E8A33D"/>
                </a:solidFill>
                <a:latin typeface="Calibri" pitchFamily="34" charset="0"/>
                <a:ea typeface="Calibri" pitchFamily="34" charset="-122"/>
                <a:cs typeface="Calibri" pitchFamily="34" charset="-120"/>
              </a:rPr>
              <a:t>PHẦN PL</a:t>
            </a:r>
            <a:endParaRPr lang="en-US" sz="1400" dirty="0"/>
          </a:p>
        </p:txBody>
      </p:sp>
      <p:sp>
        <p:nvSpPr>
          <p:cNvPr id="5" name="Text 3"/>
          <p:cNvSpPr txBox="1"/>
          <p:nvPr/>
        </p:nvSpPr>
        <p:spPr>
          <a:xfrm>
            <a:off x="548640" y="2560320"/>
            <a:ext cx="10058400" cy="10058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Phụ lục dự phòng</a:t>
            </a:r>
            <a:endParaRPr lang="en-US" sz="4000" dirty="0"/>
          </a:p>
        </p:txBody>
      </p:sp>
      <p:sp>
        <p:nvSpPr>
          <p:cNvPr id="6" name="Text 4"/>
          <p:cNvSpPr txBox="1"/>
          <p:nvPr/>
        </p:nvSpPr>
        <p:spPr>
          <a:xfrm>
            <a:off x="548640" y="3611880"/>
            <a:ext cx="9144000" cy="822960"/>
          </a:xfrm>
          <a:prstGeom prst="rect">
            <a:avLst/>
          </a:prstGeom>
          <a:noFill/>
          <a:ln/>
        </p:spPr>
        <p:txBody>
          <a:bodyPr wrap="square" lIns="0" tIns="0" rIns="0" bIns="0" rtlCol="0" anchor="t"/>
          <a:lstStyle/>
          <a:p>
            <a:pPr indent="0" marL="0">
              <a:buNone/>
            </a:pPr>
            <a:r>
              <a:rPr lang="en-US" sz="1700" dirty="0">
                <a:solidFill>
                  <a:srgbClr val="7FC4C4"/>
                </a:solidFill>
                <a:latin typeface="Calibri" pitchFamily="34" charset="0"/>
                <a:ea typeface="Calibri" pitchFamily="34" charset="-122"/>
                <a:cs typeface="Calibri" pitchFamily="34" charset="-120"/>
              </a:rPr>
              <a:t>Dùng khi Hội đồng hỏi chi tiết</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PHỤ LỤC A</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Chín nhóm Mondrian trên cửa sổ hiệu chỉnh 15/07–30/07/2017</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772400" cy="914400"/>
        </p:xfrm>
        <a:graphic>
          <a:graphicData uri="http://schemas.openxmlformats.org/drawingml/2006/table">
            <a:tbl>
              <a:tblPr/>
              <a:tblGrid>
                <a:gridCol w="822960"/>
                <a:gridCol w="2651760"/>
                <a:gridCol w="1371600"/>
                <a:gridCol w="1463040"/>
                <a:gridCol w="146304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Miền dự báo điểm</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 hiệu chỉnh</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q10 phần dư</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q90 phần dư</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0 – 1,00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5.703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−0,22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1,00 – 3,60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−1,98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6,86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3,60 – 11,98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−3,57</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11,25</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11,98 – 33,10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−14,63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14,36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33,10 – 82,09</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−24,40</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21,32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82,09 – 196,13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−36,94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43,96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196,13 – 413,65</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−57,21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70,72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413,65 – 1.226,78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2.851</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−132,06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144,36</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1.226,78 – 14.739,35</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2.852</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−408,53</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767,44</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bl>
          </a:graphicData>
        </a:graphic>
      </p:graphicFrame>
      <p:sp>
        <p:nvSpPr>
          <p:cNvPr id="7" name="Shape 4"/>
          <p:cNvSpPr/>
          <p:nvPr/>
        </p:nvSpPr>
        <p:spPr>
          <a:xfrm>
            <a:off x="8595360" y="1508760"/>
            <a:ext cx="3044952" cy="4297680"/>
          </a:xfrm>
          <a:prstGeom prst="roundRect">
            <a:avLst>
              <a:gd name="adj" fmla="val 3604"/>
            </a:avLst>
          </a:prstGeom>
          <a:solidFill>
            <a:srgbClr val="EEF5F5"/>
          </a:solidFill>
          <a:ln w="12700">
            <a:solidFill>
              <a:srgbClr val="EEF5F5"/>
            </a:solidFill>
            <a:prstDash val="solid"/>
          </a:ln>
        </p:spPr>
      </p:sp>
      <p:sp>
        <p:nvSpPr>
          <p:cNvPr id="8" name="Text 5"/>
          <p:cNvSpPr txBox="1"/>
          <p:nvPr/>
        </p:nvSpPr>
        <p:spPr>
          <a:xfrm>
            <a:off x="8778240" y="1691640"/>
            <a:ext cx="2697480" cy="3931920"/>
          </a:xfrm>
          <a:prstGeom prst="rect">
            <a:avLst/>
          </a:prstGeom>
          <a:noFill/>
          <a:ln/>
        </p:spPr>
        <p:txBody>
          <a:bodyPr wrap="square" lIns="0" tIns="0" rIns="0" bIns="0" rtlCol="0" anchor="t"/>
          <a:lstStyle/>
          <a:p>
            <a:pPr indent="0" marL="0">
              <a:buNone/>
            </a:pPr>
            <a:r>
              <a:rPr lang="en-US" sz="1350" dirty="0">
                <a:solidFill>
                  <a:srgbClr val="0E2A33"/>
                </a:solidFill>
                <a:latin typeface="Calibri" pitchFamily="34" charset="0"/>
                <a:ea typeface="Calibri" pitchFamily="34" charset="-122"/>
                <a:cs typeface="Calibri" pitchFamily="34" charset="-120"/>
              </a:rPr>
              <a:t>Mười biên phân vị cho 9 nhóm vì biên thứ nhất và thứ hai trùng (nhiều dự báo điểm bằng 0). Độ rộng khoảng tăng đều theo quy mô, đúng hướng mong muốn.</a:t>
            </a:r>
            <a:endParaRPr lang="en-US" sz="1350" dirty="0"/>
          </a:p>
        </p:txBody>
      </p:sp>
      <p:sp>
        <p:nvSpPr>
          <p:cNvPr id="9" name="Text 6"/>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outputs/05_probabilistic_forecast/conformal_bins.csv.</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t"/>
          <a:lstStyle/>
          <a:p>
            <a:pPr indent="0" marL="0">
              <a:buNone/>
            </a:pPr>
            <a:r>
              <a:rPr lang="en-US" sz="1100" b="1" spc="200" kern="0" dirty="0">
                <a:solidFill>
                  <a:srgbClr val="1B8A8F"/>
                </a:solidFill>
                <a:latin typeface="Calibri" pitchFamily="34" charset="0"/>
                <a:ea typeface="Calibri" pitchFamily="34" charset="-122"/>
                <a:cs typeface="Calibri" pitchFamily="34" charset="-120"/>
              </a:rPr>
              <a:t>PHỤ LỤC B</a:t>
            </a:r>
            <a:endParaRPr lang="en-US" sz="1100" dirty="0"/>
          </a:p>
        </p:txBody>
      </p:sp>
      <p:sp>
        <p:nvSpPr>
          <p:cNvPr id="3" name="Text 1"/>
          <p:cNvSpPr txBox="1"/>
          <p:nvPr/>
        </p:nvSpPr>
        <p:spPr>
          <a:xfrm>
            <a:off x="548640" y="658368"/>
            <a:ext cx="11094415" cy="685800"/>
          </a:xfrm>
          <a:prstGeom prst="rect">
            <a:avLst/>
          </a:prstGeom>
          <a:noFill/>
          <a:ln/>
        </p:spPr>
        <p:txBody>
          <a:bodyPr wrap="square" lIns="0" tIns="0" rIns="0" bIns="0" rtlCol="0" anchor="t"/>
          <a:lstStyle/>
          <a:p>
            <a:pPr indent="0" marL="0">
              <a:buNone/>
            </a:pPr>
            <a:r>
              <a:rPr lang="en-US" sz="2800" b="1" dirty="0">
                <a:solidFill>
                  <a:srgbClr val="0E2A33"/>
                </a:solidFill>
                <a:latin typeface="Cambria" pitchFamily="34" charset="0"/>
                <a:ea typeface="Cambria" pitchFamily="34" charset="-122"/>
                <a:cs typeface="Cambria" pitchFamily="34" charset="-120"/>
              </a:rPr>
              <a:t>WAPE từng lần kiểm định và tập kiểm tra cuối của năm mô hình</a:t>
            </a:r>
            <a:endParaRPr lang="en-US" sz="2800" dirty="0"/>
          </a:p>
        </p:txBody>
      </p:sp>
      <p:sp>
        <p:nvSpPr>
          <p:cNvPr id="4" name="Text 2"/>
          <p:cNvSpPr txBox="1"/>
          <p:nvPr/>
        </p:nvSpPr>
        <p:spPr>
          <a:xfrm>
            <a:off x="548640" y="6446520"/>
            <a:ext cx="7315200" cy="228600"/>
          </a:xfrm>
          <a:prstGeom prst="rect">
            <a:avLst/>
          </a:prstGeom>
          <a:noFill/>
          <a:ln/>
        </p:spPr>
        <p:txBody>
          <a:bodyPr wrap="square" lIns="0" tIns="0" rIns="0" bIns="0" rtlCol="0" anchor="t"/>
          <a:lstStyle/>
          <a:p>
            <a:pPr indent="0" marL="0">
              <a:buNone/>
            </a:pPr>
            <a:r>
              <a:rPr lang="en-US" sz="900" dirty="0">
                <a:solidFill>
                  <a:srgbClr val="5B6B70"/>
                </a:solidFill>
                <a:latin typeface="Calibri" pitchFamily="34" charset="0"/>
                <a:ea typeface="Calibri" pitchFamily="34" charset="-122"/>
                <a:cs typeface="Calibri" pitchFamily="34" charset="-120"/>
              </a:rPr>
              <a:t>Đinh Nguyễn Tấn Nguyên · Luận văn thạc sĩ · Dữ liệu Corporación Favorita</a:t>
            </a:r>
            <a:endParaRPr lang="en-US" sz="90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00" dirty="0">
                <a:solidFill>
                  <a:srgbClr val="5B6B70"/>
                </a:solidFill>
                <a:latin typeface="Calibri" pitchFamily="34" charset="0"/>
                <a:ea typeface="Calibri" pitchFamily="34" charset="-122"/>
                <a:cs typeface="Calibri" pitchFamily="34" charset="-120"/>
              </a:rPr>
              <a:t>44</a:t>
            </a:r>
            <a:endParaRPr lang="en-US" sz="9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834640"/>
                <a:gridCol w="1645920"/>
                <a:gridCol w="1645920"/>
                <a:gridCol w="1645920"/>
                <a:gridCol w="1645920"/>
                <a:gridCol w="164592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Mô hình</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Lần 1</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Lần 2</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Lần 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CV trung bình</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Kiểm tra cuối</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505F"/>
                    </a:solidFill>
                  </a:tcPr>
                </a:tc>
              </a:tr>
              <a:tr h="54864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XGBoost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12,393%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11,348%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12,527%</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12,089%</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14,327%</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4864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LightGBM</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12,863%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11,991%</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12,849%</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12,568%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14,868%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13,623%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12,106%</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13,177%</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12,969%</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16,181%</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r h="54864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Seasonal Naive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16,926%</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16,259%</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13,968%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15,718%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20,665%</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00000"/>
                          </a:solidFill>
                          <a:latin typeface="Calibri" pitchFamily="34" charset="0"/>
                          <a:ea typeface="Calibri" pitchFamily="34" charset="-122"/>
                          <a:cs typeface="Calibri" pitchFamily="34" charset="-120"/>
                        </a:rPr>
                        <a:t>Ridge Regression</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18,981%</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16,397%</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dirty="0">
                          <a:solidFill>
                            <a:srgbClr val="000000"/>
                          </a:solidFill>
                          <a:latin typeface="Calibri" pitchFamily="34" charset="0"/>
                          <a:ea typeface="Calibri" pitchFamily="34" charset="-122"/>
                          <a:cs typeface="Calibri" pitchFamily="34" charset="-120"/>
                        </a:rPr>
                        <a:t>16,048%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17,142%</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c>
                  <a:txBody>
                    <a:bodyPr/>
                    <a:lstStyle/>
                    <a:p>
                      <a:pPr algn="r" indent="0" marL="0">
                        <a:buNone/>
                      </a:pPr>
                      <a:r>
                        <a:rPr lang="en-US" sz="1500" b="1" dirty="0">
                          <a:solidFill>
                            <a:srgbClr val="000000"/>
                          </a:solidFill>
                          <a:latin typeface="Calibri" pitchFamily="34" charset="0"/>
                          <a:ea typeface="Calibri" pitchFamily="34" charset="-122"/>
                          <a:cs typeface="Calibri" pitchFamily="34" charset="-120"/>
                        </a:rPr>
                        <a:t>21,160%</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5F5"/>
                    </a:solidFill>
                  </a:tcPr>
                </a:tc>
              </a:tr>
            </a:tbl>
          </a:graphicData>
        </a:graphic>
      </p:graphicFrame>
      <p:sp>
        <p:nvSpPr>
          <p:cNvPr id="7" name="Text 4"/>
          <p:cNvSpPr txBox="1"/>
          <p:nvPr/>
        </p:nvSpPr>
        <p:spPr>
          <a:xfrm>
            <a:off x="548640" y="5120640"/>
            <a:ext cx="10972800" cy="548640"/>
          </a:xfrm>
          <a:prstGeom prst="rect">
            <a:avLst/>
          </a:prstGeom>
          <a:noFill/>
          <a:ln/>
        </p:spPr>
        <p:txBody>
          <a:bodyPr wrap="square" lIns="0" tIns="0" rIns="0" bIns="0" rtlCol="0" anchor="t"/>
          <a:lstStyle/>
          <a:p>
            <a:pPr indent="0" marL="0">
              <a:buNone/>
            </a:pPr>
            <a:r>
              <a:rPr lang="en-US" sz="1400" dirty="0">
                <a:solidFill>
                  <a:srgbClr val="5B6B70"/>
                </a:solidFill>
                <a:latin typeface="Calibri" pitchFamily="34" charset="0"/>
                <a:ea typeface="Calibri" pitchFamily="34" charset="-122"/>
                <a:cs typeface="Calibri" pitchFamily="34" charset="-120"/>
              </a:rPr>
              <a:t>Cửa sổ: lần 1 13/06–28/06, lần 2 29/06–14/07, lần 3 15/07–30/07/2017; kiểm tra cuối 31/07–15/08/2017. XGBoost đứng đầu WAPE ở cả ba lần.</a:t>
            </a:r>
            <a:endParaRPr lang="en-US" sz="1400" dirty="0"/>
          </a:p>
        </p:txBody>
      </p:sp>
      <p:sp>
        <p:nvSpPr>
          <p:cNvPr id="8" name="Text 5"/>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900" i="1" dirty="0">
                <a:solidFill>
                  <a:srgbClr val="5B6B70"/>
                </a:solidFill>
                <a:latin typeface="Calibri" pitchFamily="34" charset="0"/>
                <a:ea typeface="Calibri" pitchFamily="34" charset="-122"/>
                <a:cs typeface="Calibri" pitchFamily="34" charset="-120"/>
              </a:rPr>
              <a:t>Nguồn: outputs/04_model_comparison/rolling_cv_metrics.csv, final_holdout_metrics.csv.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báo nhu cầu bán lẻ và hỗ trợ quyết định khuyến mãi – Favorita</dc:title>
  <dc:subject>PptxGenJS Presentation</dc:subject>
  <dc:creator>Đinh Nguyễn Tấn Nguyên</dc:creator>
  <cp:lastModifiedBy>Đinh Nguyễn Tấn Nguyên</cp:lastModifiedBy>
  <cp:revision>1</cp:revision>
  <dcterms:created xsi:type="dcterms:W3CDTF">2026-09-27T19:58:31Z</dcterms:created>
  <dcterms:modified xsi:type="dcterms:W3CDTF">2026-09-27T19:58:31Z</dcterms:modified>
</cp:coreProperties>
</file>